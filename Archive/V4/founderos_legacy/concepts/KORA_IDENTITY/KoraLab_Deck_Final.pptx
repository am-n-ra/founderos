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1097280"/>
            <a:ext cx="45720" cy="3017520"/>
          </a:xfrm>
          <a:prstGeom prst="rect">
            <a:avLst/>
          </a:prstGeom>
          <a:solidFill>
            <a:srgbClr val="FFFFFF"/>
          </a:solidFill>
          <a:ln/>
        </p:spPr>
      </p:sp>
      <p:sp>
        <p:nvSpPr>
          <p:cNvPr id="3" name="Text 1"/>
          <p:cNvSpPr/>
          <p:nvPr/>
        </p:nvSpPr>
        <p:spPr>
          <a:xfrm>
            <a:off x="685800" y="1097280"/>
            <a:ext cx="7315200" cy="1005840"/>
          </a:xfrm>
          <a:prstGeom prst="rect">
            <a:avLst/>
          </a:prstGeom>
          <a:noFill/>
          <a:ln/>
        </p:spPr>
        <p:txBody>
          <a:bodyPr wrap="square" lIns="0" tIns="0" rIns="0" bIns="0" rtlCol="0" anchor="ctr"/>
          <a:lstStyle/>
          <a:p>
            <a:pPr algn="l" indent="0" marL="0">
              <a:buNone/>
            </a:pPr>
            <a:r>
              <a:rPr lang="en-US" sz="6000" b="1" dirty="0">
                <a:solidFill>
                  <a:srgbClr val="FFFFFF"/>
                </a:solidFill>
                <a:latin typeface="Arial Black" pitchFamily="34" charset="0"/>
                <a:ea typeface="Arial Black" pitchFamily="34" charset="-122"/>
                <a:cs typeface="Arial Black" pitchFamily="34" charset="-120"/>
              </a:rPr>
              <a:t>KORA LAB</a:t>
            </a:r>
            <a:endParaRPr lang="en-US" sz="6000" dirty="0"/>
          </a:p>
        </p:txBody>
      </p:sp>
      <p:sp>
        <p:nvSpPr>
          <p:cNvPr id="4" name="Text 2"/>
          <p:cNvSpPr/>
          <p:nvPr/>
        </p:nvSpPr>
        <p:spPr>
          <a:xfrm>
            <a:off x="685800" y="2148840"/>
            <a:ext cx="6400800" cy="457200"/>
          </a:xfrm>
          <a:prstGeom prst="rect">
            <a:avLst/>
          </a:prstGeom>
          <a:noFill/>
          <a:ln/>
        </p:spPr>
        <p:txBody>
          <a:bodyPr wrap="square" lIns="0" tIns="0" rIns="0" bIns="0" rtlCol="0" anchor="ctr"/>
          <a:lstStyle/>
          <a:p>
            <a:pPr algn="l" indent="0" marL="0">
              <a:buNone/>
            </a:pPr>
            <a:r>
              <a:rPr lang="en-US" sz="1800" i="1" dirty="0">
                <a:solidFill>
                  <a:srgbClr val="ABABAB"/>
                </a:solidFill>
                <a:latin typeface="Arial" pitchFamily="34" charset="0"/>
                <a:ea typeface="Arial" pitchFamily="34" charset="-122"/>
                <a:cs typeface="Arial" pitchFamily="34" charset="-120"/>
              </a:rPr>
              <a:t>Africa's Sovereign AI Lab</a:t>
            </a:r>
            <a:endParaRPr lang="en-US" sz="1800" dirty="0"/>
          </a:p>
        </p:txBody>
      </p:sp>
      <p:sp>
        <p:nvSpPr>
          <p:cNvPr id="5" name="Text 3"/>
          <p:cNvSpPr/>
          <p:nvPr/>
        </p:nvSpPr>
        <p:spPr>
          <a:xfrm>
            <a:off x="685800" y="2743200"/>
            <a:ext cx="6858000" cy="411480"/>
          </a:xfrm>
          <a:prstGeom prst="rect">
            <a:avLst/>
          </a:prstGeom>
          <a:noFill/>
          <a:ln/>
        </p:spPr>
        <p:txBody>
          <a:bodyPr wrap="square" lIns="0" tIns="0" rIns="0" bIns="0" rtlCol="0" anchor="ctr"/>
          <a:lstStyle/>
          <a:p>
            <a:pPr algn="l" indent="0" marL="0">
              <a:buNone/>
            </a:pPr>
            <a:r>
              <a:rPr lang="en-US" sz="1300" dirty="0">
                <a:solidFill>
                  <a:srgbClr val="6B6B6B"/>
                </a:solidFill>
                <a:latin typeface="Arial" pitchFamily="34" charset="0"/>
                <a:ea typeface="Arial" pitchFamily="34" charset="-122"/>
                <a:cs typeface="Arial" pitchFamily="34" charset="-120"/>
              </a:rPr>
              <a:t>Closing the gap. Uniting the continent. Building Africa's AI future.</a:t>
            </a:r>
            <a:endParaRPr lang="en-US" sz="1300" dirty="0"/>
          </a:p>
        </p:txBody>
      </p:sp>
      <p:sp>
        <p:nvSpPr>
          <p:cNvPr id="6" name="Shape 4"/>
          <p:cNvSpPr/>
          <p:nvPr/>
        </p:nvSpPr>
        <p:spPr>
          <a:xfrm>
            <a:off x="457200" y="4572000"/>
            <a:ext cx="8229600" cy="13716"/>
          </a:xfrm>
          <a:prstGeom prst="rect">
            <a:avLst/>
          </a:prstGeom>
          <a:solidFill>
            <a:srgbClr val="3A3A3A"/>
          </a:solidFill>
          <a:ln/>
        </p:spPr>
      </p:sp>
      <p:sp>
        <p:nvSpPr>
          <p:cNvPr id="7" name="Text 5"/>
          <p:cNvSpPr/>
          <p:nvPr/>
        </p:nvSpPr>
        <p:spPr>
          <a:xfrm>
            <a:off x="457200" y="4645152"/>
            <a:ext cx="8229600" cy="320040"/>
          </a:xfrm>
          <a:prstGeom prst="rect">
            <a:avLst/>
          </a:prstGeom>
          <a:noFill/>
          <a:ln/>
        </p:spPr>
        <p:txBody>
          <a:bodyPr wrap="square" lIns="0" tIns="0" rIns="0" bIns="0" rtlCol="0" anchor="ctr"/>
          <a:lstStyle/>
          <a:p>
            <a:pPr algn="l" indent="0" marL="0">
              <a:buNone/>
            </a:pPr>
            <a:r>
              <a:rPr lang="en-US" sz="1000" spc="100" kern="0" dirty="0">
                <a:solidFill>
                  <a:srgbClr val="6B6B6B"/>
                </a:solidFill>
                <a:latin typeface="Arial" pitchFamily="34" charset="0"/>
                <a:ea typeface="Arial" pitchFamily="34" charset="-122"/>
                <a:cs typeface="Arial" pitchFamily="34" charset="-120"/>
              </a:rPr>
              <a:t>Kheir Lissi  /  Founder  /  Lome, Togo  /  kora-lab.com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8E8"/>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48640" y="685800"/>
            <a:ext cx="8046720" cy="777240"/>
          </a:xfrm>
          <a:prstGeom prst="rect">
            <a:avLst/>
          </a:prstGeom>
          <a:noFill/>
          <a:ln/>
        </p:spPr>
        <p:txBody>
          <a:bodyPr wrap="square" lIns="0" tIns="0" rIns="0" bIns="0" rtlCol="0" anchor="ctr"/>
          <a:lstStyle/>
          <a:p>
            <a:pPr algn="l" indent="0" marL="0">
              <a:buNone/>
            </a:pPr>
            <a:r>
              <a:rPr lang="en-US" sz="3200" b="1" dirty="0">
                <a:solidFill>
                  <a:srgbClr val="0A0A0A"/>
                </a:solidFill>
                <a:latin typeface="Arial Black" pitchFamily="34" charset="0"/>
                <a:ea typeface="Arial Black" pitchFamily="34" charset="-122"/>
                <a:cs typeface="Arial Black" pitchFamily="34" charset="-120"/>
              </a:rPr>
              <a:t>Africa Is Being Left Out of the AI Race</a:t>
            </a:r>
            <a:endParaRPr lang="en-US" sz="3200" dirty="0"/>
          </a:p>
        </p:txBody>
      </p:sp>
      <p:sp>
        <p:nvSpPr>
          <p:cNvPr id="4" name="Shape 2"/>
          <p:cNvSpPr/>
          <p:nvPr/>
        </p:nvSpPr>
        <p:spPr>
          <a:xfrm>
            <a:off x="457200" y="1645920"/>
            <a:ext cx="2651760" cy="30175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5" name="Shape 3"/>
          <p:cNvSpPr/>
          <p:nvPr/>
        </p:nvSpPr>
        <p:spPr>
          <a:xfrm>
            <a:off x="457200" y="1645920"/>
            <a:ext cx="2651760" cy="54864"/>
          </a:xfrm>
          <a:prstGeom prst="rect">
            <a:avLst/>
          </a:prstGeom>
          <a:solidFill>
            <a:srgbClr val="0A0A0A"/>
          </a:solidFill>
          <a:ln/>
        </p:spPr>
      </p:sp>
      <p:sp>
        <p:nvSpPr>
          <p:cNvPr id="6" name="Text 4"/>
          <p:cNvSpPr/>
          <p:nvPr/>
        </p:nvSpPr>
        <p:spPr>
          <a:xfrm>
            <a:off x="594360" y="1755648"/>
            <a:ext cx="2377440" cy="320040"/>
          </a:xfrm>
          <a:prstGeom prst="rect">
            <a:avLst/>
          </a:prstGeom>
          <a:noFill/>
          <a:ln/>
        </p:spPr>
        <p:txBody>
          <a:bodyPr wrap="square" lIns="0" tIns="0" rIns="0" bIns="0" rtlCol="0" anchor="ctr"/>
          <a:lstStyle/>
          <a:p>
            <a:pPr indent="0" marL="0">
              <a:buNone/>
            </a:pPr>
            <a:r>
              <a:rPr lang="en-US" sz="1000" b="1" spc="200" kern="0" dirty="0">
                <a:solidFill>
                  <a:srgbClr val="0A0A0A"/>
                </a:solidFill>
                <a:latin typeface="Arial" pitchFamily="34" charset="0"/>
                <a:ea typeface="Arial" pitchFamily="34" charset="-122"/>
                <a:cs typeface="Arial" pitchFamily="34" charset="-120"/>
              </a:rPr>
              <a:t>ACCESS GAP</a:t>
            </a:r>
            <a:endParaRPr lang="en-US" sz="1000" dirty="0"/>
          </a:p>
        </p:txBody>
      </p:sp>
      <p:sp>
        <p:nvSpPr>
          <p:cNvPr id="7" name="Text 5"/>
          <p:cNvSpPr/>
          <p:nvPr/>
        </p:nvSpPr>
        <p:spPr>
          <a:xfrm>
            <a:off x="594360" y="2148840"/>
            <a:ext cx="2377440" cy="237744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Cutting-edge AI tools are built for Western users. African end users face language, UX, and affordability barriers that make these tools impractical in their context.</a:t>
            </a:r>
            <a:endParaRPr lang="en-US" sz="1200" dirty="0"/>
          </a:p>
        </p:txBody>
      </p:sp>
      <p:sp>
        <p:nvSpPr>
          <p:cNvPr id="8" name="Shape 6"/>
          <p:cNvSpPr/>
          <p:nvPr/>
        </p:nvSpPr>
        <p:spPr>
          <a:xfrm>
            <a:off x="3291840" y="1645920"/>
            <a:ext cx="2651760" cy="30175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9" name="Shape 7"/>
          <p:cNvSpPr/>
          <p:nvPr/>
        </p:nvSpPr>
        <p:spPr>
          <a:xfrm>
            <a:off x="3291840" y="1645920"/>
            <a:ext cx="2651760" cy="54864"/>
          </a:xfrm>
          <a:prstGeom prst="rect">
            <a:avLst/>
          </a:prstGeom>
          <a:solidFill>
            <a:srgbClr val="0A0A0A"/>
          </a:solidFill>
          <a:ln/>
        </p:spPr>
      </p:sp>
      <p:sp>
        <p:nvSpPr>
          <p:cNvPr id="10" name="Text 8"/>
          <p:cNvSpPr/>
          <p:nvPr/>
        </p:nvSpPr>
        <p:spPr>
          <a:xfrm>
            <a:off x="3429000" y="1755648"/>
            <a:ext cx="2377440" cy="320040"/>
          </a:xfrm>
          <a:prstGeom prst="rect">
            <a:avLst/>
          </a:prstGeom>
          <a:noFill/>
          <a:ln/>
        </p:spPr>
        <p:txBody>
          <a:bodyPr wrap="square" lIns="0" tIns="0" rIns="0" bIns="0" rtlCol="0" anchor="ctr"/>
          <a:lstStyle/>
          <a:p>
            <a:pPr indent="0" marL="0">
              <a:buNone/>
            </a:pPr>
            <a:r>
              <a:rPr lang="en-US" sz="1000" b="1" spc="200" kern="0" dirty="0">
                <a:solidFill>
                  <a:srgbClr val="0A0A0A"/>
                </a:solidFill>
                <a:latin typeface="Arial" pitchFamily="34" charset="0"/>
                <a:ea typeface="Arial" pitchFamily="34" charset="-122"/>
                <a:cs typeface="Arial" pitchFamily="34" charset="-120"/>
              </a:rPr>
              <a:t>SOVEREIGNTY GAP</a:t>
            </a:r>
            <a:endParaRPr lang="en-US" sz="1000" dirty="0"/>
          </a:p>
        </p:txBody>
      </p:sp>
      <p:sp>
        <p:nvSpPr>
          <p:cNvPr id="11" name="Text 9"/>
          <p:cNvSpPr/>
          <p:nvPr/>
        </p:nvSpPr>
        <p:spPr>
          <a:xfrm>
            <a:off x="3429000" y="2148840"/>
            <a:ext cx="2377440" cy="237744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All large-scale AI models and infrastructure are owned by non-African entities. Africa has no seat at the table in shaping the models that will define its future.</a:t>
            </a:r>
            <a:endParaRPr lang="en-US" sz="1200" dirty="0"/>
          </a:p>
        </p:txBody>
      </p:sp>
      <p:sp>
        <p:nvSpPr>
          <p:cNvPr id="12" name="Shape 10"/>
          <p:cNvSpPr/>
          <p:nvPr/>
        </p:nvSpPr>
        <p:spPr>
          <a:xfrm>
            <a:off x="6126480" y="1645920"/>
            <a:ext cx="2651760" cy="30175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3" name="Shape 11"/>
          <p:cNvSpPr/>
          <p:nvPr/>
        </p:nvSpPr>
        <p:spPr>
          <a:xfrm>
            <a:off x="6126480" y="1645920"/>
            <a:ext cx="2651760" cy="54864"/>
          </a:xfrm>
          <a:prstGeom prst="rect">
            <a:avLst/>
          </a:prstGeom>
          <a:solidFill>
            <a:srgbClr val="0A0A0A"/>
          </a:solidFill>
          <a:ln/>
        </p:spPr>
      </p:sp>
      <p:sp>
        <p:nvSpPr>
          <p:cNvPr id="14" name="Text 12"/>
          <p:cNvSpPr/>
          <p:nvPr/>
        </p:nvSpPr>
        <p:spPr>
          <a:xfrm>
            <a:off x="6263640" y="1755648"/>
            <a:ext cx="2377440" cy="320040"/>
          </a:xfrm>
          <a:prstGeom prst="rect">
            <a:avLst/>
          </a:prstGeom>
          <a:noFill/>
          <a:ln/>
        </p:spPr>
        <p:txBody>
          <a:bodyPr wrap="square" lIns="0" tIns="0" rIns="0" bIns="0" rtlCol="0" anchor="ctr"/>
          <a:lstStyle/>
          <a:p>
            <a:pPr indent="0" marL="0">
              <a:buNone/>
            </a:pPr>
            <a:r>
              <a:rPr lang="en-US" sz="1000" b="1" spc="200" kern="0" dirty="0">
                <a:solidFill>
                  <a:srgbClr val="0A0A0A"/>
                </a:solidFill>
                <a:latin typeface="Arial" pitchFamily="34" charset="0"/>
                <a:ea typeface="Arial" pitchFamily="34" charset="-122"/>
                <a:cs typeface="Arial" pitchFamily="34" charset="-120"/>
              </a:rPr>
              <a:t>EXECUTION GAP</a:t>
            </a:r>
            <a:endParaRPr lang="en-US" sz="1000" dirty="0"/>
          </a:p>
        </p:txBody>
      </p:sp>
      <p:sp>
        <p:nvSpPr>
          <p:cNvPr id="15" name="Text 13"/>
          <p:cNvSpPr/>
          <p:nvPr/>
        </p:nvSpPr>
        <p:spPr>
          <a:xfrm>
            <a:off x="6263640" y="2148840"/>
            <a:ext cx="2377440" cy="237744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Governments have signed declarations. The $60B Africa AI Fund is announced. The AU Continental AI Strategy is live. What is missing is a technical lab capable of executing the vision at ground level.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THE MOMENT</a:t>
            </a:r>
            <a:endParaRPr lang="en-US" sz="1100" dirty="0"/>
          </a:p>
        </p:txBody>
      </p:sp>
      <p:sp>
        <p:nvSpPr>
          <p:cNvPr id="3" name="Text 1"/>
          <p:cNvSpPr/>
          <p:nvPr/>
        </p:nvSpPr>
        <p:spPr>
          <a:xfrm>
            <a:off x="548640" y="731520"/>
            <a:ext cx="777240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Arial Black" pitchFamily="34" charset="0"/>
                <a:ea typeface="Arial Black" pitchFamily="34" charset="-122"/>
                <a:cs typeface="Arial Black" pitchFamily="34" charset="-120"/>
              </a:rPr>
              <a:t>The Continent Has Spoken. Now It Needs Builders.</a:t>
            </a:r>
            <a:endParaRPr lang="en-US" sz="2800" dirty="0"/>
          </a:p>
        </p:txBody>
      </p:sp>
      <p:sp>
        <p:nvSpPr>
          <p:cNvPr id="4" name="Shape 2"/>
          <p:cNvSpPr/>
          <p:nvPr/>
        </p:nvSpPr>
        <p:spPr>
          <a:xfrm>
            <a:off x="457200" y="1645920"/>
            <a:ext cx="1463040" cy="640080"/>
          </a:xfrm>
          <a:prstGeom prst="rect">
            <a:avLst/>
          </a:prstGeom>
          <a:solidFill>
            <a:srgbClr val="1A1A1A"/>
          </a:solidFill>
          <a:ln/>
        </p:spPr>
      </p:sp>
      <p:sp>
        <p:nvSpPr>
          <p:cNvPr id="5" name="Text 3"/>
          <p:cNvSpPr/>
          <p:nvPr/>
        </p:nvSpPr>
        <p:spPr>
          <a:xfrm>
            <a:off x="457200" y="1810512"/>
            <a:ext cx="1463040" cy="310896"/>
          </a:xfrm>
          <a:prstGeom prst="rect">
            <a:avLst/>
          </a:prstGeom>
          <a:noFill/>
          <a:ln/>
        </p:spPr>
        <p:txBody>
          <a:bodyPr wrap="square" lIns="0" tIns="0" rIns="0" bIns="0" rtlCol="0" anchor="ctr"/>
          <a:lstStyle/>
          <a:p>
            <a:pPr algn="ctr" indent="0" marL="0">
              <a:buNone/>
            </a:pPr>
            <a:r>
              <a:rPr lang="en-US" sz="900" b="1" spc="100" kern="0" dirty="0">
                <a:solidFill>
                  <a:srgbClr val="ABABAB"/>
                </a:solidFill>
                <a:latin typeface="Arial" pitchFamily="34" charset="0"/>
                <a:ea typeface="Arial" pitchFamily="34" charset="-122"/>
                <a:cs typeface="Arial" pitchFamily="34" charset="-120"/>
              </a:rPr>
              <a:t>APRIL 2025</a:t>
            </a:r>
            <a:endParaRPr lang="en-US" sz="900" dirty="0"/>
          </a:p>
        </p:txBody>
      </p:sp>
      <p:sp>
        <p:nvSpPr>
          <p:cNvPr id="6" name="Shape 4"/>
          <p:cNvSpPr/>
          <p:nvPr/>
        </p:nvSpPr>
        <p:spPr>
          <a:xfrm>
            <a:off x="2057400" y="1737360"/>
            <a:ext cx="36576" cy="457200"/>
          </a:xfrm>
          <a:prstGeom prst="rect">
            <a:avLst/>
          </a:prstGeom>
          <a:solidFill>
            <a:srgbClr val="3A3A3A"/>
          </a:solidFill>
          <a:ln/>
        </p:spPr>
      </p:sp>
      <p:sp>
        <p:nvSpPr>
          <p:cNvPr id="7" name="Text 5"/>
          <p:cNvSpPr/>
          <p:nvPr/>
        </p:nvSpPr>
        <p:spPr>
          <a:xfrm>
            <a:off x="2240280" y="1719072"/>
            <a:ext cx="6400800" cy="548640"/>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54 African nations sign the Africa Declaration on AI in Kigali. A $60 billion Africa AI Fund is announced. The Africa AI Council is established under Smart Africa and the African Union.</a:t>
            </a:r>
            <a:endParaRPr lang="en-US" sz="1100" dirty="0"/>
          </a:p>
        </p:txBody>
      </p:sp>
      <p:sp>
        <p:nvSpPr>
          <p:cNvPr id="8" name="Shape 6"/>
          <p:cNvSpPr/>
          <p:nvPr/>
        </p:nvSpPr>
        <p:spPr>
          <a:xfrm>
            <a:off x="457200" y="2423160"/>
            <a:ext cx="1463040" cy="640080"/>
          </a:xfrm>
          <a:prstGeom prst="rect">
            <a:avLst/>
          </a:prstGeom>
          <a:solidFill>
            <a:srgbClr val="1A1A1A"/>
          </a:solidFill>
          <a:ln/>
        </p:spPr>
      </p:sp>
      <p:sp>
        <p:nvSpPr>
          <p:cNvPr id="9" name="Text 7"/>
          <p:cNvSpPr/>
          <p:nvPr/>
        </p:nvSpPr>
        <p:spPr>
          <a:xfrm>
            <a:off x="457200" y="2587752"/>
            <a:ext cx="1463040" cy="310896"/>
          </a:xfrm>
          <a:prstGeom prst="rect">
            <a:avLst/>
          </a:prstGeom>
          <a:noFill/>
          <a:ln/>
        </p:spPr>
        <p:txBody>
          <a:bodyPr wrap="square" lIns="0" tIns="0" rIns="0" bIns="0" rtlCol="0" anchor="ctr"/>
          <a:lstStyle/>
          <a:p>
            <a:pPr algn="ctr" indent="0" marL="0">
              <a:buNone/>
            </a:pPr>
            <a:r>
              <a:rPr lang="en-US" sz="900" b="1" spc="100" kern="0" dirty="0">
                <a:solidFill>
                  <a:srgbClr val="ABABAB"/>
                </a:solidFill>
                <a:latin typeface="Arial" pitchFamily="34" charset="0"/>
                <a:ea typeface="Arial" pitchFamily="34" charset="-122"/>
                <a:cs typeface="Arial" pitchFamily="34" charset="-120"/>
              </a:rPr>
              <a:t>FEB 2026</a:t>
            </a:r>
            <a:endParaRPr lang="en-US" sz="900" dirty="0"/>
          </a:p>
        </p:txBody>
      </p:sp>
      <p:sp>
        <p:nvSpPr>
          <p:cNvPr id="10" name="Shape 8"/>
          <p:cNvSpPr/>
          <p:nvPr/>
        </p:nvSpPr>
        <p:spPr>
          <a:xfrm>
            <a:off x="2057400" y="2514600"/>
            <a:ext cx="36576" cy="457200"/>
          </a:xfrm>
          <a:prstGeom prst="rect">
            <a:avLst/>
          </a:prstGeom>
          <a:solidFill>
            <a:srgbClr val="3A3A3A"/>
          </a:solidFill>
          <a:ln/>
        </p:spPr>
      </p:sp>
      <p:sp>
        <p:nvSpPr>
          <p:cNvPr id="11" name="Text 9"/>
          <p:cNvSpPr/>
          <p:nvPr/>
        </p:nvSpPr>
        <p:spPr>
          <a:xfrm>
            <a:off x="2240280" y="2496312"/>
            <a:ext cx="6400800" cy="548640"/>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The African Union and Google sign a landmark AI sovereignty partnership. The AfDB and UNDP launch the AI 10 Billion Initiative targeting 40 million jobs and $10 billion mobilized by 2035.</a:t>
            </a:r>
            <a:endParaRPr lang="en-US" sz="1100" dirty="0"/>
          </a:p>
        </p:txBody>
      </p:sp>
      <p:sp>
        <p:nvSpPr>
          <p:cNvPr id="12" name="Shape 10"/>
          <p:cNvSpPr/>
          <p:nvPr/>
        </p:nvSpPr>
        <p:spPr>
          <a:xfrm>
            <a:off x="457200" y="3200400"/>
            <a:ext cx="1463040" cy="640080"/>
          </a:xfrm>
          <a:prstGeom prst="rect">
            <a:avLst/>
          </a:prstGeom>
          <a:solidFill>
            <a:srgbClr val="1A1A1A"/>
          </a:solidFill>
          <a:ln/>
        </p:spPr>
      </p:sp>
      <p:sp>
        <p:nvSpPr>
          <p:cNvPr id="13" name="Text 11"/>
          <p:cNvSpPr/>
          <p:nvPr/>
        </p:nvSpPr>
        <p:spPr>
          <a:xfrm>
            <a:off x="457200" y="3364992"/>
            <a:ext cx="1463040" cy="310896"/>
          </a:xfrm>
          <a:prstGeom prst="rect">
            <a:avLst/>
          </a:prstGeom>
          <a:noFill/>
          <a:ln/>
        </p:spPr>
        <p:txBody>
          <a:bodyPr wrap="square" lIns="0" tIns="0" rIns="0" bIns="0" rtlCol="0" anchor="ctr"/>
          <a:lstStyle/>
          <a:p>
            <a:pPr algn="ctr" indent="0" marL="0">
              <a:buNone/>
            </a:pPr>
            <a:r>
              <a:rPr lang="en-US" sz="900" b="1" spc="100" kern="0" dirty="0">
                <a:solidFill>
                  <a:srgbClr val="ABABAB"/>
                </a:solidFill>
                <a:latin typeface="Arial" pitchFamily="34" charset="0"/>
                <a:ea typeface="Arial" pitchFamily="34" charset="-122"/>
                <a:cs typeface="Arial" pitchFamily="34" charset="-120"/>
              </a:rPr>
              <a:t>2025-2026</a:t>
            </a:r>
            <a:endParaRPr lang="en-US" sz="900" dirty="0"/>
          </a:p>
        </p:txBody>
      </p:sp>
      <p:sp>
        <p:nvSpPr>
          <p:cNvPr id="14" name="Shape 12"/>
          <p:cNvSpPr/>
          <p:nvPr/>
        </p:nvSpPr>
        <p:spPr>
          <a:xfrm>
            <a:off x="2057400" y="3291840"/>
            <a:ext cx="36576" cy="457200"/>
          </a:xfrm>
          <a:prstGeom prst="rect">
            <a:avLst/>
          </a:prstGeom>
          <a:solidFill>
            <a:srgbClr val="3A3A3A"/>
          </a:solidFill>
          <a:ln/>
        </p:spPr>
      </p:sp>
      <p:sp>
        <p:nvSpPr>
          <p:cNvPr id="15" name="Text 13"/>
          <p:cNvSpPr/>
          <p:nvPr/>
        </p:nvSpPr>
        <p:spPr>
          <a:xfrm>
            <a:off x="2240280" y="3273552"/>
            <a:ext cx="6400800" cy="548640"/>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Togo launches Digital Strategy 2025-2030 with World Bank IDA backing. The AU Continental AI Strategy Phase 1 is active. At least 15 African countries now have national AI roadmaps.</a:t>
            </a:r>
            <a:endParaRPr lang="en-US" sz="1100" dirty="0"/>
          </a:p>
        </p:txBody>
      </p:sp>
      <p:sp>
        <p:nvSpPr>
          <p:cNvPr id="16" name="Shape 14"/>
          <p:cNvSpPr/>
          <p:nvPr/>
        </p:nvSpPr>
        <p:spPr>
          <a:xfrm>
            <a:off x="457200" y="3977640"/>
            <a:ext cx="1463040" cy="640080"/>
          </a:xfrm>
          <a:prstGeom prst="rect">
            <a:avLst/>
          </a:prstGeom>
          <a:solidFill>
            <a:srgbClr val="1A1A1A"/>
          </a:solidFill>
          <a:ln/>
        </p:spPr>
      </p:sp>
      <p:sp>
        <p:nvSpPr>
          <p:cNvPr id="17" name="Text 15"/>
          <p:cNvSpPr/>
          <p:nvPr/>
        </p:nvSpPr>
        <p:spPr>
          <a:xfrm>
            <a:off x="457200" y="4142232"/>
            <a:ext cx="1463040" cy="310896"/>
          </a:xfrm>
          <a:prstGeom prst="rect">
            <a:avLst/>
          </a:prstGeom>
          <a:noFill/>
          <a:ln/>
        </p:spPr>
        <p:txBody>
          <a:bodyPr wrap="square" lIns="0" tIns="0" rIns="0" bIns="0" rtlCol="0" anchor="ctr"/>
          <a:lstStyle/>
          <a:p>
            <a:pPr algn="ctr" indent="0" marL="0">
              <a:buNone/>
            </a:pPr>
            <a:r>
              <a:rPr lang="en-US" sz="900" b="1" spc="100" kern="0" dirty="0">
                <a:solidFill>
                  <a:srgbClr val="ABABAB"/>
                </a:solidFill>
                <a:latin typeface="Arial" pitchFamily="34" charset="0"/>
                <a:ea typeface="Arial" pitchFamily="34" charset="-122"/>
                <a:cs typeface="Arial" pitchFamily="34" charset="-120"/>
              </a:rPr>
              <a:t>THE GAP</a:t>
            </a:r>
            <a:endParaRPr lang="en-US" sz="900" dirty="0"/>
          </a:p>
        </p:txBody>
      </p:sp>
      <p:sp>
        <p:nvSpPr>
          <p:cNvPr id="18" name="Shape 16"/>
          <p:cNvSpPr/>
          <p:nvPr/>
        </p:nvSpPr>
        <p:spPr>
          <a:xfrm>
            <a:off x="2057400" y="4069080"/>
            <a:ext cx="36576" cy="457200"/>
          </a:xfrm>
          <a:prstGeom prst="rect">
            <a:avLst/>
          </a:prstGeom>
          <a:solidFill>
            <a:srgbClr val="3A3A3A"/>
          </a:solidFill>
          <a:ln/>
        </p:spPr>
      </p:sp>
      <p:sp>
        <p:nvSpPr>
          <p:cNvPr id="19" name="Text 17"/>
          <p:cNvSpPr/>
          <p:nvPr/>
        </p:nvSpPr>
        <p:spPr>
          <a:xfrm>
            <a:off x="2240280" y="4050792"/>
            <a:ext cx="6400800" cy="548640"/>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All of this political will and capital exists without a unified, independent technical lab to act as the continent's execution layer. Kora Lab is that lab.</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OUR VISION</a:t>
            </a:r>
            <a:endParaRPr lang="en-US" sz="1100" dirty="0"/>
          </a:p>
        </p:txBody>
      </p:sp>
      <p:sp>
        <p:nvSpPr>
          <p:cNvPr id="3" name="Text 1"/>
          <p:cNvSpPr/>
          <p:nvPr/>
        </p:nvSpPr>
        <p:spPr>
          <a:xfrm>
            <a:off x="548640" y="777240"/>
            <a:ext cx="7772400" cy="1463040"/>
          </a:xfrm>
          <a:prstGeom prst="rect">
            <a:avLst/>
          </a:prstGeom>
          <a:noFill/>
          <a:ln/>
        </p:spPr>
        <p:txBody>
          <a:bodyPr wrap="square" lIns="0" tIns="0" rIns="0" bIns="0" rtlCol="0" anchor="ctr"/>
          <a:lstStyle/>
          <a:p>
            <a:pPr algn="l" indent="0" marL="0">
              <a:buNone/>
            </a:pPr>
            <a:r>
              <a:rPr lang="en-US" sz="4000" b="1" dirty="0">
                <a:solidFill>
                  <a:srgbClr val="FFFFFF"/>
                </a:solidFill>
                <a:latin typeface="Arial Black" pitchFamily="34" charset="0"/>
                <a:ea typeface="Arial Black" pitchFamily="34" charset="-122"/>
                <a:cs typeface="Arial Black" pitchFamily="34" charset="-120"/>
              </a:rPr>
              <a:t>One Flag. One Lab.</a:t>
            </a:r>
            <a:endParaRPr lang="en-US" sz="4000" dirty="0"/>
          </a:p>
          <a:p>
            <a:pPr algn="l" indent="0" marL="0">
              <a:buNone/>
            </a:pPr>
            <a:r>
              <a:rPr lang="en-US" sz="4000" b="1" dirty="0">
                <a:solidFill>
                  <a:srgbClr val="FFFFFF"/>
                </a:solidFill>
                <a:latin typeface="Arial Black" pitchFamily="34" charset="0"/>
                <a:ea typeface="Arial Black" pitchFamily="34" charset="-122"/>
                <a:cs typeface="Arial Black" pitchFamily="34" charset="-120"/>
              </a:rPr>
              <a:t>All of Africa.</a:t>
            </a:r>
            <a:endParaRPr lang="en-US" sz="4000" dirty="0"/>
          </a:p>
        </p:txBody>
      </p:sp>
      <p:sp>
        <p:nvSpPr>
          <p:cNvPr id="4" name="Shape 2"/>
          <p:cNvSpPr/>
          <p:nvPr/>
        </p:nvSpPr>
        <p:spPr>
          <a:xfrm>
            <a:off x="548640" y="2423160"/>
            <a:ext cx="1097280" cy="36576"/>
          </a:xfrm>
          <a:prstGeom prst="rect">
            <a:avLst/>
          </a:prstGeom>
          <a:solidFill>
            <a:srgbClr val="FFFFFF"/>
          </a:solidFill>
          <a:ln/>
        </p:spPr>
      </p:sp>
      <p:sp>
        <p:nvSpPr>
          <p:cNvPr id="5" name="Text 3"/>
          <p:cNvSpPr/>
          <p:nvPr/>
        </p:nvSpPr>
        <p:spPr>
          <a:xfrm>
            <a:off x="548640" y="2606040"/>
            <a:ext cx="7772400" cy="2194560"/>
          </a:xfrm>
          <a:prstGeom prst="rect">
            <a:avLst/>
          </a:prstGeom>
          <a:noFill/>
          <a:ln/>
        </p:spPr>
        <p:txBody>
          <a:bodyPr wrap="square" lIns="0" tIns="0" rIns="0" bIns="0" rtlCol="0" anchor="ctr"/>
          <a:lstStyle/>
          <a:p>
            <a:pPr algn="l" indent="0" marL="0">
              <a:buNone/>
            </a:pPr>
            <a:r>
              <a:rPr lang="en-US" sz="1350" dirty="0">
                <a:solidFill>
                  <a:srgbClr val="ABABAB"/>
                </a:solidFill>
                <a:latin typeface="Arial" pitchFamily="34" charset="0"/>
                <a:ea typeface="Arial" pitchFamily="34" charset="-122"/>
                <a:cs typeface="Arial" pitchFamily="34" charset="-120"/>
              </a:rPr>
              <a:t>Kora Lab is not just a startup. It is a continental institution in formation. We position ourselves as the technical arm of Africa's AI sovereignty movement: building what governments have mandated, providing what institutions have funded, and executing what declarations have promised.</a:t>
            </a:r>
            <a:endParaRPr lang="en-US" sz="1350" dirty="0"/>
          </a:p>
          <a:p>
            <a:pPr algn="l" indent="0" marL="0">
              <a:buNone/>
            </a:pPr>
            <a:endParaRPr lang="en-US" sz="1350" dirty="0"/>
          </a:p>
          <a:p>
            <a:pPr algn="l" indent="0" marL="0">
              <a:buNone/>
            </a:pPr>
            <a:r>
              <a:rPr lang="en-US" sz="1350" dirty="0">
                <a:solidFill>
                  <a:srgbClr val="ABABAB"/>
                </a:solidFill>
                <a:latin typeface="Arial" pitchFamily="34" charset="0"/>
                <a:ea typeface="Arial" pitchFamily="34" charset="-122"/>
                <a:cs typeface="Arial" pitchFamily="34" charset="-120"/>
              </a:rPr>
              <a:t>Every institution that signed the Kigali Declaration, every fund, every national digital strategy needs a private sector builder that can actually deliver. Kora Lab is that builder. We unite every stakeholder under a single flag. We are the lab Africa has been waiting for.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8E8"/>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OUR APPROACH</a:t>
            </a:r>
            <a:endParaRPr lang="en-US" sz="1100" dirty="0"/>
          </a:p>
        </p:txBody>
      </p:sp>
      <p:sp>
        <p:nvSpPr>
          <p:cNvPr id="3" name="Text 1"/>
          <p:cNvSpPr/>
          <p:nvPr/>
        </p:nvSpPr>
        <p:spPr>
          <a:xfrm>
            <a:off x="548640" y="685800"/>
            <a:ext cx="8046720" cy="640080"/>
          </a:xfrm>
          <a:prstGeom prst="rect">
            <a:avLst/>
          </a:prstGeom>
          <a:noFill/>
          <a:ln/>
        </p:spPr>
        <p:txBody>
          <a:bodyPr wrap="square" lIns="0" tIns="0" rIns="0" bIns="0" rtlCol="0" anchor="ctr"/>
          <a:lstStyle/>
          <a:p>
            <a:pPr indent="0" marL="0">
              <a:buNone/>
            </a:pPr>
            <a:r>
              <a:rPr lang="en-US" sz="3200" b="1" dirty="0">
                <a:solidFill>
                  <a:srgbClr val="0A0A0A"/>
                </a:solidFill>
                <a:latin typeface="Arial Black" pitchFamily="34" charset="0"/>
                <a:ea typeface="Arial Black" pitchFamily="34" charset="-122"/>
                <a:cs typeface="Arial Black" pitchFamily="34" charset="-120"/>
              </a:rPr>
              <a:t>A Two-Axis Strategy</a:t>
            </a:r>
            <a:endParaRPr lang="en-US" sz="3200" dirty="0"/>
          </a:p>
        </p:txBody>
      </p:sp>
      <p:sp>
        <p:nvSpPr>
          <p:cNvPr id="4" name="Shape 2"/>
          <p:cNvSpPr/>
          <p:nvPr/>
        </p:nvSpPr>
        <p:spPr>
          <a:xfrm>
            <a:off x="457200" y="1600200"/>
            <a:ext cx="3977640" cy="3246120"/>
          </a:xfrm>
          <a:prstGeom prst="rect">
            <a:avLst/>
          </a:prstGeom>
          <a:solidFill>
            <a:srgbClr val="0A0A0A"/>
          </a:solidFill>
          <a:ln/>
          <a:effectLst>
            <a:outerShdw sx="100000" sy="100000" kx="0" ky="0" algn="bl" rotWithShape="0" blurRad="101600" dist="25400" dir="8100000">
              <a:srgbClr val="000000">
                <a:alpha val="18000"/>
              </a:srgbClr>
            </a:outerShdw>
          </a:effectLst>
        </p:spPr>
      </p:sp>
      <p:sp>
        <p:nvSpPr>
          <p:cNvPr id="5" name="Text 3"/>
          <p:cNvSpPr/>
          <p:nvPr/>
        </p:nvSpPr>
        <p:spPr>
          <a:xfrm>
            <a:off x="640080" y="1737360"/>
            <a:ext cx="914400" cy="640080"/>
          </a:xfrm>
          <a:prstGeom prst="rect">
            <a:avLst/>
          </a:prstGeom>
          <a:noFill/>
          <a:ln/>
        </p:spPr>
        <p:txBody>
          <a:bodyPr wrap="square" lIns="0" tIns="0" rIns="0" bIns="0" rtlCol="0" anchor="ctr"/>
          <a:lstStyle/>
          <a:p>
            <a:pPr indent="0" marL="0">
              <a:buNone/>
            </a:pPr>
            <a:r>
              <a:rPr lang="en-US" sz="3600" b="1" dirty="0">
                <a:solidFill>
                  <a:srgbClr val="3A3A3A"/>
                </a:solidFill>
                <a:latin typeface="Arial Black" pitchFamily="34" charset="0"/>
                <a:ea typeface="Arial Black" pitchFamily="34" charset="-122"/>
                <a:cs typeface="Arial Black" pitchFamily="34" charset="-120"/>
              </a:rPr>
              <a:t>01</a:t>
            </a:r>
            <a:endParaRPr lang="en-US" sz="3600" dirty="0"/>
          </a:p>
        </p:txBody>
      </p:sp>
      <p:sp>
        <p:nvSpPr>
          <p:cNvPr id="6" name="Text 4"/>
          <p:cNvSpPr/>
          <p:nvPr/>
        </p:nvSpPr>
        <p:spPr>
          <a:xfrm>
            <a:off x="640080" y="2423160"/>
            <a:ext cx="3474720" cy="731520"/>
          </a:xfrm>
          <a:prstGeom prst="rect">
            <a:avLst/>
          </a:prstGeom>
          <a:noFill/>
          <a:ln/>
        </p:spPr>
        <p:txBody>
          <a:bodyPr wrap="square" lIns="0" tIns="0" rIns="0" bIns="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ACCESSIBILITY</a:t>
            </a:r>
            <a:endParaRPr lang="en-US" sz="1600" dirty="0"/>
          </a:p>
          <a:p>
            <a:pPr indent="0" marL="0">
              <a:buNone/>
            </a:pPr>
            <a:r>
              <a:rPr lang="en-US" sz="1600" b="1" dirty="0">
                <a:solidFill>
                  <a:srgbClr val="FFFFFF"/>
                </a:solidFill>
                <a:latin typeface="Arial Black" pitchFamily="34" charset="0"/>
                <a:ea typeface="Arial Black" pitchFamily="34" charset="-122"/>
                <a:cs typeface="Arial Black" pitchFamily="34" charset="-120"/>
              </a:rPr>
              <a:t>LAYER</a:t>
            </a:r>
            <a:endParaRPr lang="en-US" sz="1600" dirty="0"/>
          </a:p>
        </p:txBody>
      </p:sp>
      <p:sp>
        <p:nvSpPr>
          <p:cNvPr id="7" name="Text 5"/>
          <p:cNvSpPr/>
          <p:nvPr/>
        </p:nvSpPr>
        <p:spPr>
          <a:xfrm>
            <a:off x="640080" y="3246120"/>
            <a:ext cx="3474720" cy="1508760"/>
          </a:xfrm>
          <a:prstGeom prst="rect">
            <a:avLst/>
          </a:prstGeom>
          <a:noFill/>
          <a:ln/>
        </p:spPr>
        <p:txBody>
          <a:bodyPr wrap="square" lIns="0" tIns="0" rIns="0" bIns="0" rtlCol="0" anchor="ctr"/>
          <a:lstStyle/>
          <a:p>
            <a:pPr algn="l" indent="0" marL="0">
              <a:buNone/>
            </a:pPr>
            <a:r>
              <a:rPr lang="en-US" sz="1100" dirty="0">
                <a:solidFill>
                  <a:srgbClr val="ABABAB"/>
                </a:solidFill>
                <a:latin typeface="Arial" pitchFamily="34" charset="0"/>
                <a:ea typeface="Arial" pitchFamily="34" charset="-122"/>
                <a:cs typeface="Arial" pitchFamily="34" charset="-120"/>
              </a:rPr>
              <a:t>Making the latest AI from Anthropic, OpenAI, DeepMind, and others genuinely usable for African and global users. Culturally adapted, multilingual, no technical knowledge required.</a:t>
            </a:r>
            <a:endParaRPr lang="en-US" sz="1100" dirty="0"/>
          </a:p>
          <a:p>
            <a:pPr algn="l" indent="0" marL="0">
              <a:buNone/>
            </a:pPr>
            <a:endParaRPr lang="en-US" sz="1100" dirty="0"/>
          </a:p>
          <a:p>
            <a:pPr algn="l" indent="0" marL="0">
              <a:buNone/>
            </a:pPr>
            <a:r>
              <a:rPr lang="en-US" sz="1100" dirty="0">
                <a:solidFill>
                  <a:srgbClr val="ABABAB"/>
                </a:solidFill>
                <a:latin typeface="Arial" pitchFamily="34" charset="0"/>
                <a:ea typeface="Arial" pitchFamily="34" charset="-122"/>
                <a:cs typeface="Arial" pitchFamily="34" charset="-120"/>
              </a:rPr>
              <a:t>Products: AI agents, no-code interfaces, developer tooling, African-context adaptations of frontier tools, and data pipelines that generate real jobs across the continent.</a:t>
            </a:r>
            <a:endParaRPr lang="en-US" sz="1100" dirty="0"/>
          </a:p>
        </p:txBody>
      </p:sp>
      <p:sp>
        <p:nvSpPr>
          <p:cNvPr id="8" name="Shape 6"/>
          <p:cNvSpPr/>
          <p:nvPr/>
        </p:nvSpPr>
        <p:spPr>
          <a:xfrm>
            <a:off x="4709160" y="1600200"/>
            <a:ext cx="3977640" cy="32461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9" name="Shape 7"/>
          <p:cNvSpPr/>
          <p:nvPr/>
        </p:nvSpPr>
        <p:spPr>
          <a:xfrm>
            <a:off x="4709160" y="1600200"/>
            <a:ext cx="3977640" cy="54864"/>
          </a:xfrm>
          <a:prstGeom prst="rect">
            <a:avLst/>
          </a:prstGeom>
          <a:solidFill>
            <a:srgbClr val="0A0A0A"/>
          </a:solidFill>
          <a:ln/>
        </p:spPr>
      </p:sp>
      <p:sp>
        <p:nvSpPr>
          <p:cNvPr id="10" name="Text 8"/>
          <p:cNvSpPr/>
          <p:nvPr/>
        </p:nvSpPr>
        <p:spPr>
          <a:xfrm>
            <a:off x="4892040" y="1737360"/>
            <a:ext cx="914400" cy="640080"/>
          </a:xfrm>
          <a:prstGeom prst="rect">
            <a:avLst/>
          </a:prstGeom>
          <a:noFill/>
          <a:ln/>
        </p:spPr>
        <p:txBody>
          <a:bodyPr wrap="square" lIns="0" tIns="0" rIns="0" bIns="0" rtlCol="0" anchor="ctr"/>
          <a:lstStyle/>
          <a:p>
            <a:pPr indent="0" marL="0">
              <a:buNone/>
            </a:pPr>
            <a:r>
              <a:rPr lang="en-US" sz="3600" b="1" dirty="0">
                <a:solidFill>
                  <a:srgbClr val="E8E8E8"/>
                </a:solidFill>
                <a:latin typeface="Arial Black" pitchFamily="34" charset="0"/>
                <a:ea typeface="Arial Black" pitchFamily="34" charset="-122"/>
                <a:cs typeface="Arial Black" pitchFamily="34" charset="-120"/>
              </a:rPr>
              <a:t>02</a:t>
            </a:r>
            <a:endParaRPr lang="en-US" sz="3600" dirty="0"/>
          </a:p>
        </p:txBody>
      </p:sp>
      <p:sp>
        <p:nvSpPr>
          <p:cNvPr id="11" name="Text 9"/>
          <p:cNvSpPr/>
          <p:nvPr/>
        </p:nvSpPr>
        <p:spPr>
          <a:xfrm>
            <a:off x="4892040" y="2423160"/>
            <a:ext cx="3474720" cy="731520"/>
          </a:xfrm>
          <a:prstGeom prst="rect">
            <a:avLst/>
          </a:prstGeom>
          <a:noFill/>
          <a:ln/>
        </p:spPr>
        <p:txBody>
          <a:bodyPr wrap="square" lIns="0" tIns="0" rIns="0" bIns="0" rtlCol="0" anchor="ctr"/>
          <a:lstStyle/>
          <a:p>
            <a:pPr indent="0" marL="0">
              <a:buNone/>
            </a:pPr>
            <a:r>
              <a:rPr lang="en-US" sz="1600" b="1" dirty="0">
                <a:solidFill>
                  <a:srgbClr val="0A0A0A"/>
                </a:solidFill>
                <a:latin typeface="Arial Black" pitchFamily="34" charset="0"/>
                <a:ea typeface="Arial Black" pitchFamily="34" charset="-122"/>
                <a:cs typeface="Arial Black" pitchFamily="34" charset="-120"/>
              </a:rPr>
              <a:t>SOVEREIGN</a:t>
            </a:r>
            <a:endParaRPr lang="en-US" sz="1600" dirty="0"/>
          </a:p>
          <a:p>
            <a:pPr indent="0" marL="0">
              <a:buNone/>
            </a:pPr>
            <a:r>
              <a:rPr lang="en-US" sz="1600" b="1" dirty="0">
                <a:solidFill>
                  <a:srgbClr val="0A0A0A"/>
                </a:solidFill>
                <a:latin typeface="Arial Black" pitchFamily="34" charset="0"/>
                <a:ea typeface="Arial Black" pitchFamily="34" charset="-122"/>
                <a:cs typeface="Arial Black" pitchFamily="34" charset="-120"/>
              </a:rPr>
              <a:t>MODEL LAB</a:t>
            </a:r>
            <a:endParaRPr lang="en-US" sz="1600" dirty="0"/>
          </a:p>
        </p:txBody>
      </p:sp>
      <p:sp>
        <p:nvSpPr>
          <p:cNvPr id="12" name="Text 10"/>
          <p:cNvSpPr/>
          <p:nvPr/>
        </p:nvSpPr>
        <p:spPr>
          <a:xfrm>
            <a:off x="4892040" y="3246120"/>
            <a:ext cx="3474720" cy="1508760"/>
          </a:xfrm>
          <a:prstGeom prst="rect">
            <a:avLst/>
          </a:prstGeom>
          <a:noFill/>
          <a:ln/>
        </p:spPr>
        <p:txBody>
          <a:bodyPr wrap="square" lIns="0" tIns="0" rIns="0" bIns="0" rtlCol="0" anchor="ctr"/>
          <a:lstStyle/>
          <a:p>
            <a:pPr algn="l" indent="0" marL="0">
              <a:buNone/>
            </a:pPr>
            <a:r>
              <a:rPr lang="en-US" sz="1100" dirty="0">
                <a:solidFill>
                  <a:srgbClr val="3A3A3A"/>
                </a:solidFill>
                <a:latin typeface="Arial" pitchFamily="34" charset="0"/>
                <a:ea typeface="Arial" pitchFamily="34" charset="-122"/>
                <a:cs typeface="Arial" pitchFamily="34" charset="-120"/>
              </a:rPr>
              <a:t>Building Africa's own large language and multimodal models. Trained on African languages, history, and contexts. Authored by African researchers. Owned by the continent.</a:t>
            </a:r>
            <a:endParaRPr lang="en-US" sz="1100" dirty="0"/>
          </a:p>
          <a:p>
            <a:pPr algn="l" indent="0" marL="0">
              <a:buNone/>
            </a:pPr>
            <a:endParaRPr lang="en-US" sz="1100" dirty="0"/>
          </a:p>
          <a:p>
            <a:pPr algn="l" indent="0" marL="0">
              <a:buNone/>
            </a:pPr>
            <a:r>
              <a:rPr lang="en-US" sz="1100" dirty="0">
                <a:solidFill>
                  <a:srgbClr val="3A3A3A"/>
                </a:solidFill>
                <a:latin typeface="Arial" pitchFamily="34" charset="0"/>
                <a:ea typeface="Arial" pitchFamily="34" charset="-122"/>
                <a:cs typeface="Arial" pitchFamily="34" charset="-120"/>
              </a:rPr>
              <a:t>This is the technical execution of the Kigali Declaration: sovereign data infrastructure, open African datasets, and continental AI research capacity.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8E8"/>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STRATEGIC POSITION</a:t>
            </a:r>
            <a:endParaRPr lang="en-US" sz="1100" dirty="0"/>
          </a:p>
        </p:txBody>
      </p:sp>
      <p:sp>
        <p:nvSpPr>
          <p:cNvPr id="3" name="Text 1"/>
          <p:cNvSpPr/>
          <p:nvPr/>
        </p:nvSpPr>
        <p:spPr>
          <a:xfrm>
            <a:off x="548640" y="685800"/>
            <a:ext cx="8046720" cy="914400"/>
          </a:xfrm>
          <a:prstGeom prst="rect">
            <a:avLst/>
          </a:prstGeom>
          <a:noFill/>
          <a:ln/>
        </p:spPr>
        <p:txBody>
          <a:bodyPr wrap="square" lIns="0" tIns="0" rIns="0" bIns="0" rtlCol="0" anchor="ctr"/>
          <a:lstStyle/>
          <a:p>
            <a:pPr indent="0" marL="0">
              <a:buNone/>
            </a:pPr>
            <a:r>
              <a:rPr lang="en-US" sz="2600" b="1" dirty="0">
                <a:solidFill>
                  <a:srgbClr val="0A0A0A"/>
                </a:solidFill>
                <a:latin typeface="Arial Black" pitchFamily="34" charset="0"/>
                <a:ea typeface="Arial Black" pitchFamily="34" charset="-122"/>
                <a:cs typeface="Arial Black" pitchFamily="34" charset="-120"/>
              </a:rPr>
              <a:t>The Infrastructure Already Exists.</a:t>
            </a:r>
            <a:endParaRPr lang="en-US" sz="2600" dirty="0"/>
          </a:p>
          <a:p>
            <a:pPr indent="0" marL="0">
              <a:buNone/>
            </a:pPr>
            <a:r>
              <a:rPr lang="en-US" sz="2600" b="1" dirty="0">
                <a:solidFill>
                  <a:srgbClr val="0A0A0A"/>
                </a:solidFill>
                <a:latin typeface="Arial Black" pitchFamily="34" charset="0"/>
                <a:ea typeface="Arial Black" pitchFamily="34" charset="-122"/>
                <a:cs typeface="Arial Black" pitchFamily="34" charset="-120"/>
              </a:rPr>
              <a:t>Kora Lab Connects It.</a:t>
            </a:r>
            <a:endParaRPr lang="en-US" sz="2600" dirty="0"/>
          </a:p>
        </p:txBody>
      </p:sp>
      <p:sp>
        <p:nvSpPr>
          <p:cNvPr id="4" name="Text 2"/>
          <p:cNvSpPr/>
          <p:nvPr/>
        </p:nvSpPr>
        <p:spPr>
          <a:xfrm>
            <a:off x="457200" y="1737360"/>
            <a:ext cx="47548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INSTITUTIONS THAT SHARE OUR MANDATE</a:t>
            </a:r>
            <a:endParaRPr lang="en-US" sz="900" dirty="0"/>
          </a:p>
        </p:txBody>
      </p:sp>
      <p:sp>
        <p:nvSpPr>
          <p:cNvPr id="5" name="Shape 3"/>
          <p:cNvSpPr/>
          <p:nvPr/>
        </p:nvSpPr>
        <p:spPr>
          <a:xfrm>
            <a:off x="457200" y="2057400"/>
            <a:ext cx="4754880" cy="5029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6" name="Shape 4"/>
          <p:cNvSpPr/>
          <p:nvPr/>
        </p:nvSpPr>
        <p:spPr>
          <a:xfrm>
            <a:off x="457200" y="2057400"/>
            <a:ext cx="45720" cy="502920"/>
          </a:xfrm>
          <a:prstGeom prst="rect">
            <a:avLst/>
          </a:prstGeom>
          <a:solidFill>
            <a:srgbClr val="0A0A0A"/>
          </a:solidFill>
          <a:ln/>
        </p:spPr>
      </p:sp>
      <p:sp>
        <p:nvSpPr>
          <p:cNvPr id="7" name="Text 5"/>
          <p:cNvSpPr/>
          <p:nvPr/>
        </p:nvSpPr>
        <p:spPr>
          <a:xfrm>
            <a:off x="594360" y="2093976"/>
            <a:ext cx="4389120" cy="201168"/>
          </a:xfrm>
          <a:prstGeom prst="rect">
            <a:avLst/>
          </a:prstGeom>
          <a:noFill/>
          <a:ln/>
        </p:spPr>
        <p:txBody>
          <a:bodyPr wrap="square" lIns="0" tIns="0" rIns="0" bIns="0" rtlCol="0" anchor="ctr"/>
          <a:lstStyle/>
          <a:p>
            <a:pPr indent="0" marL="0">
              <a:buNone/>
            </a:pPr>
            <a:r>
              <a:rPr lang="en-US" sz="1100" b="1" dirty="0">
                <a:solidFill>
                  <a:srgbClr val="0A0A0A"/>
                </a:solidFill>
                <a:latin typeface="Arial" pitchFamily="34" charset="0"/>
                <a:ea typeface="Arial" pitchFamily="34" charset="-122"/>
                <a:cs typeface="Arial" pitchFamily="34" charset="-120"/>
              </a:rPr>
              <a:t>African Union</a:t>
            </a:r>
            <a:endParaRPr lang="en-US" sz="1100" dirty="0"/>
          </a:p>
        </p:txBody>
      </p:sp>
      <p:sp>
        <p:nvSpPr>
          <p:cNvPr id="8" name="Text 6"/>
          <p:cNvSpPr/>
          <p:nvPr/>
        </p:nvSpPr>
        <p:spPr>
          <a:xfrm>
            <a:off x="594360" y="2304288"/>
            <a:ext cx="4389120" cy="219456"/>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Continental AI Strategy Phase 1 active. Governance frameworks, national strategies, private sector AI solutions aligned with African priorities.</a:t>
            </a:r>
            <a:endParaRPr lang="en-US" sz="900" dirty="0"/>
          </a:p>
        </p:txBody>
      </p:sp>
      <p:sp>
        <p:nvSpPr>
          <p:cNvPr id="9" name="Shape 7"/>
          <p:cNvSpPr/>
          <p:nvPr/>
        </p:nvSpPr>
        <p:spPr>
          <a:xfrm>
            <a:off x="457200" y="2624328"/>
            <a:ext cx="4754880" cy="5029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0" name="Shape 8"/>
          <p:cNvSpPr/>
          <p:nvPr/>
        </p:nvSpPr>
        <p:spPr>
          <a:xfrm>
            <a:off x="457200" y="2624328"/>
            <a:ext cx="45720" cy="502920"/>
          </a:xfrm>
          <a:prstGeom prst="rect">
            <a:avLst/>
          </a:prstGeom>
          <a:solidFill>
            <a:srgbClr val="0A0A0A"/>
          </a:solidFill>
          <a:ln/>
        </p:spPr>
      </p:sp>
      <p:sp>
        <p:nvSpPr>
          <p:cNvPr id="11" name="Text 9"/>
          <p:cNvSpPr/>
          <p:nvPr/>
        </p:nvSpPr>
        <p:spPr>
          <a:xfrm>
            <a:off x="594360" y="2660904"/>
            <a:ext cx="4389120" cy="201168"/>
          </a:xfrm>
          <a:prstGeom prst="rect">
            <a:avLst/>
          </a:prstGeom>
          <a:noFill/>
          <a:ln/>
        </p:spPr>
        <p:txBody>
          <a:bodyPr wrap="square" lIns="0" tIns="0" rIns="0" bIns="0" rtlCol="0" anchor="ctr"/>
          <a:lstStyle/>
          <a:p>
            <a:pPr indent="0" marL="0">
              <a:buNone/>
            </a:pPr>
            <a:r>
              <a:rPr lang="en-US" sz="1100" b="1" dirty="0">
                <a:solidFill>
                  <a:srgbClr val="0A0A0A"/>
                </a:solidFill>
                <a:latin typeface="Arial" pitchFamily="34" charset="0"/>
                <a:ea typeface="Arial" pitchFamily="34" charset="-122"/>
                <a:cs typeface="Arial" pitchFamily="34" charset="-120"/>
              </a:rPr>
              <a:t>Smart Africa / Africa AI Council</a:t>
            </a:r>
            <a:endParaRPr lang="en-US" sz="1100" dirty="0"/>
          </a:p>
        </p:txBody>
      </p:sp>
      <p:sp>
        <p:nvSpPr>
          <p:cNvPr id="12" name="Text 10"/>
          <p:cNvSpPr/>
          <p:nvPr/>
        </p:nvSpPr>
        <p:spPr>
          <a:xfrm>
            <a:off x="594360" y="2871216"/>
            <a:ext cx="4389120" cy="219456"/>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40 Heads of State board. AI compute infrastructure, datasets, skills development, and market use cases across the continent.</a:t>
            </a:r>
            <a:endParaRPr lang="en-US" sz="900" dirty="0"/>
          </a:p>
        </p:txBody>
      </p:sp>
      <p:sp>
        <p:nvSpPr>
          <p:cNvPr id="13" name="Shape 11"/>
          <p:cNvSpPr/>
          <p:nvPr/>
        </p:nvSpPr>
        <p:spPr>
          <a:xfrm>
            <a:off x="457200" y="3191256"/>
            <a:ext cx="4754880" cy="5029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4" name="Shape 12"/>
          <p:cNvSpPr/>
          <p:nvPr/>
        </p:nvSpPr>
        <p:spPr>
          <a:xfrm>
            <a:off x="457200" y="3191256"/>
            <a:ext cx="45720" cy="502920"/>
          </a:xfrm>
          <a:prstGeom prst="rect">
            <a:avLst/>
          </a:prstGeom>
          <a:solidFill>
            <a:srgbClr val="0A0A0A"/>
          </a:solidFill>
          <a:ln/>
        </p:spPr>
      </p:sp>
      <p:sp>
        <p:nvSpPr>
          <p:cNvPr id="15" name="Text 13"/>
          <p:cNvSpPr/>
          <p:nvPr/>
        </p:nvSpPr>
        <p:spPr>
          <a:xfrm>
            <a:off x="594360" y="3227832"/>
            <a:ext cx="4389120" cy="201168"/>
          </a:xfrm>
          <a:prstGeom prst="rect">
            <a:avLst/>
          </a:prstGeom>
          <a:noFill/>
          <a:ln/>
        </p:spPr>
        <p:txBody>
          <a:bodyPr wrap="square" lIns="0" tIns="0" rIns="0" bIns="0" rtlCol="0" anchor="ctr"/>
          <a:lstStyle/>
          <a:p>
            <a:pPr indent="0" marL="0">
              <a:buNone/>
            </a:pPr>
            <a:r>
              <a:rPr lang="en-US" sz="1100" b="1" dirty="0">
                <a:solidFill>
                  <a:srgbClr val="0A0A0A"/>
                </a:solidFill>
                <a:latin typeface="Arial" pitchFamily="34" charset="0"/>
                <a:ea typeface="Arial" pitchFamily="34" charset="-122"/>
                <a:cs typeface="Arial" pitchFamily="34" charset="-120"/>
              </a:rPr>
              <a:t>AfDB + UNDP AI 10B Initiative</a:t>
            </a:r>
            <a:endParaRPr lang="en-US" sz="1100" dirty="0"/>
          </a:p>
        </p:txBody>
      </p:sp>
      <p:sp>
        <p:nvSpPr>
          <p:cNvPr id="16" name="Text 14"/>
          <p:cNvSpPr/>
          <p:nvPr/>
        </p:nvSpPr>
        <p:spPr>
          <a:xfrm>
            <a:off x="594360" y="3438144"/>
            <a:ext cx="4389120" cy="219456"/>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$10 billion mobilization target by 2035. 40 million jobs. Direct investment in AI startups, data infrastructure, and skills pipelines.</a:t>
            </a:r>
            <a:endParaRPr lang="en-US" sz="900" dirty="0"/>
          </a:p>
        </p:txBody>
      </p:sp>
      <p:sp>
        <p:nvSpPr>
          <p:cNvPr id="17" name="Shape 15"/>
          <p:cNvSpPr/>
          <p:nvPr/>
        </p:nvSpPr>
        <p:spPr>
          <a:xfrm>
            <a:off x="457200" y="3758184"/>
            <a:ext cx="4754880" cy="5029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8" name="Shape 16"/>
          <p:cNvSpPr/>
          <p:nvPr/>
        </p:nvSpPr>
        <p:spPr>
          <a:xfrm>
            <a:off x="457200" y="3758184"/>
            <a:ext cx="45720" cy="502920"/>
          </a:xfrm>
          <a:prstGeom prst="rect">
            <a:avLst/>
          </a:prstGeom>
          <a:solidFill>
            <a:srgbClr val="0A0A0A"/>
          </a:solidFill>
          <a:ln/>
        </p:spPr>
      </p:sp>
      <p:sp>
        <p:nvSpPr>
          <p:cNvPr id="19" name="Text 17"/>
          <p:cNvSpPr/>
          <p:nvPr/>
        </p:nvSpPr>
        <p:spPr>
          <a:xfrm>
            <a:off x="594360" y="3794760"/>
            <a:ext cx="4389120" cy="201168"/>
          </a:xfrm>
          <a:prstGeom prst="rect">
            <a:avLst/>
          </a:prstGeom>
          <a:noFill/>
          <a:ln/>
        </p:spPr>
        <p:txBody>
          <a:bodyPr wrap="square" lIns="0" tIns="0" rIns="0" bIns="0" rtlCol="0" anchor="ctr"/>
          <a:lstStyle/>
          <a:p>
            <a:pPr indent="0" marL="0">
              <a:buNone/>
            </a:pPr>
            <a:r>
              <a:rPr lang="en-US" sz="1100" b="1" dirty="0">
                <a:solidFill>
                  <a:srgbClr val="0A0A0A"/>
                </a:solidFill>
                <a:latin typeface="Arial" pitchFamily="34" charset="0"/>
                <a:ea typeface="Arial" pitchFamily="34" charset="-122"/>
                <a:cs typeface="Arial" pitchFamily="34" charset="-120"/>
              </a:rPr>
              <a:t>Togo MENTD + World Bank IDA</a:t>
            </a:r>
            <a:endParaRPr lang="en-US" sz="1100" dirty="0"/>
          </a:p>
        </p:txBody>
      </p:sp>
      <p:sp>
        <p:nvSpPr>
          <p:cNvPr id="20" name="Text 18"/>
          <p:cNvSpPr/>
          <p:nvPr/>
        </p:nvSpPr>
        <p:spPr>
          <a:xfrm>
            <a:off x="594360" y="4005072"/>
            <a:ext cx="4389120" cy="219456"/>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Digital Togo 2025-2030 backed by the World Bank. Active mandate to build an innovation ecosystem and position Togo as a regional digital hub.</a:t>
            </a:r>
            <a:endParaRPr lang="en-US" sz="900" dirty="0"/>
          </a:p>
        </p:txBody>
      </p:sp>
      <p:sp>
        <p:nvSpPr>
          <p:cNvPr id="21" name="Shape 19"/>
          <p:cNvSpPr/>
          <p:nvPr/>
        </p:nvSpPr>
        <p:spPr>
          <a:xfrm>
            <a:off x="457200" y="4325112"/>
            <a:ext cx="4754880" cy="502920"/>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22" name="Shape 20"/>
          <p:cNvSpPr/>
          <p:nvPr/>
        </p:nvSpPr>
        <p:spPr>
          <a:xfrm>
            <a:off x="457200" y="4325112"/>
            <a:ext cx="45720" cy="502920"/>
          </a:xfrm>
          <a:prstGeom prst="rect">
            <a:avLst/>
          </a:prstGeom>
          <a:solidFill>
            <a:srgbClr val="0A0A0A"/>
          </a:solidFill>
          <a:ln/>
        </p:spPr>
      </p:sp>
      <p:sp>
        <p:nvSpPr>
          <p:cNvPr id="23" name="Text 21"/>
          <p:cNvSpPr/>
          <p:nvPr/>
        </p:nvSpPr>
        <p:spPr>
          <a:xfrm>
            <a:off x="594360" y="4361688"/>
            <a:ext cx="4389120" cy="201168"/>
          </a:xfrm>
          <a:prstGeom prst="rect">
            <a:avLst/>
          </a:prstGeom>
          <a:noFill/>
          <a:ln/>
        </p:spPr>
        <p:txBody>
          <a:bodyPr wrap="square" lIns="0" tIns="0" rIns="0" bIns="0" rtlCol="0" anchor="ctr"/>
          <a:lstStyle/>
          <a:p>
            <a:pPr indent="0" marL="0">
              <a:buNone/>
            </a:pPr>
            <a:r>
              <a:rPr lang="en-US" sz="1100" b="1" dirty="0">
                <a:solidFill>
                  <a:srgbClr val="0A0A0A"/>
                </a:solidFill>
                <a:latin typeface="Arial" pitchFamily="34" charset="0"/>
                <a:ea typeface="Arial" pitchFamily="34" charset="-122"/>
                <a:cs typeface="Arial" pitchFamily="34" charset="-120"/>
              </a:rPr>
              <a:t>Africa AI Fund ($60B)</a:t>
            </a:r>
            <a:endParaRPr lang="en-US" sz="1100" dirty="0"/>
          </a:p>
        </p:txBody>
      </p:sp>
      <p:sp>
        <p:nvSpPr>
          <p:cNvPr id="24" name="Text 22"/>
          <p:cNvSpPr/>
          <p:nvPr/>
        </p:nvSpPr>
        <p:spPr>
          <a:xfrm>
            <a:off x="594360" y="4572000"/>
            <a:ext cx="4389120" cy="219456"/>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Kigali 2025. Targets sovereign AI infrastructure, regional hubs, regulatory sandboxes, and African AI enterprise scaling.</a:t>
            </a:r>
            <a:endParaRPr lang="en-US" sz="900" dirty="0"/>
          </a:p>
        </p:txBody>
      </p:sp>
      <p:sp>
        <p:nvSpPr>
          <p:cNvPr id="25" name="Shape 23"/>
          <p:cNvSpPr/>
          <p:nvPr/>
        </p:nvSpPr>
        <p:spPr>
          <a:xfrm>
            <a:off x="5394960" y="1600200"/>
            <a:ext cx="3291840" cy="3291840"/>
          </a:xfrm>
          <a:prstGeom prst="rect">
            <a:avLst/>
          </a:prstGeom>
          <a:solidFill>
            <a:srgbClr val="0A0A0A"/>
          </a:solidFill>
          <a:ln/>
        </p:spPr>
      </p:sp>
      <p:sp>
        <p:nvSpPr>
          <p:cNvPr id="26" name="Text 24"/>
          <p:cNvSpPr/>
          <p:nvPr/>
        </p:nvSpPr>
        <p:spPr>
          <a:xfrm>
            <a:off x="5532120" y="1737360"/>
            <a:ext cx="3017520" cy="256032"/>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WHY KORA</a:t>
            </a:r>
            <a:endParaRPr lang="en-US" sz="900" dirty="0"/>
          </a:p>
        </p:txBody>
      </p:sp>
      <p:sp>
        <p:nvSpPr>
          <p:cNvPr id="27" name="Text 25"/>
          <p:cNvSpPr/>
          <p:nvPr/>
        </p:nvSpPr>
        <p:spPr>
          <a:xfrm>
            <a:off x="5532120" y="2057400"/>
            <a:ext cx="3017520" cy="2743200"/>
          </a:xfrm>
          <a:prstGeom prst="rect">
            <a:avLst/>
          </a:prstGeom>
          <a:noFill/>
          <a:ln/>
        </p:spPr>
        <p:txBody>
          <a:bodyPr wrap="square" lIns="0" tIns="0" rIns="0" bIns="0" rtlCol="0" anchor="ctr"/>
          <a:lstStyle/>
          <a:p>
            <a:pPr algn="l" indent="0" marL="0">
              <a:buNone/>
            </a:pPr>
            <a:r>
              <a:rPr lang="en-US" sz="1100" dirty="0">
                <a:solidFill>
                  <a:srgbClr val="ABABAB"/>
                </a:solidFill>
                <a:latin typeface="Arial" pitchFamily="34" charset="0"/>
                <a:ea typeface="Arial" pitchFamily="34" charset="-122"/>
                <a:cs typeface="Arial" pitchFamily="34" charset="-120"/>
              </a:rPr>
              <a:t>Every institution on the left has declared a version of what Kora Lab is building. None of them is a technical lab capable of executing it.</a:t>
            </a:r>
            <a:endParaRPr lang="en-US" sz="1100" dirty="0"/>
          </a:p>
          <a:p>
            <a:pPr algn="l" indent="0" marL="0">
              <a:buNone/>
            </a:pPr>
            <a:endParaRPr lang="en-US" sz="1100" dirty="0"/>
          </a:p>
          <a:p>
            <a:pPr algn="l" indent="0" marL="0">
              <a:buNone/>
            </a:pPr>
            <a:r>
              <a:rPr lang="en-US" sz="1100" dirty="0">
                <a:solidFill>
                  <a:srgbClr val="ABABAB"/>
                </a:solidFill>
                <a:latin typeface="Arial" pitchFamily="34" charset="0"/>
                <a:ea typeface="Arial" pitchFamily="34" charset="-122"/>
                <a:cs typeface="Arial" pitchFamily="34" charset="-120"/>
              </a:rPr>
              <a:t>Kora Lab fills that gap. We are not competing with these institutions. We are completing them.</a:t>
            </a:r>
            <a:endParaRPr lang="en-US" sz="1100" dirty="0"/>
          </a:p>
          <a:p>
            <a:pPr algn="l" indent="0" marL="0">
              <a:buNone/>
            </a:pPr>
            <a:endParaRPr lang="en-US" sz="1100" dirty="0"/>
          </a:p>
          <a:p>
            <a:pPr algn="l" indent="0" marL="0">
              <a:buNone/>
            </a:pPr>
            <a:r>
              <a:rPr lang="en-US" sz="1100" dirty="0">
                <a:solidFill>
                  <a:srgbClr val="ABABAB"/>
                </a:solidFill>
                <a:latin typeface="Arial" pitchFamily="34" charset="0"/>
                <a:ea typeface="Arial" pitchFamily="34" charset="-122"/>
                <a:cs typeface="Arial" pitchFamily="34" charset="-120"/>
              </a:rPr>
              <a:t>We speak to governments as the builder they have been waiting for. We speak to funders as the vehicle their mandates require. We speak to the continent as its AI lab.</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MARKET OPPORTUNITY</a:t>
            </a:r>
            <a:endParaRPr lang="en-US" sz="1100" dirty="0"/>
          </a:p>
        </p:txBody>
      </p:sp>
      <p:sp>
        <p:nvSpPr>
          <p:cNvPr id="3" name="Text 1"/>
          <p:cNvSpPr/>
          <p:nvPr/>
        </p:nvSpPr>
        <p:spPr>
          <a:xfrm>
            <a:off x="548640" y="68580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Numbers Make the Case</a:t>
            </a:r>
            <a:endParaRPr lang="en-US" sz="2800" dirty="0"/>
          </a:p>
        </p:txBody>
      </p:sp>
      <p:sp>
        <p:nvSpPr>
          <p:cNvPr id="4" name="Shape 2"/>
          <p:cNvSpPr/>
          <p:nvPr/>
        </p:nvSpPr>
        <p:spPr>
          <a:xfrm>
            <a:off x="457200" y="1600200"/>
            <a:ext cx="4069080" cy="1417320"/>
          </a:xfrm>
          <a:prstGeom prst="rect">
            <a:avLst/>
          </a:prstGeom>
          <a:solidFill>
            <a:srgbClr val="1A1A1A"/>
          </a:solidFill>
          <a:ln/>
          <a:effectLst>
            <a:outerShdw sx="100000" sy="100000" kx="0" ky="0" algn="bl" rotWithShape="0" blurRad="101600" dist="25400" dir="8100000">
              <a:srgbClr val="000000">
                <a:alpha val="18000"/>
              </a:srgbClr>
            </a:outerShdw>
          </a:effectLst>
        </p:spPr>
      </p:sp>
      <p:sp>
        <p:nvSpPr>
          <p:cNvPr id="5" name="Text 3"/>
          <p:cNvSpPr/>
          <p:nvPr/>
        </p:nvSpPr>
        <p:spPr>
          <a:xfrm>
            <a:off x="640080" y="1709928"/>
            <a:ext cx="3657600" cy="68580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1.5B</a:t>
            </a:r>
            <a:endParaRPr lang="en-US" sz="3800" dirty="0"/>
          </a:p>
        </p:txBody>
      </p:sp>
      <p:sp>
        <p:nvSpPr>
          <p:cNvPr id="6" name="Text 4"/>
          <p:cNvSpPr/>
          <p:nvPr/>
        </p:nvSpPr>
        <p:spPr>
          <a:xfrm>
            <a:off x="640080" y="2350008"/>
            <a:ext cx="3657600" cy="274320"/>
          </a:xfrm>
          <a:prstGeom prst="rect">
            <a:avLst/>
          </a:prstGeom>
          <a:noFill/>
          <a:ln/>
        </p:spPr>
        <p:txBody>
          <a:bodyPr wrap="square" lIns="0" tIns="0" rIns="0" bIns="0" rtlCol="0" anchor="ctr"/>
          <a:lstStyle/>
          <a:p>
            <a:pPr indent="0" marL="0">
              <a:buNone/>
            </a:pPr>
            <a:r>
              <a:rPr lang="en-US" sz="1200" b="1" dirty="0">
                <a:solidFill>
                  <a:srgbClr val="E8E8E8"/>
                </a:solidFill>
                <a:latin typeface="Arial" pitchFamily="34" charset="0"/>
                <a:ea typeface="Arial" pitchFamily="34" charset="-122"/>
                <a:cs typeface="Arial" pitchFamily="34" charset="-120"/>
              </a:rPr>
              <a:t>People in Africa</a:t>
            </a:r>
            <a:endParaRPr lang="en-US" sz="1200" dirty="0"/>
          </a:p>
        </p:txBody>
      </p:sp>
      <p:sp>
        <p:nvSpPr>
          <p:cNvPr id="7" name="Text 5"/>
          <p:cNvSpPr/>
          <p:nvPr/>
        </p:nvSpPr>
        <p:spPr>
          <a:xfrm>
            <a:off x="640080" y="2624328"/>
            <a:ext cx="3749040" cy="292608"/>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Fastest-growing internet user base on Earth</a:t>
            </a:r>
            <a:endParaRPr lang="en-US" sz="1000" dirty="0"/>
          </a:p>
        </p:txBody>
      </p:sp>
      <p:sp>
        <p:nvSpPr>
          <p:cNvPr id="8" name="Shape 6"/>
          <p:cNvSpPr/>
          <p:nvPr/>
        </p:nvSpPr>
        <p:spPr>
          <a:xfrm>
            <a:off x="4800600" y="1600200"/>
            <a:ext cx="4069080" cy="1417320"/>
          </a:xfrm>
          <a:prstGeom prst="rect">
            <a:avLst/>
          </a:prstGeom>
          <a:solidFill>
            <a:srgbClr val="1A1A1A"/>
          </a:solidFill>
          <a:ln/>
          <a:effectLst>
            <a:outerShdw sx="100000" sy="100000" kx="0" ky="0" algn="bl" rotWithShape="0" blurRad="101600" dist="25400" dir="8100000">
              <a:srgbClr val="000000">
                <a:alpha val="18000"/>
              </a:srgbClr>
            </a:outerShdw>
          </a:effectLst>
        </p:spPr>
      </p:sp>
      <p:sp>
        <p:nvSpPr>
          <p:cNvPr id="9" name="Text 7"/>
          <p:cNvSpPr/>
          <p:nvPr/>
        </p:nvSpPr>
        <p:spPr>
          <a:xfrm>
            <a:off x="4983480" y="1709928"/>
            <a:ext cx="3657600" cy="68580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$60B</a:t>
            </a:r>
            <a:endParaRPr lang="en-US" sz="3800" dirty="0"/>
          </a:p>
        </p:txBody>
      </p:sp>
      <p:sp>
        <p:nvSpPr>
          <p:cNvPr id="10" name="Text 8"/>
          <p:cNvSpPr/>
          <p:nvPr/>
        </p:nvSpPr>
        <p:spPr>
          <a:xfrm>
            <a:off x="4983480" y="2350008"/>
            <a:ext cx="3657600" cy="274320"/>
          </a:xfrm>
          <a:prstGeom prst="rect">
            <a:avLst/>
          </a:prstGeom>
          <a:noFill/>
          <a:ln/>
        </p:spPr>
        <p:txBody>
          <a:bodyPr wrap="square" lIns="0" tIns="0" rIns="0" bIns="0" rtlCol="0" anchor="ctr"/>
          <a:lstStyle/>
          <a:p>
            <a:pPr indent="0" marL="0">
              <a:buNone/>
            </a:pPr>
            <a:r>
              <a:rPr lang="en-US" sz="1200" b="1" dirty="0">
                <a:solidFill>
                  <a:srgbClr val="E8E8E8"/>
                </a:solidFill>
                <a:latin typeface="Arial" pitchFamily="34" charset="0"/>
                <a:ea typeface="Arial" pitchFamily="34" charset="-122"/>
                <a:cs typeface="Arial" pitchFamily="34" charset="-120"/>
              </a:rPr>
              <a:t>Africa AI Fund</a:t>
            </a:r>
            <a:endParaRPr lang="en-US" sz="1200" dirty="0"/>
          </a:p>
        </p:txBody>
      </p:sp>
      <p:sp>
        <p:nvSpPr>
          <p:cNvPr id="11" name="Text 9"/>
          <p:cNvSpPr/>
          <p:nvPr/>
        </p:nvSpPr>
        <p:spPr>
          <a:xfrm>
            <a:off x="4983480" y="2624328"/>
            <a:ext cx="3749040" cy="292608"/>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Pledged by 54 nations at Kigali 2025</a:t>
            </a:r>
            <a:endParaRPr lang="en-US" sz="1000" dirty="0"/>
          </a:p>
        </p:txBody>
      </p:sp>
      <p:sp>
        <p:nvSpPr>
          <p:cNvPr id="12" name="Shape 10"/>
          <p:cNvSpPr/>
          <p:nvPr/>
        </p:nvSpPr>
        <p:spPr>
          <a:xfrm>
            <a:off x="457200" y="3246120"/>
            <a:ext cx="4069080" cy="1417320"/>
          </a:xfrm>
          <a:prstGeom prst="rect">
            <a:avLst/>
          </a:prstGeom>
          <a:solidFill>
            <a:srgbClr val="1A1A1A"/>
          </a:solidFill>
          <a:ln/>
          <a:effectLst>
            <a:outerShdw sx="100000" sy="100000" kx="0" ky="0" algn="bl" rotWithShape="0" blurRad="101600" dist="25400" dir="8100000">
              <a:srgbClr val="000000">
                <a:alpha val="18000"/>
              </a:srgbClr>
            </a:outerShdw>
          </a:effectLst>
        </p:spPr>
      </p:sp>
      <p:sp>
        <p:nvSpPr>
          <p:cNvPr id="13" name="Text 11"/>
          <p:cNvSpPr/>
          <p:nvPr/>
        </p:nvSpPr>
        <p:spPr>
          <a:xfrm>
            <a:off x="640080" y="3355848"/>
            <a:ext cx="3657600" cy="68580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$10B</a:t>
            </a:r>
            <a:endParaRPr lang="en-US" sz="3800" dirty="0"/>
          </a:p>
        </p:txBody>
      </p:sp>
      <p:sp>
        <p:nvSpPr>
          <p:cNvPr id="14" name="Text 12"/>
          <p:cNvSpPr/>
          <p:nvPr/>
        </p:nvSpPr>
        <p:spPr>
          <a:xfrm>
            <a:off x="640080" y="3995928"/>
            <a:ext cx="3657600" cy="274320"/>
          </a:xfrm>
          <a:prstGeom prst="rect">
            <a:avLst/>
          </a:prstGeom>
          <a:noFill/>
          <a:ln/>
        </p:spPr>
        <p:txBody>
          <a:bodyPr wrap="square" lIns="0" tIns="0" rIns="0" bIns="0" rtlCol="0" anchor="ctr"/>
          <a:lstStyle/>
          <a:p>
            <a:pPr indent="0" marL="0">
              <a:buNone/>
            </a:pPr>
            <a:r>
              <a:rPr lang="en-US" sz="1200" b="1" dirty="0">
                <a:solidFill>
                  <a:srgbClr val="E8E8E8"/>
                </a:solidFill>
                <a:latin typeface="Arial" pitchFamily="34" charset="0"/>
                <a:ea typeface="Arial" pitchFamily="34" charset="-122"/>
                <a:cs typeface="Arial" pitchFamily="34" charset="-120"/>
              </a:rPr>
              <a:t>AfDB + UNDP Target</a:t>
            </a:r>
            <a:endParaRPr lang="en-US" sz="1200" dirty="0"/>
          </a:p>
        </p:txBody>
      </p:sp>
      <p:sp>
        <p:nvSpPr>
          <p:cNvPr id="15" name="Text 13"/>
          <p:cNvSpPr/>
          <p:nvPr/>
        </p:nvSpPr>
        <p:spPr>
          <a:xfrm>
            <a:off x="640080" y="4270248"/>
            <a:ext cx="3749040" cy="292608"/>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Mobilized for AI adoption by 2035</a:t>
            </a:r>
            <a:endParaRPr lang="en-US" sz="1000" dirty="0"/>
          </a:p>
        </p:txBody>
      </p:sp>
      <p:sp>
        <p:nvSpPr>
          <p:cNvPr id="16" name="Shape 14"/>
          <p:cNvSpPr/>
          <p:nvPr/>
        </p:nvSpPr>
        <p:spPr>
          <a:xfrm>
            <a:off x="4800600" y="3246120"/>
            <a:ext cx="4069080" cy="1417320"/>
          </a:xfrm>
          <a:prstGeom prst="rect">
            <a:avLst/>
          </a:prstGeom>
          <a:solidFill>
            <a:srgbClr val="1A1A1A"/>
          </a:solidFill>
          <a:ln/>
          <a:effectLst>
            <a:outerShdw sx="100000" sy="100000" kx="0" ky="0" algn="bl" rotWithShape="0" blurRad="101600" dist="25400" dir="8100000">
              <a:srgbClr val="000000">
                <a:alpha val="18000"/>
              </a:srgbClr>
            </a:outerShdw>
          </a:effectLst>
        </p:spPr>
      </p:sp>
      <p:sp>
        <p:nvSpPr>
          <p:cNvPr id="17" name="Text 15"/>
          <p:cNvSpPr/>
          <p:nvPr/>
        </p:nvSpPr>
        <p:spPr>
          <a:xfrm>
            <a:off x="4983480" y="3355848"/>
            <a:ext cx="3657600" cy="68580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4%</a:t>
            </a:r>
            <a:endParaRPr lang="en-US" sz="3800" dirty="0"/>
          </a:p>
        </p:txBody>
      </p:sp>
      <p:sp>
        <p:nvSpPr>
          <p:cNvPr id="18" name="Text 16"/>
          <p:cNvSpPr/>
          <p:nvPr/>
        </p:nvSpPr>
        <p:spPr>
          <a:xfrm>
            <a:off x="4983480" y="3995928"/>
            <a:ext cx="3657600" cy="274320"/>
          </a:xfrm>
          <a:prstGeom prst="rect">
            <a:avLst/>
          </a:prstGeom>
          <a:noFill/>
          <a:ln/>
        </p:spPr>
        <p:txBody>
          <a:bodyPr wrap="square" lIns="0" tIns="0" rIns="0" bIns="0" rtlCol="0" anchor="ctr"/>
          <a:lstStyle/>
          <a:p>
            <a:pPr indent="0" marL="0">
              <a:buNone/>
            </a:pPr>
            <a:r>
              <a:rPr lang="en-US" sz="1200" b="1" dirty="0">
                <a:solidFill>
                  <a:srgbClr val="E8E8E8"/>
                </a:solidFill>
                <a:latin typeface="Arial" pitchFamily="34" charset="0"/>
                <a:ea typeface="Arial" pitchFamily="34" charset="-122"/>
                <a:cs typeface="Arial" pitchFamily="34" charset="-120"/>
              </a:rPr>
              <a:t>Africa's AI Workforce</a:t>
            </a:r>
            <a:endParaRPr lang="en-US" sz="1200" dirty="0"/>
          </a:p>
        </p:txBody>
      </p:sp>
      <p:sp>
        <p:nvSpPr>
          <p:cNvPr id="19" name="Text 17"/>
          <p:cNvSpPr/>
          <p:nvPr/>
        </p:nvSpPr>
        <p:spPr>
          <a:xfrm>
            <a:off x="4983480" y="4270248"/>
            <a:ext cx="3749040" cy="292608"/>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Current share of global AI workforce. The gap is the opportunity.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8E8"/>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BUSINESS MODEL</a:t>
            </a:r>
            <a:endParaRPr lang="en-US" sz="1100" dirty="0"/>
          </a:p>
        </p:txBody>
      </p:sp>
      <p:sp>
        <p:nvSpPr>
          <p:cNvPr id="3" name="Text 1"/>
          <p:cNvSpPr/>
          <p:nvPr/>
        </p:nvSpPr>
        <p:spPr>
          <a:xfrm>
            <a:off x="548640" y="685800"/>
            <a:ext cx="8046720" cy="640080"/>
          </a:xfrm>
          <a:prstGeom prst="rect">
            <a:avLst/>
          </a:prstGeom>
          <a:noFill/>
          <a:ln/>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How Kora Lab Generates Revenue</a:t>
            </a:r>
            <a:endParaRPr lang="en-US" sz="2800" dirty="0"/>
          </a:p>
        </p:txBody>
      </p:sp>
      <p:sp>
        <p:nvSpPr>
          <p:cNvPr id="4" name="Shape 2"/>
          <p:cNvSpPr/>
          <p:nvPr/>
        </p:nvSpPr>
        <p:spPr>
          <a:xfrm>
            <a:off x="457200" y="1508760"/>
            <a:ext cx="8229600" cy="566928"/>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5" name="Shape 3"/>
          <p:cNvSpPr/>
          <p:nvPr/>
        </p:nvSpPr>
        <p:spPr>
          <a:xfrm>
            <a:off x="457200" y="1508760"/>
            <a:ext cx="54864" cy="566928"/>
          </a:xfrm>
          <a:prstGeom prst="rect">
            <a:avLst/>
          </a:prstGeom>
          <a:solidFill>
            <a:srgbClr val="0A0A0A"/>
          </a:solidFill>
          <a:ln/>
        </p:spPr>
      </p:sp>
      <p:sp>
        <p:nvSpPr>
          <p:cNvPr id="6" name="Text 4"/>
          <p:cNvSpPr/>
          <p:nvPr/>
        </p:nvSpPr>
        <p:spPr>
          <a:xfrm>
            <a:off x="594360" y="1600200"/>
            <a:ext cx="502920" cy="384048"/>
          </a:xfrm>
          <a:prstGeom prst="rect">
            <a:avLst/>
          </a:prstGeom>
          <a:noFill/>
          <a:ln/>
        </p:spPr>
        <p:txBody>
          <a:bodyPr wrap="square" lIns="0" tIns="0" rIns="0" bIns="0" rtlCol="0" anchor="ctr"/>
          <a:lstStyle/>
          <a:p>
            <a:pPr indent="0" marL="0">
              <a:buNone/>
            </a:pPr>
            <a:r>
              <a:rPr lang="en-US" sz="1300" b="1" dirty="0">
                <a:solidFill>
                  <a:srgbClr val="6B6B6B"/>
                </a:solidFill>
                <a:latin typeface="Arial Black" pitchFamily="34" charset="0"/>
                <a:ea typeface="Arial Black" pitchFamily="34" charset="-122"/>
                <a:cs typeface="Arial Black" pitchFamily="34" charset="-120"/>
              </a:rPr>
              <a:t>01</a:t>
            </a:r>
            <a:endParaRPr lang="en-US" sz="1300" dirty="0"/>
          </a:p>
        </p:txBody>
      </p:sp>
      <p:sp>
        <p:nvSpPr>
          <p:cNvPr id="7" name="Text 5"/>
          <p:cNvSpPr/>
          <p:nvPr/>
        </p:nvSpPr>
        <p:spPr>
          <a:xfrm>
            <a:off x="1188720" y="1563624"/>
            <a:ext cx="2651760" cy="256032"/>
          </a:xfrm>
          <a:prstGeom prst="rect">
            <a:avLst/>
          </a:prstGeom>
          <a:noFill/>
          <a:ln/>
        </p:spPr>
        <p:txBody>
          <a:bodyPr wrap="square" lIns="0" tIns="0" rIns="0" bIns="0" rtlCol="0" anchor="ctr"/>
          <a:lstStyle/>
          <a:p>
            <a:pPr indent="0" marL="0">
              <a:buNone/>
            </a:pPr>
            <a:r>
              <a:rPr lang="en-US" sz="1200" b="1" dirty="0">
                <a:solidFill>
                  <a:srgbClr val="0A0A0A"/>
                </a:solidFill>
                <a:latin typeface="Arial" pitchFamily="34" charset="0"/>
                <a:ea typeface="Arial" pitchFamily="34" charset="-122"/>
                <a:cs typeface="Arial" pitchFamily="34" charset="-120"/>
              </a:rPr>
              <a:t>AI Product Subscriptions</a:t>
            </a:r>
            <a:endParaRPr lang="en-US" sz="1200" dirty="0"/>
          </a:p>
        </p:txBody>
      </p:sp>
      <p:sp>
        <p:nvSpPr>
          <p:cNvPr id="8" name="Text 6"/>
          <p:cNvSpPr/>
          <p:nvPr/>
        </p:nvSpPr>
        <p:spPr>
          <a:xfrm>
            <a:off x="1188720" y="1810512"/>
            <a:ext cx="7315200" cy="219456"/>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SaaS and consumer plans for adapted AI tools, agents, and no-code interfaces. African-first pricing and UX.</a:t>
            </a:r>
            <a:endParaRPr lang="en-US" sz="1000" dirty="0"/>
          </a:p>
        </p:txBody>
      </p:sp>
      <p:sp>
        <p:nvSpPr>
          <p:cNvPr id="9" name="Shape 7"/>
          <p:cNvSpPr/>
          <p:nvPr/>
        </p:nvSpPr>
        <p:spPr>
          <a:xfrm>
            <a:off x="457200" y="2167128"/>
            <a:ext cx="8229600" cy="566928"/>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0" name="Shape 8"/>
          <p:cNvSpPr/>
          <p:nvPr/>
        </p:nvSpPr>
        <p:spPr>
          <a:xfrm>
            <a:off x="457200" y="2167128"/>
            <a:ext cx="54864" cy="566928"/>
          </a:xfrm>
          <a:prstGeom prst="rect">
            <a:avLst/>
          </a:prstGeom>
          <a:solidFill>
            <a:srgbClr val="0A0A0A"/>
          </a:solidFill>
          <a:ln/>
        </p:spPr>
      </p:sp>
      <p:sp>
        <p:nvSpPr>
          <p:cNvPr id="11" name="Text 9"/>
          <p:cNvSpPr/>
          <p:nvPr/>
        </p:nvSpPr>
        <p:spPr>
          <a:xfrm>
            <a:off x="594360" y="2258568"/>
            <a:ext cx="502920" cy="384048"/>
          </a:xfrm>
          <a:prstGeom prst="rect">
            <a:avLst/>
          </a:prstGeom>
          <a:noFill/>
          <a:ln/>
        </p:spPr>
        <p:txBody>
          <a:bodyPr wrap="square" lIns="0" tIns="0" rIns="0" bIns="0" rtlCol="0" anchor="ctr"/>
          <a:lstStyle/>
          <a:p>
            <a:pPr indent="0" marL="0">
              <a:buNone/>
            </a:pPr>
            <a:r>
              <a:rPr lang="en-US" sz="1300" b="1" dirty="0">
                <a:solidFill>
                  <a:srgbClr val="6B6B6B"/>
                </a:solidFill>
                <a:latin typeface="Arial Black" pitchFamily="34" charset="0"/>
                <a:ea typeface="Arial Black" pitchFamily="34" charset="-122"/>
                <a:cs typeface="Arial Black" pitchFamily="34" charset="-120"/>
              </a:rPr>
              <a:t>02</a:t>
            </a:r>
            <a:endParaRPr lang="en-US" sz="1300" dirty="0"/>
          </a:p>
        </p:txBody>
      </p:sp>
      <p:sp>
        <p:nvSpPr>
          <p:cNvPr id="12" name="Text 10"/>
          <p:cNvSpPr/>
          <p:nvPr/>
        </p:nvSpPr>
        <p:spPr>
          <a:xfrm>
            <a:off x="1188720" y="2221992"/>
            <a:ext cx="2651760" cy="256032"/>
          </a:xfrm>
          <a:prstGeom prst="rect">
            <a:avLst/>
          </a:prstGeom>
          <a:noFill/>
          <a:ln/>
        </p:spPr>
        <p:txBody>
          <a:bodyPr wrap="square" lIns="0" tIns="0" rIns="0" bIns="0" rtlCol="0" anchor="ctr"/>
          <a:lstStyle/>
          <a:p>
            <a:pPr indent="0" marL="0">
              <a:buNone/>
            </a:pPr>
            <a:r>
              <a:rPr lang="en-US" sz="1200" b="1" dirty="0">
                <a:solidFill>
                  <a:srgbClr val="0A0A0A"/>
                </a:solidFill>
                <a:latin typeface="Arial" pitchFamily="34" charset="0"/>
                <a:ea typeface="Arial" pitchFamily="34" charset="-122"/>
                <a:cs typeface="Arial" pitchFamily="34" charset="-120"/>
              </a:rPr>
              <a:t>API and Developer Access</a:t>
            </a:r>
            <a:endParaRPr lang="en-US" sz="1200" dirty="0"/>
          </a:p>
        </p:txBody>
      </p:sp>
      <p:sp>
        <p:nvSpPr>
          <p:cNvPr id="13" name="Text 11"/>
          <p:cNvSpPr/>
          <p:nvPr/>
        </p:nvSpPr>
        <p:spPr>
          <a:xfrm>
            <a:off x="1188720" y="2468880"/>
            <a:ext cx="7315200" cy="219456"/>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Access to Kora's adapted and sovereign models via API for developers, enterprises, and institutions.</a:t>
            </a:r>
            <a:endParaRPr lang="en-US" sz="1000" dirty="0"/>
          </a:p>
        </p:txBody>
      </p:sp>
      <p:sp>
        <p:nvSpPr>
          <p:cNvPr id="14" name="Shape 12"/>
          <p:cNvSpPr/>
          <p:nvPr/>
        </p:nvSpPr>
        <p:spPr>
          <a:xfrm>
            <a:off x="457200" y="2825496"/>
            <a:ext cx="8229600" cy="566928"/>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15" name="Shape 13"/>
          <p:cNvSpPr/>
          <p:nvPr/>
        </p:nvSpPr>
        <p:spPr>
          <a:xfrm>
            <a:off x="457200" y="2825496"/>
            <a:ext cx="54864" cy="566928"/>
          </a:xfrm>
          <a:prstGeom prst="rect">
            <a:avLst/>
          </a:prstGeom>
          <a:solidFill>
            <a:srgbClr val="0A0A0A"/>
          </a:solidFill>
          <a:ln/>
        </p:spPr>
      </p:sp>
      <p:sp>
        <p:nvSpPr>
          <p:cNvPr id="16" name="Text 14"/>
          <p:cNvSpPr/>
          <p:nvPr/>
        </p:nvSpPr>
        <p:spPr>
          <a:xfrm>
            <a:off x="594360" y="2916936"/>
            <a:ext cx="502920" cy="384048"/>
          </a:xfrm>
          <a:prstGeom prst="rect">
            <a:avLst/>
          </a:prstGeom>
          <a:noFill/>
          <a:ln/>
        </p:spPr>
        <p:txBody>
          <a:bodyPr wrap="square" lIns="0" tIns="0" rIns="0" bIns="0" rtlCol="0" anchor="ctr"/>
          <a:lstStyle/>
          <a:p>
            <a:pPr indent="0" marL="0">
              <a:buNone/>
            </a:pPr>
            <a:r>
              <a:rPr lang="en-US" sz="1300" b="1" dirty="0">
                <a:solidFill>
                  <a:srgbClr val="6B6B6B"/>
                </a:solidFill>
                <a:latin typeface="Arial Black" pitchFamily="34" charset="0"/>
                <a:ea typeface="Arial Black" pitchFamily="34" charset="-122"/>
                <a:cs typeface="Arial Black" pitchFamily="34" charset="-120"/>
              </a:rPr>
              <a:t>03</a:t>
            </a:r>
            <a:endParaRPr lang="en-US" sz="1300" dirty="0"/>
          </a:p>
        </p:txBody>
      </p:sp>
      <p:sp>
        <p:nvSpPr>
          <p:cNvPr id="17" name="Text 15"/>
          <p:cNvSpPr/>
          <p:nvPr/>
        </p:nvSpPr>
        <p:spPr>
          <a:xfrm>
            <a:off x="1188720" y="2880360"/>
            <a:ext cx="2651760" cy="256032"/>
          </a:xfrm>
          <a:prstGeom prst="rect">
            <a:avLst/>
          </a:prstGeom>
          <a:noFill/>
          <a:ln/>
        </p:spPr>
        <p:txBody>
          <a:bodyPr wrap="square" lIns="0" tIns="0" rIns="0" bIns="0" rtlCol="0" anchor="ctr"/>
          <a:lstStyle/>
          <a:p>
            <a:pPr indent="0" marL="0">
              <a:buNone/>
            </a:pPr>
            <a:r>
              <a:rPr lang="en-US" sz="1200" b="1" dirty="0">
                <a:solidFill>
                  <a:srgbClr val="0A0A0A"/>
                </a:solidFill>
                <a:latin typeface="Arial" pitchFamily="34" charset="0"/>
                <a:ea typeface="Arial" pitchFamily="34" charset="-122"/>
                <a:cs typeface="Arial" pitchFamily="34" charset="-120"/>
              </a:rPr>
              <a:t>Data Labeling and Job Creation</a:t>
            </a:r>
            <a:endParaRPr lang="en-US" sz="1200" dirty="0"/>
          </a:p>
        </p:txBody>
      </p:sp>
      <p:sp>
        <p:nvSpPr>
          <p:cNvPr id="18" name="Text 16"/>
          <p:cNvSpPr/>
          <p:nvPr/>
        </p:nvSpPr>
        <p:spPr>
          <a:xfrm>
            <a:off x="1188720" y="3127248"/>
            <a:ext cx="7315200" cy="219456"/>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Revenue-generating data pipelines that create jobs across Africa: annotators, translators, cultural validators.</a:t>
            </a:r>
            <a:endParaRPr lang="en-US" sz="1000" dirty="0"/>
          </a:p>
        </p:txBody>
      </p:sp>
      <p:sp>
        <p:nvSpPr>
          <p:cNvPr id="19" name="Shape 17"/>
          <p:cNvSpPr/>
          <p:nvPr/>
        </p:nvSpPr>
        <p:spPr>
          <a:xfrm>
            <a:off x="457200" y="3483864"/>
            <a:ext cx="8229600" cy="566928"/>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20" name="Shape 18"/>
          <p:cNvSpPr/>
          <p:nvPr/>
        </p:nvSpPr>
        <p:spPr>
          <a:xfrm>
            <a:off x="457200" y="3483864"/>
            <a:ext cx="54864" cy="566928"/>
          </a:xfrm>
          <a:prstGeom prst="rect">
            <a:avLst/>
          </a:prstGeom>
          <a:solidFill>
            <a:srgbClr val="0A0A0A"/>
          </a:solidFill>
          <a:ln/>
        </p:spPr>
      </p:sp>
      <p:sp>
        <p:nvSpPr>
          <p:cNvPr id="21" name="Text 19"/>
          <p:cNvSpPr/>
          <p:nvPr/>
        </p:nvSpPr>
        <p:spPr>
          <a:xfrm>
            <a:off x="594360" y="3575304"/>
            <a:ext cx="502920" cy="384048"/>
          </a:xfrm>
          <a:prstGeom prst="rect">
            <a:avLst/>
          </a:prstGeom>
          <a:noFill/>
          <a:ln/>
        </p:spPr>
        <p:txBody>
          <a:bodyPr wrap="square" lIns="0" tIns="0" rIns="0" bIns="0" rtlCol="0" anchor="ctr"/>
          <a:lstStyle/>
          <a:p>
            <a:pPr indent="0" marL="0">
              <a:buNone/>
            </a:pPr>
            <a:r>
              <a:rPr lang="en-US" sz="1300" b="1" dirty="0">
                <a:solidFill>
                  <a:srgbClr val="6B6B6B"/>
                </a:solidFill>
                <a:latin typeface="Arial Black" pitchFamily="34" charset="0"/>
                <a:ea typeface="Arial Black" pitchFamily="34" charset="-122"/>
                <a:cs typeface="Arial Black" pitchFamily="34" charset="-120"/>
              </a:rPr>
              <a:t>04</a:t>
            </a:r>
            <a:endParaRPr lang="en-US" sz="1300" dirty="0"/>
          </a:p>
        </p:txBody>
      </p:sp>
      <p:sp>
        <p:nvSpPr>
          <p:cNvPr id="22" name="Text 20"/>
          <p:cNvSpPr/>
          <p:nvPr/>
        </p:nvSpPr>
        <p:spPr>
          <a:xfrm>
            <a:off x="1188720" y="3538728"/>
            <a:ext cx="2651760" cy="256032"/>
          </a:xfrm>
          <a:prstGeom prst="rect">
            <a:avLst/>
          </a:prstGeom>
          <a:noFill/>
          <a:ln/>
        </p:spPr>
        <p:txBody>
          <a:bodyPr wrap="square" lIns="0" tIns="0" rIns="0" bIns="0" rtlCol="0" anchor="ctr"/>
          <a:lstStyle/>
          <a:p>
            <a:pPr indent="0" marL="0">
              <a:buNone/>
            </a:pPr>
            <a:r>
              <a:rPr lang="en-US" sz="1200" b="1" dirty="0">
                <a:solidFill>
                  <a:srgbClr val="0A0A0A"/>
                </a:solidFill>
                <a:latin typeface="Arial" pitchFamily="34" charset="0"/>
                <a:ea typeface="Arial" pitchFamily="34" charset="-122"/>
                <a:cs typeface="Arial" pitchFamily="34" charset="-120"/>
              </a:rPr>
              <a:t>Government and Institutional Contracts</a:t>
            </a:r>
            <a:endParaRPr lang="en-US" sz="1200" dirty="0"/>
          </a:p>
        </p:txBody>
      </p:sp>
      <p:sp>
        <p:nvSpPr>
          <p:cNvPr id="23" name="Text 21"/>
          <p:cNvSpPr/>
          <p:nvPr/>
        </p:nvSpPr>
        <p:spPr>
          <a:xfrm>
            <a:off x="1188720" y="3785616"/>
            <a:ext cx="7315200" cy="219456"/>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Public sector AI execution aligned with national digital strategies. Direct execution arm for AU, AfDB, and MENTD mandates.</a:t>
            </a:r>
            <a:endParaRPr lang="en-US" sz="1000" dirty="0"/>
          </a:p>
        </p:txBody>
      </p:sp>
      <p:sp>
        <p:nvSpPr>
          <p:cNvPr id="24" name="Shape 22"/>
          <p:cNvSpPr/>
          <p:nvPr/>
        </p:nvSpPr>
        <p:spPr>
          <a:xfrm>
            <a:off x="457200" y="4142232"/>
            <a:ext cx="8229600" cy="566928"/>
          </a:xfrm>
          <a:prstGeom prst="rect">
            <a:avLst/>
          </a:prstGeom>
          <a:solidFill>
            <a:srgbClr val="FFFFFF"/>
          </a:solidFill>
          <a:ln/>
          <a:effectLst>
            <a:outerShdw sx="100000" sy="100000" kx="0" ky="0" algn="bl" rotWithShape="0" blurRad="101600" dist="25400" dir="8100000">
              <a:srgbClr val="000000">
                <a:alpha val="18000"/>
              </a:srgbClr>
            </a:outerShdw>
          </a:effectLst>
        </p:spPr>
      </p:sp>
      <p:sp>
        <p:nvSpPr>
          <p:cNvPr id="25" name="Shape 23"/>
          <p:cNvSpPr/>
          <p:nvPr/>
        </p:nvSpPr>
        <p:spPr>
          <a:xfrm>
            <a:off x="457200" y="4142232"/>
            <a:ext cx="54864" cy="566928"/>
          </a:xfrm>
          <a:prstGeom prst="rect">
            <a:avLst/>
          </a:prstGeom>
          <a:solidFill>
            <a:srgbClr val="0A0A0A"/>
          </a:solidFill>
          <a:ln/>
        </p:spPr>
      </p:sp>
      <p:sp>
        <p:nvSpPr>
          <p:cNvPr id="26" name="Text 24"/>
          <p:cNvSpPr/>
          <p:nvPr/>
        </p:nvSpPr>
        <p:spPr>
          <a:xfrm>
            <a:off x="594360" y="4233672"/>
            <a:ext cx="502920" cy="384048"/>
          </a:xfrm>
          <a:prstGeom prst="rect">
            <a:avLst/>
          </a:prstGeom>
          <a:noFill/>
          <a:ln/>
        </p:spPr>
        <p:txBody>
          <a:bodyPr wrap="square" lIns="0" tIns="0" rIns="0" bIns="0" rtlCol="0" anchor="ctr"/>
          <a:lstStyle/>
          <a:p>
            <a:pPr indent="0" marL="0">
              <a:buNone/>
            </a:pPr>
            <a:r>
              <a:rPr lang="en-US" sz="1300" b="1" dirty="0">
                <a:solidFill>
                  <a:srgbClr val="6B6B6B"/>
                </a:solidFill>
                <a:latin typeface="Arial Black" pitchFamily="34" charset="0"/>
                <a:ea typeface="Arial Black" pitchFamily="34" charset="-122"/>
                <a:cs typeface="Arial Black" pitchFamily="34" charset="-120"/>
              </a:rPr>
              <a:t>05</a:t>
            </a:r>
            <a:endParaRPr lang="en-US" sz="1300" dirty="0"/>
          </a:p>
        </p:txBody>
      </p:sp>
      <p:sp>
        <p:nvSpPr>
          <p:cNvPr id="27" name="Text 25"/>
          <p:cNvSpPr/>
          <p:nvPr/>
        </p:nvSpPr>
        <p:spPr>
          <a:xfrm>
            <a:off x="1188720" y="4197096"/>
            <a:ext cx="2651760" cy="256032"/>
          </a:xfrm>
          <a:prstGeom prst="rect">
            <a:avLst/>
          </a:prstGeom>
          <a:noFill/>
          <a:ln/>
        </p:spPr>
        <p:txBody>
          <a:bodyPr wrap="square" lIns="0" tIns="0" rIns="0" bIns="0" rtlCol="0" anchor="ctr"/>
          <a:lstStyle/>
          <a:p>
            <a:pPr indent="0" marL="0">
              <a:buNone/>
            </a:pPr>
            <a:r>
              <a:rPr lang="en-US" sz="1200" b="1" dirty="0">
                <a:solidFill>
                  <a:srgbClr val="0A0A0A"/>
                </a:solidFill>
                <a:latin typeface="Arial" pitchFamily="34" charset="0"/>
                <a:ea typeface="Arial" pitchFamily="34" charset="-122"/>
                <a:cs typeface="Arial" pitchFamily="34" charset="-120"/>
              </a:rPr>
              <a:t>Research Grants and Non-Dilutive Funding</a:t>
            </a:r>
            <a:endParaRPr lang="en-US" sz="1200" dirty="0"/>
          </a:p>
        </p:txBody>
      </p:sp>
      <p:sp>
        <p:nvSpPr>
          <p:cNvPr id="28" name="Text 26"/>
          <p:cNvSpPr/>
          <p:nvPr/>
        </p:nvSpPr>
        <p:spPr>
          <a:xfrm>
            <a:off x="1188720" y="4443984"/>
            <a:ext cx="7315200" cy="219456"/>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AfDB, AI 10B Initiative, Science for Africa, IDRC, Gates Foundation, Google, and Meta aligned with our mission.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8E8"/>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THE FOUNDER</a:t>
            </a:r>
            <a:endParaRPr lang="en-US" sz="1100" dirty="0"/>
          </a:p>
        </p:txBody>
      </p:sp>
      <p:sp>
        <p:nvSpPr>
          <p:cNvPr id="3" name="Text 1"/>
          <p:cNvSpPr/>
          <p:nvPr/>
        </p:nvSpPr>
        <p:spPr>
          <a:xfrm>
            <a:off x="548640" y="685800"/>
            <a:ext cx="7772400" cy="868680"/>
          </a:xfrm>
          <a:prstGeom prst="rect">
            <a:avLst/>
          </a:prstGeom>
          <a:noFill/>
          <a:ln/>
        </p:spPr>
        <p:txBody>
          <a:bodyPr wrap="square" lIns="0" tIns="0" rIns="0" bIns="0" rtlCol="0" anchor="ctr"/>
          <a:lstStyle/>
          <a:p>
            <a:pPr indent="0" marL="0">
              <a:buNone/>
            </a:pPr>
            <a:r>
              <a:rPr lang="en-US" sz="4400" b="1" dirty="0">
                <a:solidFill>
                  <a:srgbClr val="0A0A0A"/>
                </a:solidFill>
                <a:latin typeface="Arial Black" pitchFamily="34" charset="0"/>
                <a:ea typeface="Arial Black" pitchFamily="34" charset="-122"/>
                <a:cs typeface="Arial Black" pitchFamily="34" charset="-120"/>
              </a:rPr>
              <a:t>Kheir Lissi</a:t>
            </a:r>
            <a:endParaRPr lang="en-US" sz="4400" dirty="0"/>
          </a:p>
        </p:txBody>
      </p:sp>
      <p:sp>
        <p:nvSpPr>
          <p:cNvPr id="4" name="Text 2"/>
          <p:cNvSpPr/>
          <p:nvPr/>
        </p:nvSpPr>
        <p:spPr>
          <a:xfrm>
            <a:off x="548640" y="1508760"/>
            <a:ext cx="5486400" cy="320040"/>
          </a:xfrm>
          <a:prstGeom prst="rect">
            <a:avLst/>
          </a:prstGeom>
          <a:noFill/>
          <a:ln/>
        </p:spPr>
        <p:txBody>
          <a:bodyPr wrap="square" lIns="0" tIns="0" rIns="0" bIns="0" rtlCol="0" anchor="ctr"/>
          <a:lstStyle/>
          <a:p>
            <a:pPr indent="0" marL="0">
              <a:buNone/>
            </a:pPr>
            <a:r>
              <a:rPr lang="en-US" sz="1300" i="1" dirty="0">
                <a:solidFill>
                  <a:srgbClr val="6B6B6B"/>
                </a:solidFill>
                <a:latin typeface="Arial" pitchFamily="34" charset="0"/>
                <a:ea typeface="Arial" pitchFamily="34" charset="-122"/>
                <a:cs typeface="Arial" pitchFamily="34" charset="-120"/>
              </a:rPr>
              <a:t>Founder, Kora Lab  /  Lome, Togo</a:t>
            </a:r>
            <a:endParaRPr lang="en-US" sz="1300" dirty="0"/>
          </a:p>
        </p:txBody>
      </p:sp>
      <p:sp>
        <p:nvSpPr>
          <p:cNvPr id="5" name="Shape 3"/>
          <p:cNvSpPr/>
          <p:nvPr/>
        </p:nvSpPr>
        <p:spPr>
          <a:xfrm>
            <a:off x="548640" y="1920240"/>
            <a:ext cx="914400" cy="36576"/>
          </a:xfrm>
          <a:prstGeom prst="rect">
            <a:avLst/>
          </a:prstGeom>
          <a:solidFill>
            <a:srgbClr val="0A0A0A"/>
          </a:solidFill>
          <a:ln/>
        </p:spPr>
      </p:sp>
      <p:sp>
        <p:nvSpPr>
          <p:cNvPr id="6" name="Text 4"/>
          <p:cNvSpPr/>
          <p:nvPr/>
        </p:nvSpPr>
        <p:spPr>
          <a:xfrm>
            <a:off x="548640" y="2057400"/>
            <a:ext cx="8046720" cy="59436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I studied computer science with a specialization in AI and big data in college before making a deliberate decision to leave mid third year. The pace of academic training was incompatible with the speed at which the world was moving, and with the urgency of what I am building.</a:t>
            </a:r>
            <a:endParaRPr lang="en-US" sz="1200" dirty="0"/>
          </a:p>
        </p:txBody>
      </p:sp>
      <p:sp>
        <p:nvSpPr>
          <p:cNvPr id="7" name="Text 5"/>
          <p:cNvSpPr/>
          <p:nvPr/>
        </p:nvSpPr>
        <p:spPr>
          <a:xfrm>
            <a:off x="548640" y="2715768"/>
            <a:ext cx="8046720" cy="59436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I identified early that Africa's greatest risk in the AI era is not a lack of talent, but a lack of infrastructure, ownership, and narrative. I chose to build that infrastructure rather than wait for it. I self-teach continuously through open resources and apply that knowledge directly to product and research work.</a:t>
            </a:r>
            <a:endParaRPr lang="en-US" sz="1200" dirty="0"/>
          </a:p>
        </p:txBody>
      </p:sp>
      <p:sp>
        <p:nvSpPr>
          <p:cNvPr id="8" name="Text 6"/>
          <p:cNvSpPr/>
          <p:nvPr/>
        </p:nvSpPr>
        <p:spPr>
          <a:xfrm>
            <a:off x="548640" y="3374136"/>
            <a:ext cx="8046720" cy="59436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I also founded edenvallie.com, an incubator designed for ADHD and neurodivergent founders who have the vision but need the right ecosystem to execute. Two ventures. One conviction: the people most capable of building the future are the least served by systems that claim to support builders.</a:t>
            </a:r>
            <a:endParaRPr lang="en-US" sz="1200" dirty="0"/>
          </a:p>
        </p:txBody>
      </p:sp>
      <p:sp>
        <p:nvSpPr>
          <p:cNvPr id="9" name="Text 7"/>
          <p:cNvSpPr/>
          <p:nvPr/>
        </p:nvSpPr>
        <p:spPr>
          <a:xfrm>
            <a:off x="548640" y="4032504"/>
            <a:ext cx="8046720" cy="594360"/>
          </a:xfrm>
          <a:prstGeom prst="rect">
            <a:avLst/>
          </a:prstGeom>
          <a:noFill/>
          <a:ln/>
        </p:spPr>
        <p:txBody>
          <a:bodyPr wrap="square" lIns="0" tIns="0" rIns="0" bIns="0" rtlCol="0" anchor="ctr"/>
          <a:lstStyle/>
          <a:p>
            <a:pPr algn="l" indent="0" marL="0">
              <a:buNone/>
            </a:pPr>
            <a:r>
              <a:rPr lang="en-US" sz="1200" dirty="0">
                <a:solidFill>
                  <a:srgbClr val="3A3A3A"/>
                </a:solidFill>
                <a:latin typeface="Arial" pitchFamily="34" charset="0"/>
                <a:ea typeface="Arial" pitchFamily="34" charset="-122"/>
                <a:cs typeface="Arial" pitchFamily="34" charset="-120"/>
              </a:rPr>
              <a:t>I am not waiting for permission to build Africa's AI lab. I am building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046720" cy="411480"/>
          </a:xfrm>
          <a:prstGeom prst="rect">
            <a:avLst/>
          </a:prstGeom>
          <a:noFill/>
          <a:ln/>
        </p:spPr>
        <p:txBody>
          <a:bodyPr wrap="square" lIns="0" tIns="0" rIns="0" bIns="0" rtlCol="0" anchor="ctr"/>
          <a:lstStyle/>
          <a:p>
            <a:pPr indent="0" marL="0">
              <a:buNone/>
            </a:pPr>
            <a:r>
              <a:rPr lang="en-US" sz="1100" b="1" spc="300" kern="0" dirty="0">
                <a:solidFill>
                  <a:srgbClr val="6B6B6B"/>
                </a:solidFill>
                <a:latin typeface="Arial" pitchFamily="34" charset="0"/>
                <a:ea typeface="Arial" pitchFamily="34" charset="-122"/>
                <a:cs typeface="Arial" pitchFamily="34" charset="-120"/>
              </a:rPr>
              <a:t>THE ASK</a:t>
            </a:r>
            <a:endParaRPr lang="en-US" sz="1100" dirty="0"/>
          </a:p>
        </p:txBody>
      </p:sp>
      <p:sp>
        <p:nvSpPr>
          <p:cNvPr id="3" name="Text 1"/>
          <p:cNvSpPr/>
          <p:nvPr/>
        </p:nvSpPr>
        <p:spPr>
          <a:xfrm>
            <a:off x="548640" y="68580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What Kora Lab Needs to Move</a:t>
            </a:r>
            <a:endParaRPr lang="en-US" sz="2800" dirty="0"/>
          </a:p>
        </p:txBody>
      </p:sp>
      <p:sp>
        <p:nvSpPr>
          <p:cNvPr id="4" name="Shape 2"/>
          <p:cNvSpPr/>
          <p:nvPr/>
        </p:nvSpPr>
        <p:spPr>
          <a:xfrm>
            <a:off x="457200" y="1508760"/>
            <a:ext cx="8229600" cy="566928"/>
          </a:xfrm>
          <a:prstGeom prst="rect">
            <a:avLst/>
          </a:prstGeom>
          <a:solidFill>
            <a:srgbClr val="1A1A1A"/>
          </a:solidFill>
          <a:ln/>
        </p:spPr>
      </p:sp>
      <p:sp>
        <p:nvSpPr>
          <p:cNvPr id="5" name="Text 3"/>
          <p:cNvSpPr/>
          <p:nvPr/>
        </p:nvSpPr>
        <p:spPr>
          <a:xfrm>
            <a:off x="640080" y="1563624"/>
            <a:ext cx="2377440" cy="237744"/>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COMPUTE ACCESS</a:t>
            </a:r>
            <a:endParaRPr lang="en-US" sz="900" dirty="0"/>
          </a:p>
        </p:txBody>
      </p:sp>
      <p:sp>
        <p:nvSpPr>
          <p:cNvPr id="6" name="Text 4"/>
          <p:cNvSpPr/>
          <p:nvPr/>
        </p:nvSpPr>
        <p:spPr>
          <a:xfrm>
            <a:off x="640080" y="1783080"/>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$25K to $100K in cloud and API credits</a:t>
            </a:r>
            <a:endParaRPr lang="en-US" sz="1200" dirty="0"/>
          </a:p>
        </p:txBody>
      </p:sp>
      <p:sp>
        <p:nvSpPr>
          <p:cNvPr id="7" name="Shape 5"/>
          <p:cNvSpPr/>
          <p:nvPr/>
        </p:nvSpPr>
        <p:spPr>
          <a:xfrm>
            <a:off x="3657600" y="1600200"/>
            <a:ext cx="27432" cy="384048"/>
          </a:xfrm>
          <a:prstGeom prst="rect">
            <a:avLst/>
          </a:prstGeom>
          <a:solidFill>
            <a:srgbClr val="3A3A3A"/>
          </a:solidFill>
          <a:ln/>
        </p:spPr>
      </p:sp>
      <p:sp>
        <p:nvSpPr>
          <p:cNvPr id="8" name="Text 6"/>
          <p:cNvSpPr/>
          <p:nvPr/>
        </p:nvSpPr>
        <p:spPr>
          <a:xfrm>
            <a:off x="3840480" y="1655064"/>
            <a:ext cx="4663440" cy="329184"/>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To build, prototype, and run first AI products across Anthropic, GCP, AWS, and Azure.</a:t>
            </a:r>
            <a:endParaRPr lang="en-US" sz="1100" dirty="0"/>
          </a:p>
        </p:txBody>
      </p:sp>
      <p:sp>
        <p:nvSpPr>
          <p:cNvPr id="9" name="Shape 7"/>
          <p:cNvSpPr/>
          <p:nvPr/>
        </p:nvSpPr>
        <p:spPr>
          <a:xfrm>
            <a:off x="457200" y="2167128"/>
            <a:ext cx="8229600" cy="566928"/>
          </a:xfrm>
          <a:prstGeom prst="rect">
            <a:avLst/>
          </a:prstGeom>
          <a:solidFill>
            <a:srgbClr val="1A1A1A"/>
          </a:solidFill>
          <a:ln/>
        </p:spPr>
      </p:sp>
      <p:sp>
        <p:nvSpPr>
          <p:cNvPr id="10" name="Text 8"/>
          <p:cNvSpPr/>
          <p:nvPr/>
        </p:nvSpPr>
        <p:spPr>
          <a:xfrm>
            <a:off x="640080" y="2221992"/>
            <a:ext cx="2377440" cy="237744"/>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OPERATIONAL FUNDING</a:t>
            </a:r>
            <a:endParaRPr lang="en-US" sz="900" dirty="0"/>
          </a:p>
        </p:txBody>
      </p:sp>
      <p:sp>
        <p:nvSpPr>
          <p:cNvPr id="11" name="Text 9"/>
          <p:cNvSpPr/>
          <p:nvPr/>
        </p:nvSpPr>
        <p:spPr>
          <a:xfrm>
            <a:off x="640080" y="2441448"/>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$50K to $150K seed capital</a:t>
            </a:r>
            <a:endParaRPr lang="en-US" sz="1200" dirty="0"/>
          </a:p>
        </p:txBody>
      </p:sp>
      <p:sp>
        <p:nvSpPr>
          <p:cNvPr id="12" name="Shape 10"/>
          <p:cNvSpPr/>
          <p:nvPr/>
        </p:nvSpPr>
        <p:spPr>
          <a:xfrm>
            <a:off x="3657600" y="2258568"/>
            <a:ext cx="27432" cy="384048"/>
          </a:xfrm>
          <a:prstGeom prst="rect">
            <a:avLst/>
          </a:prstGeom>
          <a:solidFill>
            <a:srgbClr val="3A3A3A"/>
          </a:solidFill>
          <a:ln/>
        </p:spPr>
      </p:sp>
      <p:sp>
        <p:nvSpPr>
          <p:cNvPr id="13" name="Text 11"/>
          <p:cNvSpPr/>
          <p:nvPr/>
        </p:nvSpPr>
        <p:spPr>
          <a:xfrm>
            <a:off x="3840480" y="2313432"/>
            <a:ext cx="4663440" cy="329184"/>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Salaries for 2 to 3 first hires in data and engineering, infrastructure, and legal setup.</a:t>
            </a:r>
            <a:endParaRPr lang="en-US" sz="1100" dirty="0"/>
          </a:p>
        </p:txBody>
      </p:sp>
      <p:sp>
        <p:nvSpPr>
          <p:cNvPr id="14" name="Shape 12"/>
          <p:cNvSpPr/>
          <p:nvPr/>
        </p:nvSpPr>
        <p:spPr>
          <a:xfrm>
            <a:off x="457200" y="2825496"/>
            <a:ext cx="8229600" cy="566928"/>
          </a:xfrm>
          <a:prstGeom prst="rect">
            <a:avLst/>
          </a:prstGeom>
          <a:solidFill>
            <a:srgbClr val="1A1A1A"/>
          </a:solidFill>
          <a:ln/>
        </p:spPr>
      </p:sp>
      <p:sp>
        <p:nvSpPr>
          <p:cNvPr id="15" name="Text 13"/>
          <p:cNvSpPr/>
          <p:nvPr/>
        </p:nvSpPr>
        <p:spPr>
          <a:xfrm>
            <a:off x="640080" y="2880360"/>
            <a:ext cx="2377440" cy="237744"/>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ACCELERATOR ADMISSION</a:t>
            </a:r>
            <a:endParaRPr lang="en-US" sz="900" dirty="0"/>
          </a:p>
        </p:txBody>
      </p:sp>
      <p:sp>
        <p:nvSpPr>
          <p:cNvPr id="16" name="Text 14"/>
          <p:cNvSpPr/>
          <p:nvPr/>
        </p:nvSpPr>
        <p:spPr>
          <a:xfrm>
            <a:off x="640080" y="3099816"/>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Google for Startups, YC, MEST, Antler</a:t>
            </a:r>
            <a:endParaRPr lang="en-US" sz="1200" dirty="0"/>
          </a:p>
        </p:txBody>
      </p:sp>
      <p:sp>
        <p:nvSpPr>
          <p:cNvPr id="17" name="Shape 15"/>
          <p:cNvSpPr/>
          <p:nvPr/>
        </p:nvSpPr>
        <p:spPr>
          <a:xfrm>
            <a:off x="3657600" y="2916936"/>
            <a:ext cx="27432" cy="384048"/>
          </a:xfrm>
          <a:prstGeom prst="rect">
            <a:avLst/>
          </a:prstGeom>
          <a:solidFill>
            <a:srgbClr val="3A3A3A"/>
          </a:solidFill>
          <a:ln/>
        </p:spPr>
      </p:sp>
      <p:sp>
        <p:nvSpPr>
          <p:cNvPr id="18" name="Text 16"/>
          <p:cNvSpPr/>
          <p:nvPr/>
        </p:nvSpPr>
        <p:spPr>
          <a:xfrm>
            <a:off x="3840480" y="2971800"/>
            <a:ext cx="4663440" cy="329184"/>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Network, mentorship, legitimacy, and access to an investor pipeline.</a:t>
            </a:r>
            <a:endParaRPr lang="en-US" sz="1100" dirty="0"/>
          </a:p>
        </p:txBody>
      </p:sp>
      <p:sp>
        <p:nvSpPr>
          <p:cNvPr id="19" name="Shape 17"/>
          <p:cNvSpPr/>
          <p:nvPr/>
        </p:nvSpPr>
        <p:spPr>
          <a:xfrm>
            <a:off x="457200" y="3483864"/>
            <a:ext cx="8229600" cy="566928"/>
          </a:xfrm>
          <a:prstGeom prst="rect">
            <a:avLst/>
          </a:prstGeom>
          <a:solidFill>
            <a:srgbClr val="1A1A1A"/>
          </a:solidFill>
          <a:ln/>
        </p:spPr>
      </p:sp>
      <p:sp>
        <p:nvSpPr>
          <p:cNvPr id="20" name="Text 18"/>
          <p:cNvSpPr/>
          <p:nvPr/>
        </p:nvSpPr>
        <p:spPr>
          <a:xfrm>
            <a:off x="640080" y="3538728"/>
            <a:ext cx="2377440" cy="237744"/>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GOVERNMENT PARTNERSHIP</a:t>
            </a:r>
            <a:endParaRPr lang="en-US" sz="900" dirty="0"/>
          </a:p>
        </p:txBody>
      </p:sp>
      <p:sp>
        <p:nvSpPr>
          <p:cNvPr id="21" name="Text 19"/>
          <p:cNvSpPr/>
          <p:nvPr/>
        </p:nvSpPr>
        <p:spPr>
          <a:xfrm>
            <a:off x="640080" y="3758184"/>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MENTD Togo, Smart Africa, AfDB, AU Commission</a:t>
            </a:r>
            <a:endParaRPr lang="en-US" sz="1200" dirty="0"/>
          </a:p>
        </p:txBody>
      </p:sp>
      <p:sp>
        <p:nvSpPr>
          <p:cNvPr id="22" name="Shape 20"/>
          <p:cNvSpPr/>
          <p:nvPr/>
        </p:nvSpPr>
        <p:spPr>
          <a:xfrm>
            <a:off x="3657600" y="3575304"/>
            <a:ext cx="27432" cy="384048"/>
          </a:xfrm>
          <a:prstGeom prst="rect">
            <a:avLst/>
          </a:prstGeom>
          <a:solidFill>
            <a:srgbClr val="3A3A3A"/>
          </a:solidFill>
          <a:ln/>
        </p:spPr>
      </p:sp>
      <p:sp>
        <p:nvSpPr>
          <p:cNvPr id="23" name="Text 21"/>
          <p:cNvSpPr/>
          <p:nvPr/>
        </p:nvSpPr>
        <p:spPr>
          <a:xfrm>
            <a:off x="3840480" y="3630168"/>
            <a:ext cx="4663440" cy="329184"/>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Positioning Kora Lab as the technical execution partner for continental AI mandates.</a:t>
            </a:r>
            <a:endParaRPr lang="en-US" sz="1100" dirty="0"/>
          </a:p>
        </p:txBody>
      </p:sp>
      <p:sp>
        <p:nvSpPr>
          <p:cNvPr id="24" name="Shape 22"/>
          <p:cNvSpPr/>
          <p:nvPr/>
        </p:nvSpPr>
        <p:spPr>
          <a:xfrm>
            <a:off x="457200" y="4142232"/>
            <a:ext cx="8229600" cy="566928"/>
          </a:xfrm>
          <a:prstGeom prst="rect">
            <a:avLst/>
          </a:prstGeom>
          <a:solidFill>
            <a:srgbClr val="1A1A1A"/>
          </a:solidFill>
          <a:ln/>
        </p:spPr>
      </p:sp>
      <p:sp>
        <p:nvSpPr>
          <p:cNvPr id="25" name="Text 23"/>
          <p:cNvSpPr/>
          <p:nvPr/>
        </p:nvSpPr>
        <p:spPr>
          <a:xfrm>
            <a:off x="640080" y="4197096"/>
            <a:ext cx="2377440" cy="237744"/>
          </a:xfrm>
          <a:prstGeom prst="rect">
            <a:avLst/>
          </a:prstGeom>
          <a:noFill/>
          <a:ln/>
        </p:spPr>
        <p:txBody>
          <a:bodyPr wrap="square" lIns="0" tIns="0" rIns="0" bIns="0" rtlCol="0" anchor="ctr"/>
          <a:lstStyle/>
          <a:p>
            <a:pPr indent="0" marL="0">
              <a:buNone/>
            </a:pPr>
            <a:r>
              <a:rPr lang="en-US" sz="900" b="1" spc="200" kern="0" dirty="0">
                <a:solidFill>
                  <a:srgbClr val="6B6B6B"/>
                </a:solidFill>
                <a:latin typeface="Arial" pitchFamily="34" charset="0"/>
                <a:ea typeface="Arial" pitchFamily="34" charset="-122"/>
                <a:cs typeface="Arial" pitchFamily="34" charset="-120"/>
              </a:rPr>
              <a:t>TECHNICAL CO-BUILDERS</a:t>
            </a:r>
            <a:endParaRPr lang="en-US" sz="900" dirty="0"/>
          </a:p>
        </p:txBody>
      </p:sp>
      <p:sp>
        <p:nvSpPr>
          <p:cNvPr id="26" name="Text 24"/>
          <p:cNvSpPr/>
          <p:nvPr/>
        </p:nvSpPr>
        <p:spPr>
          <a:xfrm>
            <a:off x="640080" y="4416552"/>
            <a:ext cx="3200400" cy="23774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to 3 ML engineers or senior AI advisors</a:t>
            </a:r>
            <a:endParaRPr lang="en-US" sz="1200" dirty="0"/>
          </a:p>
        </p:txBody>
      </p:sp>
      <p:sp>
        <p:nvSpPr>
          <p:cNvPr id="27" name="Shape 25"/>
          <p:cNvSpPr/>
          <p:nvPr/>
        </p:nvSpPr>
        <p:spPr>
          <a:xfrm>
            <a:off x="3657600" y="4233672"/>
            <a:ext cx="27432" cy="384048"/>
          </a:xfrm>
          <a:prstGeom prst="rect">
            <a:avLst/>
          </a:prstGeom>
          <a:solidFill>
            <a:srgbClr val="3A3A3A"/>
          </a:solidFill>
          <a:ln/>
        </p:spPr>
      </p:sp>
      <p:sp>
        <p:nvSpPr>
          <p:cNvPr id="28" name="Text 26"/>
          <p:cNvSpPr/>
          <p:nvPr/>
        </p:nvSpPr>
        <p:spPr>
          <a:xfrm>
            <a:off x="3840480" y="4288536"/>
            <a:ext cx="4663440" cy="329184"/>
          </a:xfrm>
          <a:prstGeom prst="rect">
            <a:avLst/>
          </a:prstGeom>
          <a:noFill/>
          <a:ln/>
        </p:spPr>
        <p:txBody>
          <a:bodyPr wrap="square" lIns="0" tIns="0" rIns="0" bIns="0" rtlCol="0" anchor="ctr"/>
          <a:lstStyle/>
          <a:p>
            <a:pPr indent="0" marL="0">
              <a:buNone/>
            </a:pPr>
            <a:r>
              <a:rPr lang="en-US" sz="1100" dirty="0">
                <a:solidFill>
                  <a:srgbClr val="ABABAB"/>
                </a:solidFill>
                <a:latin typeface="Arial" pitchFamily="34" charset="0"/>
                <a:ea typeface="Arial" pitchFamily="34" charset="-122"/>
                <a:cs typeface="Arial" pitchFamily="34" charset="-120"/>
              </a:rPr>
              <a:t>To accelerate product development and sovereign model research.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FFFF"/>
          </a:solidFill>
          <a:ln/>
        </p:spPr>
      </p:sp>
      <p:sp>
        <p:nvSpPr>
          <p:cNvPr id="3" name="Shape 1"/>
          <p:cNvSpPr/>
          <p:nvPr/>
        </p:nvSpPr>
        <p:spPr>
          <a:xfrm>
            <a:off x="0" y="5088636"/>
            <a:ext cx="9144000" cy="54864"/>
          </a:xfrm>
          <a:prstGeom prst="rect">
            <a:avLst/>
          </a:prstGeom>
          <a:solidFill>
            <a:srgbClr val="FFFFFF"/>
          </a:solidFill>
          <a:ln/>
        </p:spPr>
      </p:sp>
      <p:sp>
        <p:nvSpPr>
          <p:cNvPr id="4" name="Text 2"/>
          <p:cNvSpPr/>
          <p:nvPr/>
        </p:nvSpPr>
        <p:spPr>
          <a:xfrm>
            <a:off x="640080" y="594360"/>
            <a:ext cx="786384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Arial Black" pitchFamily="34" charset="0"/>
                <a:ea typeface="Arial Black" pitchFamily="34" charset="-122"/>
                <a:cs typeface="Arial Black" pitchFamily="34" charset="-120"/>
              </a:rPr>
              <a:t>54 nations signed the declaration.</a:t>
            </a:r>
            <a:endParaRPr lang="en-US" sz="3000" dirty="0"/>
          </a:p>
        </p:txBody>
      </p:sp>
      <p:sp>
        <p:nvSpPr>
          <p:cNvPr id="5" name="Text 3"/>
          <p:cNvSpPr/>
          <p:nvPr/>
        </p:nvSpPr>
        <p:spPr>
          <a:xfrm>
            <a:off x="640080" y="1188720"/>
            <a:ext cx="7863840" cy="594360"/>
          </a:xfrm>
          <a:prstGeom prst="rect">
            <a:avLst/>
          </a:prstGeom>
          <a:noFill/>
          <a:ln/>
        </p:spPr>
        <p:txBody>
          <a:bodyPr wrap="square" lIns="0" tIns="0" rIns="0" bIns="0" rtlCol="0" anchor="ctr"/>
          <a:lstStyle/>
          <a:p>
            <a:pPr algn="l" indent="0" marL="0">
              <a:buNone/>
            </a:pPr>
            <a:r>
              <a:rPr lang="en-US" sz="3000" b="1" dirty="0">
                <a:solidFill>
                  <a:srgbClr val="ABABAB"/>
                </a:solidFill>
                <a:latin typeface="Arial Black" pitchFamily="34" charset="0"/>
                <a:ea typeface="Arial Black" pitchFamily="34" charset="-122"/>
                <a:cs typeface="Arial Black" pitchFamily="34" charset="-120"/>
              </a:rPr>
              <a:t>One lab will execute it.</a:t>
            </a:r>
            <a:endParaRPr lang="en-US" sz="3000" dirty="0"/>
          </a:p>
        </p:txBody>
      </p:sp>
      <p:sp>
        <p:nvSpPr>
          <p:cNvPr id="6" name="Shape 4"/>
          <p:cNvSpPr/>
          <p:nvPr/>
        </p:nvSpPr>
        <p:spPr>
          <a:xfrm>
            <a:off x="640080" y="1965960"/>
            <a:ext cx="1371600" cy="36576"/>
          </a:xfrm>
          <a:prstGeom prst="rect">
            <a:avLst/>
          </a:prstGeom>
          <a:solidFill>
            <a:srgbClr val="FFFFFF"/>
          </a:solidFill>
          <a:ln/>
        </p:spPr>
      </p:sp>
      <p:sp>
        <p:nvSpPr>
          <p:cNvPr id="7" name="Text 5"/>
          <p:cNvSpPr/>
          <p:nvPr/>
        </p:nvSpPr>
        <p:spPr>
          <a:xfrm>
            <a:off x="640080" y="2148840"/>
            <a:ext cx="7863840" cy="2514600"/>
          </a:xfrm>
          <a:prstGeom prst="rect">
            <a:avLst/>
          </a:prstGeom>
          <a:noFill/>
          <a:ln/>
        </p:spPr>
        <p:txBody>
          <a:bodyPr wrap="square" lIns="0" tIns="0" rIns="0" bIns="0" rtlCol="0" anchor="ctr"/>
          <a:lstStyle/>
          <a:p>
            <a:pPr algn="l" indent="0" marL="0">
              <a:buNone/>
            </a:pPr>
            <a:r>
              <a:rPr lang="en-US" sz="1250" dirty="0">
                <a:solidFill>
                  <a:srgbClr val="ABABAB"/>
                </a:solidFill>
                <a:latin typeface="Arial" pitchFamily="34" charset="0"/>
                <a:ea typeface="Arial" pitchFamily="34" charset="-122"/>
                <a:cs typeface="Arial" pitchFamily="34" charset="-120"/>
              </a:rPr>
              <a:t>Every institution has declared a vision for African AI sovereignty. The AU Continental AI Strategy is live. The Africa AI Council exists. The $60 billion fund is announced. The AfDB and UNDP are mobilizing capital. Togo and its neighbors are building national digital strategies.</a:t>
            </a:r>
            <a:endParaRPr lang="en-US" sz="1250" dirty="0"/>
          </a:p>
          <a:p>
            <a:pPr algn="l" indent="0" marL="0">
              <a:buNone/>
            </a:pPr>
            <a:endParaRPr lang="en-US" sz="1250" dirty="0"/>
          </a:p>
          <a:p>
            <a:pPr algn="l" indent="0" marL="0">
              <a:buNone/>
            </a:pPr>
            <a:r>
              <a:rPr lang="en-US" sz="1250" dirty="0">
                <a:solidFill>
                  <a:srgbClr val="ABABAB"/>
                </a:solidFill>
                <a:latin typeface="Arial" pitchFamily="34" charset="0"/>
                <a:ea typeface="Arial" pitchFamily="34" charset="-122"/>
                <a:cs typeface="Arial" pitchFamily="34" charset="-120"/>
              </a:rPr>
              <a:t>What is missing is the lab that turns declarations into deployed products, trained models, and sovereign infrastructure. Kora Lab is that lab. I am building it in Lome, Togo, with a continental mandate and a global ambition.</a:t>
            </a:r>
            <a:endParaRPr lang="en-US" sz="1250" dirty="0"/>
          </a:p>
          <a:p>
            <a:pPr algn="l" indent="0" marL="0">
              <a:buNone/>
            </a:pPr>
            <a:endParaRPr lang="en-US" sz="1250" dirty="0"/>
          </a:p>
          <a:p>
            <a:pPr algn="l" indent="0" marL="0">
              <a:buNone/>
            </a:pPr>
            <a:r>
              <a:rPr lang="en-US" sz="1250" dirty="0">
                <a:solidFill>
                  <a:srgbClr val="ABABAB"/>
                </a:solidFill>
                <a:latin typeface="Arial" pitchFamily="34" charset="0"/>
                <a:ea typeface="Arial" pitchFamily="34" charset="-122"/>
                <a:cs typeface="Arial" pitchFamily="34" charset="-120"/>
              </a:rPr>
              <a:t>I am looking for the partners who understand that the most significant AI opportunity of this decade will not come from Silicon Valley. It will come from the continent that the industry has been ignoring.</a:t>
            </a:r>
            <a:endParaRPr lang="en-US" sz="1250" dirty="0"/>
          </a:p>
        </p:txBody>
      </p:sp>
      <p:sp>
        <p:nvSpPr>
          <p:cNvPr id="8" name="Text 6"/>
          <p:cNvSpPr/>
          <p:nvPr/>
        </p:nvSpPr>
        <p:spPr>
          <a:xfrm>
            <a:off x="640080" y="4754880"/>
            <a:ext cx="7863840" cy="274320"/>
          </a:xfrm>
          <a:prstGeom prst="rect">
            <a:avLst/>
          </a:prstGeom>
          <a:noFill/>
          <a:ln/>
        </p:spPr>
        <p:txBody>
          <a:bodyPr wrap="square" lIns="0" tIns="0" rIns="0" bIns="0" rtlCol="0" anchor="ctr"/>
          <a:lstStyle/>
          <a:p>
            <a:pPr algn="l" indent="0" marL="0">
              <a:buNone/>
            </a:pPr>
            <a:r>
              <a:rPr lang="en-US" sz="1100" spc="100" kern="0" dirty="0">
                <a:solidFill>
                  <a:srgbClr val="6B6B6B"/>
                </a:solidFill>
                <a:latin typeface="Arial" pitchFamily="34" charset="0"/>
                <a:ea typeface="Arial" pitchFamily="34" charset="-122"/>
                <a:cs typeface="Arial" pitchFamily="34" charset="-120"/>
              </a:rPr>
              <a:t>kora-lab.com  /  founder@kora-lab.com  /  Kheir Lissi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Kora Lab Pitch Deck</dc:title>
  <dc:subject>PptxGenJS Presentation</dc:subject>
  <dc:creator>Kheir Lissi</dc:creator>
  <cp:lastModifiedBy>Kheir Lissi</cp:lastModifiedBy>
  <cp:revision>1</cp:revision>
  <dcterms:created xsi:type="dcterms:W3CDTF">2026-05-07T18:08:17Z</dcterms:created>
  <dcterms:modified xsi:type="dcterms:W3CDTF">2026-05-07T18:08:17Z</dcterms:modified>
</cp:coreProperties>
</file>