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vous presente Omni.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Togo, plus de 80% de l'economie est informelle. Marches, boutiques, artisans, reparateurs. Ils existent dans votre ville, dans votre rue. Mais si vous cherchez sur Google ou sur Facebook, vous ne les trouvez pas.
Resultat : l'offre locale est invisible. L'acheteur finit par commander a l'autre bout du monde alors que ce dont il a besoin existe a quelques rues.
Et le commercant perd des clients qu'il pourrait avoir, simplement parce que personne ne sait qu'il est 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invisibles ont trois consequences.
Pour l'acheteur : trouver un produit ou service pres de chez lui est un parcours du combattant.
Pour le commercant : il depend du bouche-a-oreille. Sa zone de chalandise, c'est sa rue.
Pour la ville et les autorites : cette economie reste invisible, non mesuree, non connectee.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Omni repond a ce probleme simplement : on indexe ce qui existe deja dans le monde physique.
Un commercant cree sa fiche gratuitement. Il met ses produits, ses horaires, ses prix. L'acheteur ouvre l'application, voit tout ce qui existe autour de lui, compare, contacte, commande.
On ne remplace pas le lien humain. On le rend visible.
L'acheteur ne paie rien. Le commercant paie un abonnement modeste pour avoir sa vitrine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commence par Lome. 1,5 million d'habitants. C'est notre maison, c'est de la que tout a commence.
Marche ideal : dense, mobile-first, economie informelle qui represente l'essentiel du commerce quotidien.
Marche adressable immediat : plusieurs dizaines de milliers de commercants dans le Grand Lome.
Modele replicable ville par ville en Afrique de l'Ouest.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un concept. L'application existe et est deployee.
Carte interactive ou chaque commercant est geolocalie. Fiches detaillees avec produits, prix, disponibilite. Messagerie directe. Systeme de livraison flexible.
Demo disponible sur omni-try.vercel.app
On peut vous montrer une demo en direct si vous le souhaitez.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modele economique est simple et respecte la realite du marche.
L'acheteur ne paie rien, et ne paiera jamais rien. Condition non negociable.
Le vendeur a une fiche gratuite. Pour aller plus loin, il paie 5 000 FCFA par mois. Moins que le prix d'une publication Facebook.
Le livreur paie 1 000 FCFA par mois pour acceder aux demandes sur ses trajets.
Nous ne prenons aucune commission sur les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technique est solide. L'enjeu maintenant, c'est la couverture terrain.
Un : integrer les APIs YAS et Moov pour que les paiements Mobile Money soient natifs. Sans acces institutionnel, cela est impossible pour une startup seule.
Deux : une campagne de communication pour faire connaitre Omni a Lome, marche par marche.
Trois : une equipe terrain qui va dans les marches, aide les commercants a creer leur fiche, forme et accompagne.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L'equipe qui porte Omni connait son terrain.
Trois developpeurs qui codent et peuvent descendre dans les marches cartographier. Un expert customer success avec 3 ans d'experience. Bilkiss, master en genie civil, qui pilote la strategie de couverture territoriale zone par zone. Et Marie-Grace qui coordonne et dont le profil bancaire est un atout pour les partenariats mobiles.
Complementarite construite pour executer les deux dimensions du projet : technique et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ce pre-seed de 100 000 a 150 000 dollars, on couvre Lome. On integre les APIs mobiles. On deploie l'equipe terrain. On fait connaitre Omni.
La majorite de l'investissement va dans la communication et la couverture terrain. C'est le coeur de notre travail pendant un moment : zone par zone, facilite par facilite.
La vision : le standard du commerce de proximite en Afrique de l'Ouest, ville par ville.
Nous ne reinventons pas le commerce. Nous rendons visible ce qui existe deja.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1261872" y="1913382"/>
            <a:ext cx="1316736" cy="1316736"/>
          </a:xfrm>
          <a:prstGeom prst="ellipse">
            <a:avLst/>
          </a:prstGeom>
          <a:solidFill>
            <a:srgbClr val="0A3028"/>
          </a:solidFill>
          <a:ln w="12700">
            <a:solidFill>
              <a:srgbClr val="0A3028"/>
            </a:solidFill>
            <a:prstDash val="solid"/>
          </a:ln>
        </p:spPr>
      </p:sp>
      <p:sp>
        <p:nvSpPr>
          <p:cNvPr id="3" name="Shape 1"/>
          <p:cNvSpPr/>
          <p:nvPr/>
        </p:nvSpPr>
        <p:spPr>
          <a:xfrm>
            <a:off x="1498884" y="2150394"/>
            <a:ext cx="842711" cy="842711"/>
          </a:xfrm>
          <a:prstGeom prst="ellipse">
            <a:avLst/>
          </a:prstGeom>
          <a:solidFill>
            <a:srgbClr val="10B981"/>
          </a:solidFill>
          <a:ln w="12700">
            <a:solidFill>
              <a:srgbClr val="10B981"/>
            </a:solidFill>
            <a:prstDash val="solid"/>
          </a:ln>
        </p:spPr>
      </p:sp>
      <p:sp>
        <p:nvSpPr>
          <p:cNvPr id="4" name="Shape 2"/>
          <p:cNvSpPr/>
          <p:nvPr/>
        </p:nvSpPr>
        <p:spPr>
          <a:xfrm>
            <a:off x="1686519" y="2338029"/>
            <a:ext cx="467441" cy="467441"/>
          </a:xfrm>
          <a:prstGeom prst="ellipse">
            <a:avLst/>
          </a:prstGeom>
          <a:solidFill>
            <a:srgbClr val="34D399"/>
          </a:solidFill>
          <a:ln w="12700">
            <a:solidFill>
              <a:srgbClr val="34D399"/>
            </a:solidFill>
            <a:prstDash val="solid"/>
          </a:ln>
        </p:spPr>
      </p:sp>
      <p:sp>
        <p:nvSpPr>
          <p:cNvPr id="5" name="Text 3"/>
          <p:cNvSpPr/>
          <p:nvPr/>
        </p:nvSpPr>
        <p:spPr>
          <a:xfrm>
            <a:off x="1735897" y="2400574"/>
            <a:ext cx="368686" cy="342351"/>
          </a:xfrm>
          <a:prstGeom prst="rect">
            <a:avLst/>
          </a:prstGeom>
          <a:noFill/>
          <a:ln/>
        </p:spPr>
        <p:txBody>
          <a:bodyPr wrap="square" lIns="0" tIns="0" rIns="0" bIns="0" rtlCol="0" anchor="ctr"/>
          <a:lstStyle/>
          <a:p>
            <a:pPr algn="ctr" indent="0" marL="0">
              <a:buNone/>
            </a:pPr>
            <a:r>
              <a:rPr lang="en-US" sz="3200" b="1" dirty="0">
                <a:solidFill>
                  <a:srgbClr val="08080F"/>
                </a:solidFill>
              </a:rPr>
              <a:t>O</a:t>
            </a:r>
            <a:endParaRPr lang="en-US" sz="3200" dirty="0"/>
          </a:p>
        </p:txBody>
      </p:sp>
      <p:sp>
        <p:nvSpPr>
          <p:cNvPr id="6" name="Text 4"/>
          <p:cNvSpPr/>
          <p:nvPr/>
        </p:nvSpPr>
        <p:spPr>
          <a:xfrm>
            <a:off x="2852928" y="969264"/>
            <a:ext cx="5852160" cy="1005840"/>
          </a:xfrm>
          <a:prstGeom prst="rect">
            <a:avLst/>
          </a:prstGeom>
          <a:noFill/>
          <a:ln/>
        </p:spPr>
        <p:txBody>
          <a:bodyPr wrap="square" lIns="0" tIns="0" rIns="0" bIns="0" rtlCol="0" anchor="ctr"/>
          <a:lstStyle/>
          <a:p>
            <a:pPr algn="l" indent="0" marL="0">
              <a:buNone/>
            </a:pPr>
            <a:r>
              <a:rPr lang="en-US" sz="7200" b="1" dirty="0">
                <a:solidFill>
                  <a:srgbClr val="FFFFFF"/>
                </a:solidFill>
                <a:latin typeface="Calibri" pitchFamily="34" charset="0"/>
                <a:ea typeface="Calibri" pitchFamily="34" charset="-122"/>
                <a:cs typeface="Calibri" pitchFamily="34" charset="-120"/>
              </a:rPr>
              <a:t>Omni</a:t>
            </a:r>
            <a:endParaRPr lang="en-US" sz="7200" dirty="0"/>
          </a:p>
        </p:txBody>
      </p:sp>
      <p:sp>
        <p:nvSpPr>
          <p:cNvPr id="7" name="Text 5"/>
          <p:cNvSpPr/>
          <p:nvPr/>
        </p:nvSpPr>
        <p:spPr>
          <a:xfrm>
            <a:off x="2852928" y="2029968"/>
            <a:ext cx="5852160" cy="502920"/>
          </a:xfrm>
          <a:prstGeom prst="rect">
            <a:avLst/>
          </a:prstGeom>
          <a:noFill/>
          <a:ln/>
        </p:spPr>
        <p:txBody>
          <a:bodyPr wrap="square" lIns="0" tIns="0" rIns="0" bIns="0" rtlCol="0" anchor="ctr"/>
          <a:lstStyle/>
          <a:p>
            <a:pPr algn="l" indent="0" marL="0">
              <a:buNone/>
            </a:pPr>
            <a:r>
              <a:rPr lang="en-US" sz="2200" dirty="0">
                <a:solidFill>
                  <a:srgbClr val="10B981"/>
                </a:solidFill>
                <a:latin typeface="Calibri" pitchFamily="34" charset="0"/>
                <a:ea typeface="Calibri" pitchFamily="34" charset="-122"/>
                <a:cs typeface="Calibri" pitchFamily="34" charset="-120"/>
              </a:rPr>
              <a:t>L'index du commerce de proximite</a:t>
            </a:r>
            <a:endParaRPr lang="en-US" sz="2200" dirty="0"/>
          </a:p>
        </p:txBody>
      </p:sp>
      <p:sp>
        <p:nvSpPr>
          <p:cNvPr id="8" name="Shape 6"/>
          <p:cNvSpPr/>
          <p:nvPr/>
        </p:nvSpPr>
        <p:spPr>
          <a:xfrm>
            <a:off x="2852928" y="2651760"/>
            <a:ext cx="4572000" cy="22860"/>
          </a:xfrm>
          <a:prstGeom prst="rect">
            <a:avLst/>
          </a:prstGeom>
          <a:solidFill>
            <a:srgbClr val="10B981">
              <a:alpha val="40000"/>
            </a:srgbClr>
          </a:solidFill>
          <a:ln w="12700">
            <a:solidFill>
              <a:srgbClr val="333333"/>
            </a:solidFill>
            <a:prstDash val="solid"/>
          </a:ln>
        </p:spPr>
      </p:sp>
      <p:sp>
        <p:nvSpPr>
          <p:cNvPr id="9" name="Text 7"/>
          <p:cNvSpPr/>
          <p:nvPr/>
        </p:nvSpPr>
        <p:spPr>
          <a:xfrm>
            <a:off x="2852928" y="2779776"/>
            <a:ext cx="5852160" cy="329184"/>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Innov'Action 2026  |  Lome, Togo  |  Pre-seed  $100k - $150k</a:t>
            </a:r>
            <a:endParaRPr lang="en-US" sz="1300" dirty="0"/>
          </a:p>
        </p:txBody>
      </p:sp>
      <p:sp>
        <p:nvSpPr>
          <p:cNvPr id="10" name="Shape 8"/>
          <p:cNvSpPr/>
          <p:nvPr/>
        </p:nvSpPr>
        <p:spPr>
          <a:xfrm>
            <a:off x="9089136" y="0"/>
            <a:ext cx="54864" cy="5143500"/>
          </a:xfrm>
          <a:prstGeom prst="rect">
            <a:avLst/>
          </a:prstGeom>
          <a:solidFill>
            <a:srgbClr val="10B981"/>
          </a:solidFill>
          <a:ln w="12700">
            <a:solidFill>
              <a:srgbClr val="333333"/>
            </a:solidFill>
            <a:prstDash val="solid"/>
          </a:ln>
        </p:spPr>
      </p:sp>
      <p:sp>
        <p:nvSpPr>
          <p:cNvPr id="11" name="Shape 9"/>
          <p:cNvSpPr/>
          <p:nvPr/>
        </p:nvSpPr>
        <p:spPr>
          <a:xfrm>
            <a:off x="9015984" y="0"/>
            <a:ext cx="73152" cy="5143500"/>
          </a:xfrm>
          <a:prstGeom prst="rect">
            <a:avLst/>
          </a:prstGeom>
          <a:solidFill>
            <a:srgbClr val="0D9488"/>
          </a:solidFill>
          <a:ln w="12700">
            <a:solidFill>
              <a:srgbClr val="3333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LE PROBLEME</a:t>
            </a:r>
            <a:endParaRPr lang="en-US" sz="900" dirty="0"/>
          </a:p>
        </p:txBody>
      </p:sp>
      <p:sp>
        <p:nvSpPr>
          <p:cNvPr id="7" name="Text 5"/>
          <p:cNvSpPr/>
          <p:nvPr/>
        </p:nvSpPr>
        <p:spPr>
          <a:xfrm>
            <a:off x="457200" y="960120"/>
            <a:ext cx="5303520" cy="530352"/>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L'offre locale existe.</a:t>
            </a:r>
            <a:endParaRPr lang="en-US" sz="3400" dirty="0"/>
          </a:p>
        </p:txBody>
      </p:sp>
      <p:sp>
        <p:nvSpPr>
          <p:cNvPr id="8" name="Text 6"/>
          <p:cNvSpPr/>
          <p:nvPr/>
        </p:nvSpPr>
        <p:spPr>
          <a:xfrm>
            <a:off x="457200" y="1463040"/>
            <a:ext cx="5303520" cy="530352"/>
          </a:xfrm>
          <a:prstGeom prst="rect">
            <a:avLst/>
          </a:prstGeom>
          <a:noFill/>
          <a:ln/>
        </p:spPr>
        <p:txBody>
          <a:bodyPr wrap="square" lIns="0" tIns="0" rIns="0" bIns="0" rtlCol="0" anchor="ctr"/>
          <a:lstStyle/>
          <a:p>
            <a:pPr algn="l" indent="0" marL="0">
              <a:buNone/>
            </a:pPr>
            <a:r>
              <a:rPr lang="en-US" sz="3400" b="1" dirty="0">
                <a:solidFill>
                  <a:srgbClr val="10B981"/>
                </a:solidFill>
                <a:latin typeface="Calibri" pitchFamily="34" charset="0"/>
                <a:ea typeface="Calibri" pitchFamily="34" charset="-122"/>
                <a:cs typeface="Calibri" pitchFamily="34" charset="-120"/>
              </a:rPr>
              <a:t>Personne ne la trouve.</a:t>
            </a:r>
            <a:endParaRPr lang="en-US" sz="3400" dirty="0"/>
          </a:p>
        </p:txBody>
      </p:sp>
      <p:sp>
        <p:nvSpPr>
          <p:cNvPr id="9" name="Text 7"/>
          <p:cNvSpPr/>
          <p:nvPr/>
        </p:nvSpPr>
        <p:spPr>
          <a:xfrm>
            <a:off x="457200" y="2121408"/>
            <a:ext cx="5120640" cy="2377440"/>
          </a:xfrm>
          <a:prstGeom prst="rect">
            <a:avLst/>
          </a:prstGeom>
          <a:noFill/>
          <a:ln/>
        </p:spPr>
        <p:txBody>
          <a:bodyPr wrap="square" lIns="0" tIns="0" rIns="0" bIns="0" rtlCol="0" anchor="t"/>
          <a:lstStyle/>
          <a:p>
            <a:pPr algn="l" indent="0" marL="0">
              <a:buNone/>
            </a:pPr>
            <a:r>
              <a:rPr lang="en-US" sz="1300" dirty="0">
                <a:solidFill>
                  <a:srgbClr val="94A3B8"/>
                </a:solidFill>
                <a:latin typeface="Calibri" pitchFamily="34" charset="0"/>
                <a:ea typeface="Calibri" pitchFamily="34" charset="-122"/>
                <a:cs typeface="Calibri" pitchFamily="34" charset="-120"/>
              </a:rPr>
              <a:t>Vous cherchez un produit, un service, un artisan. Vous allez sur Google. Puis Facebook. Puis TikTok. Vous demandez a vos proches. Parfois vous trouvez, parfois pas.</a:t>
            </a:r>
            <a:endParaRPr lang="en-US" sz="1300" dirty="0"/>
          </a:p>
          <a:p>
            <a:pPr algn="l" indent="0" marL="0">
              <a:buNone/>
            </a:pPr>
            <a:r>
              <a:rPr lang="en-US" sz="500" dirty="0">
                <a:solidFill>
                  <a:srgbClr val="94A3B8"/>
                </a:solidFill>
                <a:latin typeface="Calibri" pitchFamily="34" charset="0"/>
                <a:ea typeface="Calibri" pitchFamily="34" charset="-122"/>
                <a:cs typeface="Calibri" pitchFamily="34" charset="-120"/>
              </a:rPr>
              <a:t> </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Et au final, vous commandez sur Alibaba ou Amazon, a des milliers de kilometres, alors que ce dont vous avez besoin existe peut-etre a quelques rues de chez vous.</a:t>
            </a:r>
            <a:endParaRPr lang="en-US" sz="1300" dirty="0"/>
          </a:p>
          <a:p>
            <a:pPr algn="l" indent="0" marL="0">
              <a:buNone/>
            </a:pPr>
            <a:r>
              <a:rPr lang="en-US" sz="500" dirty="0">
                <a:solidFill>
                  <a:srgbClr val="94A3B8"/>
                </a:solidFill>
                <a:latin typeface="Calibri" pitchFamily="34" charset="0"/>
                <a:ea typeface="Calibri" pitchFamily="34" charset="-122"/>
                <a:cs typeface="Calibri" pitchFamily="34" charset="-120"/>
              </a:rPr>
              <a:t> </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Ces commercants n'ont pas de site, pas de page, pas de pub. Ils existent dans la rue. Ils n'existent pas en ligne.</a:t>
            </a:r>
            <a:endParaRPr lang="en-US" sz="1300" dirty="0"/>
          </a:p>
        </p:txBody>
      </p:sp>
      <p:sp>
        <p:nvSpPr>
          <p:cNvPr id="10" name="Shape 8"/>
          <p:cNvSpPr/>
          <p:nvPr/>
        </p:nvSpPr>
        <p:spPr>
          <a:xfrm>
            <a:off x="5852160" y="841248"/>
            <a:ext cx="2834640" cy="3657600"/>
          </a:xfrm>
          <a:prstGeom prst="roundRect">
            <a:avLst>
              <a:gd name="adj" fmla="val 2581"/>
            </a:avLst>
          </a:prstGeom>
          <a:solidFill>
            <a:srgbClr val="0D1420"/>
          </a:solidFill>
          <a:ln w="6350">
            <a:solidFill>
              <a:srgbClr val="10B981">
                <a:alpha val="30000"/>
              </a:srgbClr>
            </a:solidFill>
            <a:prstDash val="solid"/>
          </a:ln>
        </p:spPr>
      </p:sp>
      <p:sp>
        <p:nvSpPr>
          <p:cNvPr id="11" name="Text 9"/>
          <p:cNvSpPr/>
          <p:nvPr/>
        </p:nvSpPr>
        <p:spPr>
          <a:xfrm>
            <a:off x="5943600" y="1188720"/>
            <a:ext cx="2651760" cy="1188720"/>
          </a:xfrm>
          <a:prstGeom prst="rect">
            <a:avLst/>
          </a:prstGeom>
          <a:noFill/>
          <a:ln/>
        </p:spPr>
        <p:txBody>
          <a:bodyPr wrap="square" lIns="0" tIns="0" rIns="0" bIns="0" rtlCol="0" anchor="ctr"/>
          <a:lstStyle/>
          <a:p>
            <a:pPr algn="ctr" indent="0" marL="0">
              <a:buNone/>
            </a:pPr>
            <a:r>
              <a:rPr lang="en-US" sz="7200" b="1" dirty="0">
                <a:solidFill>
                  <a:srgbClr val="10B981"/>
                </a:solidFill>
                <a:latin typeface="Calibri" pitchFamily="34" charset="0"/>
                <a:ea typeface="Calibri" pitchFamily="34" charset="-122"/>
                <a:cs typeface="Calibri" pitchFamily="34" charset="-120"/>
              </a:rPr>
              <a:t>80%+</a:t>
            </a:r>
            <a:endParaRPr lang="en-US" sz="7200" dirty="0"/>
          </a:p>
        </p:txBody>
      </p:sp>
      <p:sp>
        <p:nvSpPr>
          <p:cNvPr id="12" name="Text 10"/>
          <p:cNvSpPr/>
          <p:nvPr/>
        </p:nvSpPr>
        <p:spPr>
          <a:xfrm>
            <a:off x="5943600" y="2432304"/>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 l'economie togolaise</a:t>
            </a:r>
            <a:endParaRPr lang="en-US" sz="1400" dirty="0"/>
          </a:p>
        </p:txBody>
      </p:sp>
      <p:sp>
        <p:nvSpPr>
          <p:cNvPr id="13" name="Text 11"/>
          <p:cNvSpPr/>
          <p:nvPr/>
        </p:nvSpPr>
        <p:spPr>
          <a:xfrm>
            <a:off x="5943600" y="2761488"/>
            <a:ext cx="2651760" cy="310896"/>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est informelle</a:t>
            </a:r>
            <a:endParaRPr lang="en-US" sz="1400" dirty="0"/>
          </a:p>
        </p:txBody>
      </p:sp>
      <p:sp>
        <p:nvSpPr>
          <p:cNvPr id="14" name="Shape 12"/>
          <p:cNvSpPr/>
          <p:nvPr/>
        </p:nvSpPr>
        <p:spPr>
          <a:xfrm>
            <a:off x="6035040" y="3200400"/>
            <a:ext cx="2468880" cy="22860"/>
          </a:xfrm>
          <a:prstGeom prst="rect">
            <a:avLst/>
          </a:prstGeom>
          <a:solidFill>
            <a:srgbClr val="10B981">
              <a:alpha val="35000"/>
            </a:srgbClr>
          </a:solidFill>
          <a:ln w="12700">
            <a:solidFill>
              <a:srgbClr val="333333"/>
            </a:solidFill>
            <a:prstDash val="solid"/>
          </a:ln>
        </p:spPr>
      </p:sp>
      <p:sp>
        <p:nvSpPr>
          <p:cNvPr id="15" name="Text 13"/>
          <p:cNvSpPr/>
          <p:nvPr/>
        </p:nvSpPr>
        <p:spPr>
          <a:xfrm>
            <a:off x="5943600" y="3291840"/>
            <a:ext cx="2651760" cy="91440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Marchands, artisans, reparateurs, traiteurs. Presents dans la rue. Absents en ligne.</a:t>
            </a:r>
            <a:endParaRPr lang="en-US" sz="1000" dirty="0"/>
          </a:p>
        </p:txBody>
      </p:sp>
      <p:sp>
        <p:nvSpPr>
          <p:cNvPr id="16" name="Text 14"/>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17" name="Text 15"/>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02 / 10</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L'IMPACT</a:t>
            </a:r>
            <a:endParaRPr lang="en-US" sz="900" dirty="0"/>
          </a:p>
        </p:txBody>
      </p:sp>
      <p:sp>
        <p:nvSpPr>
          <p:cNvPr id="7" name="Text 5"/>
          <p:cNvSpPr/>
          <p:nvPr/>
        </p:nvSpPr>
        <p:spPr>
          <a:xfrm>
            <a:off x="457200" y="969264"/>
            <a:ext cx="8229600" cy="4572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Trois consequences directes de cette invisibilite.</a:t>
            </a:r>
            <a:endParaRPr lang="en-US" sz="2600" dirty="0"/>
          </a:p>
        </p:txBody>
      </p:sp>
      <p:sp>
        <p:nvSpPr>
          <p:cNvPr id="8" name="Shape 6"/>
          <p:cNvSpPr/>
          <p:nvPr/>
        </p:nvSpPr>
        <p:spPr>
          <a:xfrm>
            <a:off x="457200" y="1572768"/>
            <a:ext cx="2487168" cy="3246120"/>
          </a:xfrm>
          <a:prstGeom prst="roundRect">
            <a:avLst>
              <a:gd name="adj" fmla="val 2941"/>
            </a:avLst>
          </a:prstGeom>
          <a:solidFill>
            <a:srgbClr val="0D1420"/>
          </a:solidFill>
          <a:ln w="6350">
            <a:solidFill>
              <a:srgbClr val="10B981">
                <a:alpha val="30000"/>
              </a:srgbClr>
            </a:solidFill>
            <a:prstDash val="solid"/>
          </a:ln>
        </p:spPr>
      </p:sp>
      <p:sp>
        <p:nvSpPr>
          <p:cNvPr id="9" name="Shape 7"/>
          <p:cNvSpPr/>
          <p:nvPr/>
        </p:nvSpPr>
        <p:spPr>
          <a:xfrm>
            <a:off x="603504" y="1810512"/>
            <a:ext cx="402336" cy="402336"/>
          </a:xfrm>
          <a:prstGeom prst="ellipse">
            <a:avLst/>
          </a:prstGeom>
          <a:solidFill>
            <a:srgbClr val="10B981"/>
          </a:solidFill>
          <a:ln w="12700">
            <a:solidFill>
              <a:srgbClr val="10B981"/>
            </a:solidFill>
            <a:prstDash val="solid"/>
          </a:ln>
        </p:spPr>
      </p:sp>
      <p:sp>
        <p:nvSpPr>
          <p:cNvPr id="10" name="Text 8"/>
          <p:cNvSpPr/>
          <p:nvPr/>
        </p:nvSpPr>
        <p:spPr>
          <a:xfrm>
            <a:off x="603504" y="1883664"/>
            <a:ext cx="402336" cy="256032"/>
          </a:xfrm>
          <a:prstGeom prst="rect">
            <a:avLst/>
          </a:prstGeom>
          <a:noFill/>
          <a:ln/>
        </p:spPr>
        <p:txBody>
          <a:bodyPr wrap="square" lIns="0" tIns="0" rIns="0" bIns="0" rtlCol="0" anchor="ctr"/>
          <a:lstStyle/>
          <a:p>
            <a:pPr algn="ctr" indent="0" marL="0">
              <a:buNone/>
            </a:pPr>
            <a:r>
              <a:rPr lang="en-US" sz="1200" b="1" dirty="0">
                <a:solidFill>
                  <a:srgbClr val="08080F"/>
                </a:solidFill>
                <a:latin typeface="Calibri" pitchFamily="34" charset="0"/>
                <a:ea typeface="Calibri" pitchFamily="34" charset="-122"/>
                <a:cs typeface="Calibri" pitchFamily="34" charset="-120"/>
              </a:rPr>
              <a:t>A</a:t>
            </a:r>
            <a:endParaRPr lang="en-US" sz="1200" dirty="0"/>
          </a:p>
        </p:txBody>
      </p:sp>
      <p:sp>
        <p:nvSpPr>
          <p:cNvPr id="11" name="Text 9"/>
          <p:cNvSpPr/>
          <p:nvPr/>
        </p:nvSpPr>
        <p:spPr>
          <a:xfrm>
            <a:off x="585216" y="2304288"/>
            <a:ext cx="2231136" cy="36576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Pour l'acheteur</a:t>
            </a:r>
            <a:endParaRPr lang="en-US" sz="1350" dirty="0"/>
          </a:p>
        </p:txBody>
      </p:sp>
      <p:sp>
        <p:nvSpPr>
          <p:cNvPr id="12" name="Text 10"/>
          <p:cNvSpPr/>
          <p:nvPr/>
        </p:nvSpPr>
        <p:spPr>
          <a:xfrm>
            <a:off x="585216" y="2743200"/>
            <a:ext cx="2231136" cy="1234440"/>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Trouver un produit ou un service pres de chez soi est un parcours du combattant. Google ne reference pas un reparateur ou un plat fait maison sans presence numerique.</a:t>
            </a:r>
            <a:endParaRPr lang="en-US" sz="1050" dirty="0"/>
          </a:p>
        </p:txBody>
      </p:sp>
      <p:sp>
        <p:nvSpPr>
          <p:cNvPr id="13" name="Shape 11"/>
          <p:cNvSpPr/>
          <p:nvPr/>
        </p:nvSpPr>
        <p:spPr>
          <a:xfrm>
            <a:off x="585216" y="4005072"/>
            <a:ext cx="2231136" cy="22860"/>
          </a:xfrm>
          <a:prstGeom prst="rect">
            <a:avLst/>
          </a:prstGeom>
          <a:solidFill>
            <a:srgbClr val="10B981">
              <a:alpha val="35000"/>
            </a:srgbClr>
          </a:solidFill>
          <a:ln w="12700">
            <a:solidFill>
              <a:srgbClr val="333333"/>
            </a:solidFill>
            <a:prstDash val="solid"/>
          </a:ln>
        </p:spPr>
      </p:sp>
      <p:sp>
        <p:nvSpPr>
          <p:cNvPr id="14" name="Text 12"/>
          <p:cNvSpPr/>
          <p:nvPr/>
        </p:nvSpPr>
        <p:spPr>
          <a:xfrm>
            <a:off x="585216" y="4059936"/>
            <a:ext cx="2231136" cy="548640"/>
          </a:xfrm>
          <a:prstGeom prst="rect">
            <a:avLst/>
          </a:prstGeom>
          <a:noFill/>
          <a:ln/>
        </p:spPr>
        <p:txBody>
          <a:bodyPr wrap="square" lIns="0" tIns="0" rIns="0" bIns="0" rtlCol="0" anchor="ctr"/>
          <a:lstStyle/>
          <a:p>
            <a:pPr algn="l" indent="0" marL="0">
              <a:buNone/>
            </a:pPr>
            <a:r>
              <a:rPr lang="en-US" sz="950" i="1" dirty="0">
                <a:solidFill>
                  <a:srgbClr val="10B981"/>
                </a:solidFill>
                <a:latin typeface="Calibri" pitchFamily="34" charset="0"/>
                <a:ea typeface="Calibri" pitchFamily="34" charset="-122"/>
                <a:cs typeface="Calibri" pitchFamily="34" charset="-120"/>
              </a:rPr>
              <a:t>Perte de temps. Achats a distance.</a:t>
            </a:r>
            <a:endParaRPr lang="en-US" sz="950" dirty="0"/>
          </a:p>
        </p:txBody>
      </p:sp>
      <p:sp>
        <p:nvSpPr>
          <p:cNvPr id="15" name="Shape 13"/>
          <p:cNvSpPr/>
          <p:nvPr/>
        </p:nvSpPr>
        <p:spPr>
          <a:xfrm>
            <a:off x="3145536" y="1572768"/>
            <a:ext cx="2487168" cy="3246120"/>
          </a:xfrm>
          <a:prstGeom prst="roundRect">
            <a:avLst>
              <a:gd name="adj" fmla="val 2941"/>
            </a:avLst>
          </a:prstGeom>
          <a:solidFill>
            <a:srgbClr val="0D1420"/>
          </a:solidFill>
          <a:ln w="6350">
            <a:solidFill>
              <a:srgbClr val="10B981">
                <a:alpha val="30000"/>
              </a:srgbClr>
            </a:solidFill>
            <a:prstDash val="solid"/>
          </a:ln>
        </p:spPr>
      </p:sp>
      <p:sp>
        <p:nvSpPr>
          <p:cNvPr id="16" name="Shape 14"/>
          <p:cNvSpPr/>
          <p:nvPr/>
        </p:nvSpPr>
        <p:spPr>
          <a:xfrm>
            <a:off x="3291840" y="1810512"/>
            <a:ext cx="402336" cy="402336"/>
          </a:xfrm>
          <a:prstGeom prst="ellipse">
            <a:avLst/>
          </a:prstGeom>
          <a:solidFill>
            <a:srgbClr val="0D9488"/>
          </a:solidFill>
          <a:ln w="12700">
            <a:solidFill>
              <a:srgbClr val="0D9488"/>
            </a:solidFill>
            <a:prstDash val="solid"/>
          </a:ln>
        </p:spPr>
      </p:sp>
      <p:sp>
        <p:nvSpPr>
          <p:cNvPr id="17" name="Text 15"/>
          <p:cNvSpPr/>
          <p:nvPr/>
        </p:nvSpPr>
        <p:spPr>
          <a:xfrm>
            <a:off x="3291840" y="1883664"/>
            <a:ext cx="402336" cy="256032"/>
          </a:xfrm>
          <a:prstGeom prst="rect">
            <a:avLst/>
          </a:prstGeom>
          <a:noFill/>
          <a:ln/>
        </p:spPr>
        <p:txBody>
          <a:bodyPr wrap="square" lIns="0" tIns="0" rIns="0" bIns="0" rtlCol="0" anchor="ctr"/>
          <a:lstStyle/>
          <a:p>
            <a:pPr algn="ctr" indent="0" marL="0">
              <a:buNone/>
            </a:pPr>
            <a:r>
              <a:rPr lang="en-US" sz="1200" b="1" dirty="0">
                <a:solidFill>
                  <a:srgbClr val="08080F"/>
                </a:solidFill>
                <a:latin typeface="Calibri" pitchFamily="34" charset="0"/>
                <a:ea typeface="Calibri" pitchFamily="34" charset="-122"/>
                <a:cs typeface="Calibri" pitchFamily="34" charset="-120"/>
              </a:rPr>
              <a:t>C</a:t>
            </a:r>
            <a:endParaRPr lang="en-US" sz="1200" dirty="0"/>
          </a:p>
        </p:txBody>
      </p:sp>
      <p:sp>
        <p:nvSpPr>
          <p:cNvPr id="18" name="Text 16"/>
          <p:cNvSpPr/>
          <p:nvPr/>
        </p:nvSpPr>
        <p:spPr>
          <a:xfrm>
            <a:off x="3273552" y="2304288"/>
            <a:ext cx="2231136" cy="36576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Pour le commercant</a:t>
            </a:r>
            <a:endParaRPr lang="en-US" sz="1350" dirty="0"/>
          </a:p>
        </p:txBody>
      </p:sp>
      <p:sp>
        <p:nvSpPr>
          <p:cNvPr id="19" name="Text 17"/>
          <p:cNvSpPr/>
          <p:nvPr/>
        </p:nvSpPr>
        <p:spPr>
          <a:xfrm>
            <a:off x="3273552" y="2743200"/>
            <a:ext cx="2231136" cy="1234440"/>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Il depend du bouche-a-oreille et des publications Facebook. Sa zone de chalandise, c'est sa rue. Son plafond de croissance est physique.</a:t>
            </a:r>
            <a:endParaRPr lang="en-US" sz="1050" dirty="0"/>
          </a:p>
        </p:txBody>
      </p:sp>
      <p:sp>
        <p:nvSpPr>
          <p:cNvPr id="20" name="Shape 18"/>
          <p:cNvSpPr/>
          <p:nvPr/>
        </p:nvSpPr>
        <p:spPr>
          <a:xfrm>
            <a:off x="3273552" y="4005072"/>
            <a:ext cx="2231136" cy="22860"/>
          </a:xfrm>
          <a:prstGeom prst="rect">
            <a:avLst/>
          </a:prstGeom>
          <a:solidFill>
            <a:srgbClr val="0D9488">
              <a:alpha val="35000"/>
            </a:srgbClr>
          </a:solidFill>
          <a:ln w="12700">
            <a:solidFill>
              <a:srgbClr val="333333"/>
            </a:solidFill>
            <a:prstDash val="solid"/>
          </a:ln>
        </p:spPr>
      </p:sp>
      <p:sp>
        <p:nvSpPr>
          <p:cNvPr id="21" name="Text 19"/>
          <p:cNvSpPr/>
          <p:nvPr/>
        </p:nvSpPr>
        <p:spPr>
          <a:xfrm>
            <a:off x="3273552" y="4059936"/>
            <a:ext cx="2231136" cy="548640"/>
          </a:xfrm>
          <a:prstGeom prst="rect">
            <a:avLst/>
          </a:prstGeom>
          <a:noFill/>
          <a:ln/>
        </p:spPr>
        <p:txBody>
          <a:bodyPr wrap="square" lIns="0" tIns="0" rIns="0" bIns="0" rtlCol="0" anchor="ctr"/>
          <a:lstStyle/>
          <a:p>
            <a:pPr algn="l" indent="0" marL="0">
              <a:buNone/>
            </a:pPr>
            <a:r>
              <a:rPr lang="en-US" sz="950" i="1" dirty="0">
                <a:solidFill>
                  <a:srgbClr val="0D9488"/>
                </a:solidFill>
                <a:latin typeface="Calibri" pitchFamily="34" charset="0"/>
                <a:ea typeface="Calibri" pitchFamily="34" charset="-122"/>
                <a:cs typeface="Calibri" pitchFamily="34" charset="-120"/>
              </a:rPr>
              <a:t>Pas de nouveaux clients. Pas d'echelle.</a:t>
            </a:r>
            <a:endParaRPr lang="en-US" sz="950" dirty="0"/>
          </a:p>
        </p:txBody>
      </p:sp>
      <p:sp>
        <p:nvSpPr>
          <p:cNvPr id="22" name="Shape 20"/>
          <p:cNvSpPr/>
          <p:nvPr/>
        </p:nvSpPr>
        <p:spPr>
          <a:xfrm>
            <a:off x="5833872" y="1572768"/>
            <a:ext cx="2487168" cy="3246120"/>
          </a:xfrm>
          <a:prstGeom prst="roundRect">
            <a:avLst>
              <a:gd name="adj" fmla="val 2941"/>
            </a:avLst>
          </a:prstGeom>
          <a:solidFill>
            <a:srgbClr val="0D1420"/>
          </a:solidFill>
          <a:ln w="6350">
            <a:solidFill>
              <a:srgbClr val="10B981">
                <a:alpha val="30000"/>
              </a:srgbClr>
            </a:solidFill>
            <a:prstDash val="solid"/>
          </a:ln>
        </p:spPr>
      </p:sp>
      <p:sp>
        <p:nvSpPr>
          <p:cNvPr id="23" name="Shape 21"/>
          <p:cNvSpPr/>
          <p:nvPr/>
        </p:nvSpPr>
        <p:spPr>
          <a:xfrm>
            <a:off x="5980176" y="1810512"/>
            <a:ext cx="402336" cy="402336"/>
          </a:xfrm>
          <a:prstGeom prst="ellipse">
            <a:avLst/>
          </a:prstGeom>
          <a:solidFill>
            <a:srgbClr val="34D399"/>
          </a:solidFill>
          <a:ln w="12700">
            <a:solidFill>
              <a:srgbClr val="34D399"/>
            </a:solidFill>
            <a:prstDash val="solid"/>
          </a:ln>
        </p:spPr>
      </p:sp>
      <p:sp>
        <p:nvSpPr>
          <p:cNvPr id="24" name="Text 22"/>
          <p:cNvSpPr/>
          <p:nvPr/>
        </p:nvSpPr>
        <p:spPr>
          <a:xfrm>
            <a:off x="5980176" y="1883664"/>
            <a:ext cx="402336" cy="256032"/>
          </a:xfrm>
          <a:prstGeom prst="rect">
            <a:avLst/>
          </a:prstGeom>
          <a:noFill/>
          <a:ln/>
        </p:spPr>
        <p:txBody>
          <a:bodyPr wrap="square" lIns="0" tIns="0" rIns="0" bIns="0" rtlCol="0" anchor="ctr"/>
          <a:lstStyle/>
          <a:p>
            <a:pPr algn="ctr" indent="0" marL="0">
              <a:buNone/>
            </a:pPr>
            <a:r>
              <a:rPr lang="en-US" sz="1200" b="1" dirty="0">
                <a:solidFill>
                  <a:srgbClr val="08080F"/>
                </a:solidFill>
                <a:latin typeface="Calibri" pitchFamily="34" charset="0"/>
                <a:ea typeface="Calibri" pitchFamily="34" charset="-122"/>
                <a:cs typeface="Calibri" pitchFamily="34" charset="-120"/>
              </a:rPr>
              <a:t>V</a:t>
            </a:r>
            <a:endParaRPr lang="en-US" sz="1200" dirty="0"/>
          </a:p>
        </p:txBody>
      </p:sp>
      <p:sp>
        <p:nvSpPr>
          <p:cNvPr id="25" name="Text 23"/>
          <p:cNvSpPr/>
          <p:nvPr/>
        </p:nvSpPr>
        <p:spPr>
          <a:xfrm>
            <a:off x="5961888" y="2304288"/>
            <a:ext cx="2231136" cy="36576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Pour la ville</a:t>
            </a:r>
            <a:endParaRPr lang="en-US" sz="1350" dirty="0"/>
          </a:p>
        </p:txBody>
      </p:sp>
      <p:sp>
        <p:nvSpPr>
          <p:cNvPr id="26" name="Text 24"/>
          <p:cNvSpPr/>
          <p:nvPr/>
        </p:nvSpPr>
        <p:spPr>
          <a:xfrm>
            <a:off x="5961888" y="2743200"/>
            <a:ext cx="2231136" cy="1234440"/>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Cette economie, qui represente l'essentiel de l'activite quotidienne, reste non mesuree, non connectee, hors des circuits formels.</a:t>
            </a:r>
            <a:endParaRPr lang="en-US" sz="1050" dirty="0"/>
          </a:p>
        </p:txBody>
      </p:sp>
      <p:sp>
        <p:nvSpPr>
          <p:cNvPr id="27" name="Shape 25"/>
          <p:cNvSpPr/>
          <p:nvPr/>
        </p:nvSpPr>
        <p:spPr>
          <a:xfrm>
            <a:off x="5961888" y="4005072"/>
            <a:ext cx="2231136" cy="22860"/>
          </a:xfrm>
          <a:prstGeom prst="rect">
            <a:avLst/>
          </a:prstGeom>
          <a:solidFill>
            <a:srgbClr val="34D399">
              <a:alpha val="35000"/>
            </a:srgbClr>
          </a:solidFill>
          <a:ln w="12700">
            <a:solidFill>
              <a:srgbClr val="333333"/>
            </a:solidFill>
            <a:prstDash val="solid"/>
          </a:ln>
        </p:spPr>
      </p:sp>
      <p:sp>
        <p:nvSpPr>
          <p:cNvPr id="28" name="Text 26"/>
          <p:cNvSpPr/>
          <p:nvPr/>
        </p:nvSpPr>
        <p:spPr>
          <a:xfrm>
            <a:off x="5961888" y="4059936"/>
            <a:ext cx="2231136" cy="548640"/>
          </a:xfrm>
          <a:prstGeom prst="rect">
            <a:avLst/>
          </a:prstGeom>
          <a:noFill/>
          <a:ln/>
        </p:spPr>
        <p:txBody>
          <a:bodyPr wrap="square" lIns="0" tIns="0" rIns="0" bIns="0" rtlCol="0" anchor="ctr"/>
          <a:lstStyle/>
          <a:p>
            <a:pPr algn="l" indent="0" marL="0">
              <a:buNone/>
            </a:pPr>
            <a:r>
              <a:rPr lang="en-US" sz="950" i="1" dirty="0">
                <a:solidFill>
                  <a:srgbClr val="34D399"/>
                </a:solidFill>
                <a:latin typeface="Calibri" pitchFamily="34" charset="0"/>
                <a:ea typeface="Calibri" pitchFamily="34" charset="-122"/>
                <a:cs typeface="Calibri" pitchFamily="34" charset="-120"/>
              </a:rPr>
              <a:t>Croissance invisible. Potentiel inexploite.</a:t>
            </a:r>
            <a:endParaRPr lang="en-US" sz="950" dirty="0"/>
          </a:p>
        </p:txBody>
      </p:sp>
      <p:sp>
        <p:nvSpPr>
          <p:cNvPr id="29" name="Text 27"/>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30" name="Text 28"/>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03 / 10</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LA SOLUTION</a:t>
            </a:r>
            <a:endParaRPr lang="en-US" sz="900" dirty="0"/>
          </a:p>
        </p:txBody>
      </p:sp>
      <p:sp>
        <p:nvSpPr>
          <p:cNvPr id="7" name="Text 5"/>
          <p:cNvSpPr/>
          <p:nvPr/>
        </p:nvSpPr>
        <p:spPr>
          <a:xfrm>
            <a:off x="457200" y="960120"/>
            <a:ext cx="5120640" cy="512064"/>
          </a:xfrm>
          <a:prstGeom prst="rect">
            <a:avLst/>
          </a:prstGeom>
          <a:noFill/>
          <a:ln/>
        </p:spPr>
        <p:txBody>
          <a:bodyPr wrap="square" lIns="0" tIns="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Omni indexe tout ce qui existe autour de vous.</a:t>
            </a:r>
            <a:endParaRPr lang="en-US" sz="2700" dirty="0"/>
          </a:p>
        </p:txBody>
      </p:sp>
      <p:sp>
        <p:nvSpPr>
          <p:cNvPr id="8" name="Text 6"/>
          <p:cNvSpPr/>
          <p:nvPr/>
        </p:nvSpPr>
        <p:spPr>
          <a:xfrm>
            <a:off x="457200" y="1572768"/>
            <a:ext cx="4754880" cy="1005840"/>
          </a:xfrm>
          <a:prstGeom prst="rect">
            <a:avLst/>
          </a:prstGeom>
          <a:noFill/>
          <a:ln/>
        </p:spPr>
        <p:txBody>
          <a:bodyPr wrap="square" lIns="0" tIns="0" rIns="0" bIns="0" rtlCol="0" anchor="ctr"/>
          <a:lstStyle/>
          <a:p>
            <a:pPr algn="l" indent="0" marL="0">
              <a:buNone/>
            </a:pPr>
            <a:r>
              <a:rPr lang="en-US" sz="1350" dirty="0">
                <a:solidFill>
                  <a:srgbClr val="94A3B8"/>
                </a:solidFill>
                <a:latin typeface="Calibri" pitchFamily="34" charset="0"/>
                <a:ea typeface="Calibri" pitchFamily="34" charset="-122"/>
                <a:cs typeface="Calibri" pitchFamily="34" charset="-120"/>
              </a:rPr>
              <a:t>Marches, boutiques, artisans, prestataires, sur une carte. En un clic, vous voyez ce qui est disponible, ou, a quel prix. Et le commercant, pour la premiere fois, devient visible.</a:t>
            </a:r>
            <a:endParaRPr lang="en-US" sz="1350" dirty="0"/>
          </a:p>
        </p:txBody>
      </p:sp>
      <p:sp>
        <p:nvSpPr>
          <p:cNvPr id="9" name="Shape 7"/>
          <p:cNvSpPr/>
          <p:nvPr/>
        </p:nvSpPr>
        <p:spPr>
          <a:xfrm>
            <a:off x="502920" y="2825496"/>
            <a:ext cx="237744" cy="237744"/>
          </a:xfrm>
          <a:prstGeom prst="ellipse">
            <a:avLst/>
          </a:prstGeom>
          <a:solidFill>
            <a:srgbClr val="10B981"/>
          </a:solidFill>
          <a:ln w="12700">
            <a:solidFill>
              <a:srgbClr val="10B981"/>
            </a:solidFill>
            <a:prstDash val="solid"/>
          </a:ln>
        </p:spPr>
      </p:sp>
      <p:sp>
        <p:nvSpPr>
          <p:cNvPr id="10" name="Text 8"/>
          <p:cNvSpPr/>
          <p:nvPr/>
        </p:nvSpPr>
        <p:spPr>
          <a:xfrm>
            <a:off x="822960" y="2798064"/>
            <a:ext cx="3657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L'acheteur cherche</a:t>
            </a:r>
            <a:endParaRPr lang="en-US" sz="1200" dirty="0"/>
          </a:p>
        </p:txBody>
      </p:sp>
      <p:sp>
        <p:nvSpPr>
          <p:cNvPr id="11" name="Text 9"/>
          <p:cNvSpPr/>
          <p:nvPr/>
        </p:nvSpPr>
        <p:spPr>
          <a:xfrm>
            <a:off x="822960" y="3054096"/>
            <a:ext cx="3657600" cy="329184"/>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Texte ou voix. Filtre par proximite, categorie, prix.</a:t>
            </a:r>
            <a:endParaRPr lang="en-US" sz="1050" dirty="0"/>
          </a:p>
        </p:txBody>
      </p:sp>
      <p:sp>
        <p:nvSpPr>
          <p:cNvPr id="12" name="Shape 10"/>
          <p:cNvSpPr/>
          <p:nvPr/>
        </p:nvSpPr>
        <p:spPr>
          <a:xfrm>
            <a:off x="4709160" y="2825496"/>
            <a:ext cx="237744" cy="237744"/>
          </a:xfrm>
          <a:prstGeom prst="ellipse">
            <a:avLst/>
          </a:prstGeom>
          <a:solidFill>
            <a:srgbClr val="34D399"/>
          </a:solidFill>
          <a:ln w="12700">
            <a:solidFill>
              <a:srgbClr val="34D399"/>
            </a:solidFill>
            <a:prstDash val="solid"/>
          </a:ln>
        </p:spPr>
      </p:sp>
      <p:sp>
        <p:nvSpPr>
          <p:cNvPr id="13" name="Text 11"/>
          <p:cNvSpPr/>
          <p:nvPr/>
        </p:nvSpPr>
        <p:spPr>
          <a:xfrm>
            <a:off x="5029200" y="2798064"/>
            <a:ext cx="3657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La disponibilite confirmee</a:t>
            </a:r>
            <a:endParaRPr lang="en-US" sz="1200" dirty="0"/>
          </a:p>
        </p:txBody>
      </p:sp>
      <p:sp>
        <p:nvSpPr>
          <p:cNvPr id="14" name="Text 12"/>
          <p:cNvSpPr/>
          <p:nvPr/>
        </p:nvSpPr>
        <p:spPr>
          <a:xfrm>
            <a:off x="5029200" y="3054096"/>
            <a:ext cx="3657600" cy="329184"/>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La facilite repond OUI ou NON en temps reel.</a:t>
            </a:r>
            <a:endParaRPr lang="en-US" sz="1050" dirty="0"/>
          </a:p>
        </p:txBody>
      </p:sp>
      <p:sp>
        <p:nvSpPr>
          <p:cNvPr id="15" name="Shape 13"/>
          <p:cNvSpPr/>
          <p:nvPr/>
        </p:nvSpPr>
        <p:spPr>
          <a:xfrm>
            <a:off x="502920" y="3630168"/>
            <a:ext cx="237744" cy="237744"/>
          </a:xfrm>
          <a:prstGeom prst="ellipse">
            <a:avLst/>
          </a:prstGeom>
          <a:solidFill>
            <a:srgbClr val="0D9488"/>
          </a:solidFill>
          <a:ln w="12700">
            <a:solidFill>
              <a:srgbClr val="0D9488"/>
            </a:solidFill>
            <a:prstDash val="solid"/>
          </a:ln>
        </p:spPr>
      </p:sp>
      <p:sp>
        <p:nvSpPr>
          <p:cNvPr id="16" name="Text 14"/>
          <p:cNvSpPr/>
          <p:nvPr/>
        </p:nvSpPr>
        <p:spPr>
          <a:xfrm>
            <a:off x="822960" y="3602736"/>
            <a:ext cx="3657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Le paiement securise</a:t>
            </a:r>
            <a:endParaRPr lang="en-US" sz="1200" dirty="0"/>
          </a:p>
        </p:txBody>
      </p:sp>
      <p:sp>
        <p:nvSpPr>
          <p:cNvPr id="17" name="Text 15"/>
          <p:cNvSpPr/>
          <p:nvPr/>
        </p:nvSpPr>
        <p:spPr>
          <a:xfrm>
            <a:off x="822960" y="3858768"/>
            <a:ext cx="3657600" cy="329184"/>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Mobile Money. Escrow jusqu'a livraison confirmee.</a:t>
            </a:r>
            <a:endParaRPr lang="en-US" sz="1050" dirty="0"/>
          </a:p>
        </p:txBody>
      </p:sp>
      <p:sp>
        <p:nvSpPr>
          <p:cNvPr id="18" name="Shape 16"/>
          <p:cNvSpPr/>
          <p:nvPr/>
        </p:nvSpPr>
        <p:spPr>
          <a:xfrm>
            <a:off x="4709160" y="3630168"/>
            <a:ext cx="237744" cy="237744"/>
          </a:xfrm>
          <a:prstGeom prst="ellipse">
            <a:avLst/>
          </a:prstGeom>
          <a:solidFill>
            <a:srgbClr val="10B981"/>
          </a:solidFill>
          <a:ln w="12700">
            <a:solidFill>
              <a:srgbClr val="10B981"/>
            </a:solidFill>
            <a:prstDash val="solid"/>
          </a:ln>
        </p:spPr>
      </p:sp>
      <p:sp>
        <p:nvSpPr>
          <p:cNvPr id="19" name="Text 17"/>
          <p:cNvSpPr/>
          <p:nvPr/>
        </p:nvSpPr>
        <p:spPr>
          <a:xfrm>
            <a:off x="5029200" y="3602736"/>
            <a:ext cx="3657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La livraison ouverte</a:t>
            </a:r>
            <a:endParaRPr lang="en-US" sz="1200" dirty="0"/>
          </a:p>
        </p:txBody>
      </p:sp>
      <p:sp>
        <p:nvSpPr>
          <p:cNvPr id="20" name="Text 18"/>
          <p:cNvSpPr/>
          <p:nvPr/>
        </p:nvSpPr>
        <p:spPr>
          <a:xfrm>
            <a:off x="5029200" y="3858768"/>
            <a:ext cx="3657600" cy="329184"/>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Tout le monde peut livrer sur son trajet quotidien.</a:t>
            </a:r>
            <a:endParaRPr lang="en-US" sz="1050" dirty="0"/>
          </a:p>
        </p:txBody>
      </p:sp>
      <p:sp>
        <p:nvSpPr>
          <p:cNvPr id="21" name="Shape 19"/>
          <p:cNvSpPr/>
          <p:nvPr/>
        </p:nvSpPr>
        <p:spPr>
          <a:xfrm>
            <a:off x="5230368" y="960120"/>
            <a:ext cx="3438144" cy="3803904"/>
          </a:xfrm>
          <a:prstGeom prst="roundRect">
            <a:avLst>
              <a:gd name="adj" fmla="val 2128"/>
            </a:avLst>
          </a:prstGeom>
          <a:solidFill>
            <a:srgbClr val="0D1420"/>
          </a:solidFill>
          <a:ln w="6350">
            <a:solidFill>
              <a:srgbClr val="10B981">
                <a:alpha val="30000"/>
              </a:srgbClr>
            </a:solidFill>
            <a:prstDash val="solid"/>
          </a:ln>
        </p:spPr>
      </p:sp>
      <p:sp>
        <p:nvSpPr>
          <p:cNvPr id="22" name="Shape 20"/>
          <p:cNvSpPr/>
          <p:nvPr/>
        </p:nvSpPr>
        <p:spPr>
          <a:xfrm>
            <a:off x="5650992" y="1298448"/>
            <a:ext cx="2596896" cy="694944"/>
          </a:xfrm>
          <a:prstGeom prst="roundRect">
            <a:avLst>
              <a:gd name="adj" fmla="val 7895"/>
            </a:avLst>
          </a:prstGeom>
          <a:solidFill>
            <a:srgbClr val="34D399">
              <a:alpha val="15000"/>
            </a:srgbClr>
          </a:solidFill>
          <a:ln w="7620">
            <a:solidFill>
              <a:srgbClr val="34D399"/>
            </a:solidFill>
            <a:prstDash val="solid"/>
          </a:ln>
        </p:spPr>
      </p:sp>
      <p:sp>
        <p:nvSpPr>
          <p:cNvPr id="23" name="Text 21"/>
          <p:cNvSpPr/>
          <p:nvPr/>
        </p:nvSpPr>
        <p:spPr>
          <a:xfrm>
            <a:off x="5724144" y="1335024"/>
            <a:ext cx="245059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ACHETEUR</a:t>
            </a:r>
            <a:endParaRPr lang="en-US" sz="1050" dirty="0"/>
          </a:p>
        </p:txBody>
      </p:sp>
      <p:sp>
        <p:nvSpPr>
          <p:cNvPr id="24" name="Text 22"/>
          <p:cNvSpPr/>
          <p:nvPr/>
        </p:nvSpPr>
        <p:spPr>
          <a:xfrm>
            <a:off x="5724144" y="1609344"/>
            <a:ext cx="2450592" cy="329184"/>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Cherche ce dont il a besoin</a:t>
            </a:r>
            <a:endParaRPr lang="en-US" sz="850" dirty="0"/>
          </a:p>
        </p:txBody>
      </p:sp>
      <p:sp>
        <p:nvSpPr>
          <p:cNvPr id="25" name="Shape 23"/>
          <p:cNvSpPr/>
          <p:nvPr/>
        </p:nvSpPr>
        <p:spPr>
          <a:xfrm>
            <a:off x="6912864" y="2084832"/>
            <a:ext cx="73152" cy="73152"/>
          </a:xfrm>
          <a:prstGeom prst="ellipse">
            <a:avLst/>
          </a:prstGeom>
          <a:solidFill>
            <a:srgbClr val="34D399"/>
          </a:solidFill>
          <a:ln w="12700">
            <a:solidFill>
              <a:srgbClr val="34D399"/>
            </a:solidFill>
            <a:prstDash val="solid"/>
          </a:ln>
        </p:spPr>
      </p:sp>
      <p:sp>
        <p:nvSpPr>
          <p:cNvPr id="26" name="Shape 24"/>
          <p:cNvSpPr/>
          <p:nvPr/>
        </p:nvSpPr>
        <p:spPr>
          <a:xfrm>
            <a:off x="6912864" y="2212848"/>
            <a:ext cx="73152" cy="73152"/>
          </a:xfrm>
          <a:prstGeom prst="ellipse">
            <a:avLst/>
          </a:prstGeom>
          <a:solidFill>
            <a:srgbClr val="34D399"/>
          </a:solidFill>
          <a:ln w="12700">
            <a:solidFill>
              <a:srgbClr val="34D399"/>
            </a:solidFill>
            <a:prstDash val="solid"/>
          </a:ln>
        </p:spPr>
      </p:sp>
      <p:sp>
        <p:nvSpPr>
          <p:cNvPr id="27" name="Shape 25"/>
          <p:cNvSpPr/>
          <p:nvPr/>
        </p:nvSpPr>
        <p:spPr>
          <a:xfrm>
            <a:off x="6912864" y="2340864"/>
            <a:ext cx="73152" cy="73152"/>
          </a:xfrm>
          <a:prstGeom prst="ellipse">
            <a:avLst/>
          </a:prstGeom>
          <a:solidFill>
            <a:srgbClr val="34D399"/>
          </a:solidFill>
          <a:ln w="12700">
            <a:solidFill>
              <a:srgbClr val="34D399"/>
            </a:solidFill>
            <a:prstDash val="solid"/>
          </a:ln>
        </p:spPr>
      </p:sp>
      <p:sp>
        <p:nvSpPr>
          <p:cNvPr id="28" name="Shape 26"/>
          <p:cNvSpPr/>
          <p:nvPr/>
        </p:nvSpPr>
        <p:spPr>
          <a:xfrm>
            <a:off x="5650992" y="2304288"/>
            <a:ext cx="2596896" cy="694944"/>
          </a:xfrm>
          <a:prstGeom prst="roundRect">
            <a:avLst>
              <a:gd name="adj" fmla="val 7895"/>
            </a:avLst>
          </a:prstGeom>
          <a:solidFill>
            <a:srgbClr val="10B981">
              <a:alpha val="90000"/>
            </a:srgbClr>
          </a:solidFill>
          <a:ln w="7620">
            <a:solidFill>
              <a:srgbClr val="10B981"/>
            </a:solidFill>
            <a:prstDash val="solid"/>
          </a:ln>
        </p:spPr>
      </p:sp>
      <p:sp>
        <p:nvSpPr>
          <p:cNvPr id="29" name="Text 27"/>
          <p:cNvSpPr/>
          <p:nvPr/>
        </p:nvSpPr>
        <p:spPr>
          <a:xfrm>
            <a:off x="5724144" y="2340864"/>
            <a:ext cx="2450592" cy="274320"/>
          </a:xfrm>
          <a:prstGeom prst="rect">
            <a:avLst/>
          </a:prstGeom>
          <a:noFill/>
          <a:ln/>
        </p:spPr>
        <p:txBody>
          <a:bodyPr wrap="square" lIns="0" tIns="0" rIns="0" bIns="0" rtlCol="0" anchor="ctr"/>
          <a:lstStyle/>
          <a:p>
            <a:pPr algn="ctr" indent="0" marL="0">
              <a:buNone/>
            </a:pPr>
            <a:r>
              <a:rPr lang="en-US" sz="1050" b="1" dirty="0">
                <a:solidFill>
                  <a:srgbClr val="08080F"/>
                </a:solidFill>
                <a:latin typeface="Calibri" pitchFamily="34" charset="0"/>
                <a:ea typeface="Calibri" pitchFamily="34" charset="-122"/>
                <a:cs typeface="Calibri" pitchFamily="34" charset="-120"/>
              </a:rPr>
              <a:t>OMNI INDEX</a:t>
            </a:r>
            <a:endParaRPr lang="en-US" sz="1050" dirty="0"/>
          </a:p>
        </p:txBody>
      </p:sp>
      <p:sp>
        <p:nvSpPr>
          <p:cNvPr id="30" name="Text 28"/>
          <p:cNvSpPr/>
          <p:nvPr/>
        </p:nvSpPr>
        <p:spPr>
          <a:xfrm>
            <a:off x="5724144" y="2615184"/>
            <a:ext cx="2450592" cy="329184"/>
          </a:xfrm>
          <a:prstGeom prst="rect">
            <a:avLst/>
          </a:prstGeom>
          <a:noFill/>
          <a:ln/>
        </p:spPr>
        <p:txBody>
          <a:bodyPr wrap="square" lIns="0" tIns="0" rIns="0" bIns="0" rtlCol="0" anchor="ctr"/>
          <a:lstStyle/>
          <a:p>
            <a:pPr algn="ctr" indent="0" marL="0">
              <a:buNone/>
            </a:pPr>
            <a:r>
              <a:rPr lang="en-US" sz="850" dirty="0">
                <a:solidFill>
                  <a:srgbClr val="08080F"/>
                </a:solidFill>
                <a:latin typeface="Calibri" pitchFamily="34" charset="0"/>
                <a:ea typeface="Calibri" pitchFamily="34" charset="-122"/>
                <a:cs typeface="Calibri" pitchFamily="34" charset="-120"/>
              </a:rPr>
              <a:t>Facilites cartographiees</a:t>
            </a:r>
            <a:endParaRPr lang="en-US" sz="850" dirty="0"/>
          </a:p>
          <a:p>
            <a:pPr algn="ctr" indent="0" marL="0">
              <a:buNone/>
            </a:pPr>
            <a:r>
              <a:rPr lang="en-US" sz="850" dirty="0">
                <a:solidFill>
                  <a:srgbClr val="08080F"/>
                </a:solidFill>
                <a:latin typeface="Calibri" pitchFamily="34" charset="0"/>
                <a:ea typeface="Calibri" pitchFamily="34" charset="-122"/>
                <a:cs typeface="Calibri" pitchFamily="34" charset="-120"/>
              </a:rPr>
              <a:t>prix, distance, disponibilite</a:t>
            </a:r>
            <a:endParaRPr lang="en-US" sz="850" dirty="0"/>
          </a:p>
        </p:txBody>
      </p:sp>
      <p:sp>
        <p:nvSpPr>
          <p:cNvPr id="31" name="Shape 29"/>
          <p:cNvSpPr/>
          <p:nvPr/>
        </p:nvSpPr>
        <p:spPr>
          <a:xfrm>
            <a:off x="6912864" y="3090672"/>
            <a:ext cx="73152" cy="73152"/>
          </a:xfrm>
          <a:prstGeom prst="ellipse">
            <a:avLst/>
          </a:prstGeom>
          <a:solidFill>
            <a:srgbClr val="10B981"/>
          </a:solidFill>
          <a:ln w="12700">
            <a:solidFill>
              <a:srgbClr val="10B981"/>
            </a:solidFill>
            <a:prstDash val="solid"/>
          </a:ln>
        </p:spPr>
      </p:sp>
      <p:sp>
        <p:nvSpPr>
          <p:cNvPr id="32" name="Shape 30"/>
          <p:cNvSpPr/>
          <p:nvPr/>
        </p:nvSpPr>
        <p:spPr>
          <a:xfrm>
            <a:off x="6912864" y="3218688"/>
            <a:ext cx="73152" cy="73152"/>
          </a:xfrm>
          <a:prstGeom prst="ellipse">
            <a:avLst/>
          </a:prstGeom>
          <a:solidFill>
            <a:srgbClr val="10B981"/>
          </a:solidFill>
          <a:ln w="12700">
            <a:solidFill>
              <a:srgbClr val="10B981"/>
            </a:solidFill>
            <a:prstDash val="solid"/>
          </a:ln>
        </p:spPr>
      </p:sp>
      <p:sp>
        <p:nvSpPr>
          <p:cNvPr id="33" name="Shape 31"/>
          <p:cNvSpPr/>
          <p:nvPr/>
        </p:nvSpPr>
        <p:spPr>
          <a:xfrm>
            <a:off x="6912864" y="3346704"/>
            <a:ext cx="73152" cy="73152"/>
          </a:xfrm>
          <a:prstGeom prst="ellipse">
            <a:avLst/>
          </a:prstGeom>
          <a:solidFill>
            <a:srgbClr val="10B981"/>
          </a:solidFill>
          <a:ln w="12700">
            <a:solidFill>
              <a:srgbClr val="10B981"/>
            </a:solidFill>
            <a:prstDash val="solid"/>
          </a:ln>
        </p:spPr>
      </p:sp>
      <p:sp>
        <p:nvSpPr>
          <p:cNvPr id="34" name="Shape 32"/>
          <p:cNvSpPr/>
          <p:nvPr/>
        </p:nvSpPr>
        <p:spPr>
          <a:xfrm>
            <a:off x="5650992" y="3310128"/>
            <a:ext cx="2596896" cy="694944"/>
          </a:xfrm>
          <a:prstGeom prst="roundRect">
            <a:avLst>
              <a:gd name="adj" fmla="val 7895"/>
            </a:avLst>
          </a:prstGeom>
          <a:solidFill>
            <a:srgbClr val="0D9488">
              <a:alpha val="15000"/>
            </a:srgbClr>
          </a:solidFill>
          <a:ln w="7620">
            <a:solidFill>
              <a:srgbClr val="0D9488"/>
            </a:solidFill>
            <a:prstDash val="solid"/>
          </a:ln>
        </p:spPr>
      </p:sp>
      <p:sp>
        <p:nvSpPr>
          <p:cNvPr id="35" name="Text 33"/>
          <p:cNvSpPr/>
          <p:nvPr/>
        </p:nvSpPr>
        <p:spPr>
          <a:xfrm>
            <a:off x="5724144" y="3346704"/>
            <a:ext cx="245059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COMMERCANT</a:t>
            </a:r>
            <a:endParaRPr lang="en-US" sz="1050" dirty="0"/>
          </a:p>
        </p:txBody>
      </p:sp>
      <p:sp>
        <p:nvSpPr>
          <p:cNvPr id="36" name="Text 34"/>
          <p:cNvSpPr/>
          <p:nvPr/>
        </p:nvSpPr>
        <p:spPr>
          <a:xfrm>
            <a:off x="5724144" y="3621024"/>
            <a:ext cx="2450592" cy="329184"/>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Visible. Trouvable.</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Pour la premiere fois.</a:t>
            </a:r>
            <a:endParaRPr lang="en-US" sz="850" dirty="0"/>
          </a:p>
        </p:txBody>
      </p:sp>
      <p:sp>
        <p:nvSpPr>
          <p:cNvPr id="37" name="Text 35"/>
          <p:cNvSpPr/>
          <p:nvPr/>
        </p:nvSpPr>
        <p:spPr>
          <a:xfrm>
            <a:off x="5321808" y="4480560"/>
            <a:ext cx="3255264" cy="219456"/>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omni-try.vercel.app</a:t>
            </a:r>
            <a:endParaRPr lang="en-US" sz="850" dirty="0"/>
          </a:p>
        </p:txBody>
      </p:sp>
      <p:sp>
        <p:nvSpPr>
          <p:cNvPr id="38" name="Text 36"/>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39" name="Text 37"/>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04 / 10</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LE MARCHE</a:t>
            </a:r>
            <a:endParaRPr lang="en-US" sz="900" dirty="0"/>
          </a:p>
        </p:txBody>
      </p:sp>
      <p:sp>
        <p:nvSpPr>
          <p:cNvPr id="7" name="Text 5"/>
          <p:cNvSpPr/>
          <p:nvPr/>
        </p:nvSpPr>
        <p:spPr>
          <a:xfrm>
            <a:off x="457200" y="969264"/>
            <a:ext cx="8229600" cy="4572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Lome, 1,5 million d'habitants. Notre maison. Notre premier terrain.</a:t>
            </a:r>
            <a:endParaRPr lang="en-US" sz="2200" dirty="0"/>
          </a:p>
        </p:txBody>
      </p:sp>
      <p:sp>
        <p:nvSpPr>
          <p:cNvPr id="8" name="Shape 6"/>
          <p:cNvSpPr/>
          <p:nvPr/>
        </p:nvSpPr>
        <p:spPr>
          <a:xfrm>
            <a:off x="457200" y="1554480"/>
            <a:ext cx="1874520" cy="2304288"/>
          </a:xfrm>
          <a:prstGeom prst="roundRect">
            <a:avLst>
              <a:gd name="adj" fmla="val 3902"/>
            </a:avLst>
          </a:prstGeom>
          <a:solidFill>
            <a:srgbClr val="0D1420"/>
          </a:solidFill>
          <a:ln w="6350">
            <a:solidFill>
              <a:srgbClr val="10B981">
                <a:alpha val="30000"/>
              </a:srgbClr>
            </a:solidFill>
            <a:prstDash val="solid"/>
          </a:ln>
        </p:spPr>
      </p:sp>
      <p:sp>
        <p:nvSpPr>
          <p:cNvPr id="9" name="Text 7"/>
          <p:cNvSpPr/>
          <p:nvPr/>
        </p:nvSpPr>
        <p:spPr>
          <a:xfrm>
            <a:off x="548640" y="1737360"/>
            <a:ext cx="1691640" cy="804672"/>
          </a:xfrm>
          <a:prstGeom prst="rect">
            <a:avLst/>
          </a:prstGeom>
          <a:noFill/>
          <a:ln/>
        </p:spPr>
        <p:txBody>
          <a:bodyPr wrap="square" lIns="0" tIns="0" rIns="0" bIns="0" rtlCol="0" anchor="ctr"/>
          <a:lstStyle/>
          <a:p>
            <a:pPr algn="ctr" indent="0" marL="0">
              <a:buNone/>
            </a:pPr>
            <a:r>
              <a:rPr lang="en-US" sz="3400" b="1" dirty="0">
                <a:solidFill>
                  <a:srgbClr val="10B981"/>
                </a:solidFill>
                <a:latin typeface="Calibri" pitchFamily="34" charset="0"/>
                <a:ea typeface="Calibri" pitchFamily="34" charset="-122"/>
                <a:cs typeface="Calibri" pitchFamily="34" charset="-120"/>
              </a:rPr>
              <a:t>50 000+</a:t>
            </a:r>
            <a:endParaRPr lang="en-US" sz="3400" dirty="0"/>
          </a:p>
        </p:txBody>
      </p:sp>
      <p:sp>
        <p:nvSpPr>
          <p:cNvPr id="10" name="Shape 8"/>
          <p:cNvSpPr/>
          <p:nvPr/>
        </p:nvSpPr>
        <p:spPr>
          <a:xfrm>
            <a:off x="640080" y="2578608"/>
            <a:ext cx="1508760" cy="22860"/>
          </a:xfrm>
          <a:prstGeom prst="rect">
            <a:avLst/>
          </a:prstGeom>
          <a:solidFill>
            <a:srgbClr val="10B981">
              <a:alpha val="35000"/>
            </a:srgbClr>
          </a:solidFill>
          <a:ln w="12700">
            <a:solidFill>
              <a:srgbClr val="333333"/>
            </a:solidFill>
            <a:prstDash val="solid"/>
          </a:ln>
        </p:spPr>
      </p:sp>
      <p:sp>
        <p:nvSpPr>
          <p:cNvPr id="11" name="Text 9"/>
          <p:cNvSpPr/>
          <p:nvPr/>
        </p:nvSpPr>
        <p:spPr>
          <a:xfrm>
            <a:off x="548640" y="2651760"/>
            <a:ext cx="1691640" cy="10058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Commercants et prestataires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dans le Grand Lome</a:t>
            </a:r>
            <a:endParaRPr lang="en-US" sz="1000" dirty="0"/>
          </a:p>
        </p:txBody>
      </p:sp>
      <p:sp>
        <p:nvSpPr>
          <p:cNvPr id="12" name="Shape 10"/>
          <p:cNvSpPr/>
          <p:nvPr/>
        </p:nvSpPr>
        <p:spPr>
          <a:xfrm>
            <a:off x="2450592" y="1554480"/>
            <a:ext cx="1874520" cy="2304288"/>
          </a:xfrm>
          <a:prstGeom prst="roundRect">
            <a:avLst>
              <a:gd name="adj" fmla="val 3902"/>
            </a:avLst>
          </a:prstGeom>
          <a:solidFill>
            <a:srgbClr val="0D1420"/>
          </a:solidFill>
          <a:ln w="6350">
            <a:solidFill>
              <a:srgbClr val="10B981">
                <a:alpha val="30000"/>
              </a:srgbClr>
            </a:solidFill>
            <a:prstDash val="solid"/>
          </a:ln>
        </p:spPr>
      </p:sp>
      <p:sp>
        <p:nvSpPr>
          <p:cNvPr id="13" name="Text 11"/>
          <p:cNvSpPr/>
          <p:nvPr/>
        </p:nvSpPr>
        <p:spPr>
          <a:xfrm>
            <a:off x="2542032" y="1737360"/>
            <a:ext cx="1691640" cy="804672"/>
          </a:xfrm>
          <a:prstGeom prst="rect">
            <a:avLst/>
          </a:prstGeom>
          <a:noFill/>
          <a:ln/>
        </p:spPr>
        <p:txBody>
          <a:bodyPr wrap="square" lIns="0" tIns="0" rIns="0" bIns="0" rtlCol="0" anchor="ctr"/>
          <a:lstStyle/>
          <a:p>
            <a:pPr algn="ctr" indent="0" marL="0">
              <a:buNone/>
            </a:pPr>
            <a:r>
              <a:rPr lang="en-US" sz="3400" b="1" dirty="0">
                <a:solidFill>
                  <a:srgbClr val="34D399"/>
                </a:solidFill>
                <a:latin typeface="Calibri" pitchFamily="34" charset="0"/>
                <a:ea typeface="Calibri" pitchFamily="34" charset="-122"/>
                <a:cs typeface="Calibri" pitchFamily="34" charset="-120"/>
              </a:rPr>
              <a:t>1,5 M+</a:t>
            </a:r>
            <a:endParaRPr lang="en-US" sz="3400" dirty="0"/>
          </a:p>
        </p:txBody>
      </p:sp>
      <p:sp>
        <p:nvSpPr>
          <p:cNvPr id="14" name="Shape 12"/>
          <p:cNvSpPr/>
          <p:nvPr/>
        </p:nvSpPr>
        <p:spPr>
          <a:xfrm>
            <a:off x="2633472" y="2578608"/>
            <a:ext cx="1508760" cy="22860"/>
          </a:xfrm>
          <a:prstGeom prst="rect">
            <a:avLst/>
          </a:prstGeom>
          <a:solidFill>
            <a:srgbClr val="34D399">
              <a:alpha val="35000"/>
            </a:srgbClr>
          </a:solidFill>
          <a:ln w="12700">
            <a:solidFill>
              <a:srgbClr val="333333"/>
            </a:solidFill>
            <a:prstDash val="solid"/>
          </a:ln>
        </p:spPr>
      </p:sp>
      <p:sp>
        <p:nvSpPr>
          <p:cNvPr id="15" name="Text 13"/>
          <p:cNvSpPr/>
          <p:nvPr/>
        </p:nvSpPr>
        <p:spPr>
          <a:xfrm>
            <a:off x="2542032" y="2651760"/>
            <a:ext cx="1691640" cy="10058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Habitants.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Acheteurs potentiels.</a:t>
            </a:r>
            <a:endParaRPr lang="en-US" sz="1000" dirty="0"/>
          </a:p>
        </p:txBody>
      </p:sp>
      <p:sp>
        <p:nvSpPr>
          <p:cNvPr id="16" name="Shape 14"/>
          <p:cNvSpPr/>
          <p:nvPr/>
        </p:nvSpPr>
        <p:spPr>
          <a:xfrm>
            <a:off x="4443984" y="1554480"/>
            <a:ext cx="1874520" cy="2304288"/>
          </a:xfrm>
          <a:prstGeom prst="roundRect">
            <a:avLst>
              <a:gd name="adj" fmla="val 3902"/>
            </a:avLst>
          </a:prstGeom>
          <a:solidFill>
            <a:srgbClr val="0D1420"/>
          </a:solidFill>
          <a:ln w="6350">
            <a:solidFill>
              <a:srgbClr val="10B981">
                <a:alpha val="30000"/>
              </a:srgbClr>
            </a:solidFill>
            <a:prstDash val="solid"/>
          </a:ln>
        </p:spPr>
      </p:sp>
      <p:sp>
        <p:nvSpPr>
          <p:cNvPr id="17" name="Text 15"/>
          <p:cNvSpPr/>
          <p:nvPr/>
        </p:nvSpPr>
        <p:spPr>
          <a:xfrm>
            <a:off x="4535424" y="1737360"/>
            <a:ext cx="1691640" cy="804672"/>
          </a:xfrm>
          <a:prstGeom prst="rect">
            <a:avLst/>
          </a:prstGeom>
          <a:noFill/>
          <a:ln/>
        </p:spPr>
        <p:txBody>
          <a:bodyPr wrap="square" lIns="0" tIns="0" rIns="0" bIns="0" rtlCol="0" anchor="ctr"/>
          <a:lstStyle/>
          <a:p>
            <a:pPr algn="ctr" indent="0" marL="0">
              <a:buNone/>
            </a:pPr>
            <a:r>
              <a:rPr lang="en-US" sz="3400" b="1" dirty="0">
                <a:solidFill>
                  <a:srgbClr val="0D9488"/>
                </a:solidFill>
                <a:latin typeface="Calibri" pitchFamily="34" charset="0"/>
                <a:ea typeface="Calibri" pitchFamily="34" charset="-122"/>
                <a:cs typeface="Calibri" pitchFamily="34" charset="-120"/>
              </a:rPr>
              <a:t>80%+</a:t>
            </a:r>
            <a:endParaRPr lang="en-US" sz="3400" dirty="0"/>
          </a:p>
        </p:txBody>
      </p:sp>
      <p:sp>
        <p:nvSpPr>
          <p:cNvPr id="18" name="Shape 16"/>
          <p:cNvSpPr/>
          <p:nvPr/>
        </p:nvSpPr>
        <p:spPr>
          <a:xfrm>
            <a:off x="4626864" y="2578608"/>
            <a:ext cx="1508760" cy="22860"/>
          </a:xfrm>
          <a:prstGeom prst="rect">
            <a:avLst/>
          </a:prstGeom>
          <a:solidFill>
            <a:srgbClr val="0D9488">
              <a:alpha val="35000"/>
            </a:srgbClr>
          </a:solidFill>
          <a:ln w="12700">
            <a:solidFill>
              <a:srgbClr val="333333"/>
            </a:solidFill>
            <a:prstDash val="solid"/>
          </a:ln>
        </p:spPr>
      </p:sp>
      <p:sp>
        <p:nvSpPr>
          <p:cNvPr id="19" name="Text 17"/>
          <p:cNvSpPr/>
          <p:nvPr/>
        </p:nvSpPr>
        <p:spPr>
          <a:xfrm>
            <a:off x="4535424" y="2651760"/>
            <a:ext cx="1691640" cy="10058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Taux de penetration</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smartphone en zone urbaine.</a:t>
            </a:r>
            <a:endParaRPr lang="en-US" sz="1000" dirty="0"/>
          </a:p>
        </p:txBody>
      </p:sp>
      <p:sp>
        <p:nvSpPr>
          <p:cNvPr id="20" name="Shape 18"/>
          <p:cNvSpPr/>
          <p:nvPr/>
        </p:nvSpPr>
        <p:spPr>
          <a:xfrm>
            <a:off x="6437376" y="1554480"/>
            <a:ext cx="1874520" cy="2304288"/>
          </a:xfrm>
          <a:prstGeom prst="roundRect">
            <a:avLst>
              <a:gd name="adj" fmla="val 3902"/>
            </a:avLst>
          </a:prstGeom>
          <a:solidFill>
            <a:srgbClr val="0D1420"/>
          </a:solidFill>
          <a:ln w="6350">
            <a:solidFill>
              <a:srgbClr val="10B981">
                <a:alpha val="30000"/>
              </a:srgbClr>
            </a:solidFill>
            <a:prstDash val="solid"/>
          </a:ln>
        </p:spPr>
      </p:sp>
      <p:sp>
        <p:nvSpPr>
          <p:cNvPr id="21" name="Text 19"/>
          <p:cNvSpPr/>
          <p:nvPr/>
        </p:nvSpPr>
        <p:spPr>
          <a:xfrm>
            <a:off x="6528816" y="1737360"/>
            <a:ext cx="1691640" cy="804672"/>
          </a:xfrm>
          <a:prstGeom prst="rect">
            <a:avLst/>
          </a:prstGeom>
          <a:noFill/>
          <a:ln/>
        </p:spPr>
        <p:txBody>
          <a:bodyPr wrap="square" lIns="0" tIns="0" rIns="0" bIns="0" rtlCol="0" anchor="ctr"/>
          <a:lstStyle/>
          <a:p>
            <a:pPr algn="ctr" indent="0" marL="0">
              <a:buNone/>
            </a:pPr>
            <a:r>
              <a:rPr lang="en-US" sz="3400" b="1" dirty="0">
                <a:solidFill>
                  <a:srgbClr val="10B981"/>
                </a:solidFill>
                <a:latin typeface="Calibri" pitchFamily="34" charset="0"/>
                <a:ea typeface="Calibri" pitchFamily="34" charset="-122"/>
                <a:cs typeface="Calibri" pitchFamily="34" charset="-120"/>
              </a:rPr>
              <a:t>100%</a:t>
            </a:r>
            <a:endParaRPr lang="en-US" sz="3400" dirty="0"/>
          </a:p>
        </p:txBody>
      </p:sp>
      <p:sp>
        <p:nvSpPr>
          <p:cNvPr id="22" name="Shape 20"/>
          <p:cNvSpPr/>
          <p:nvPr/>
        </p:nvSpPr>
        <p:spPr>
          <a:xfrm>
            <a:off x="6620256" y="2578608"/>
            <a:ext cx="1508760" cy="22860"/>
          </a:xfrm>
          <a:prstGeom prst="rect">
            <a:avLst/>
          </a:prstGeom>
          <a:solidFill>
            <a:srgbClr val="10B981">
              <a:alpha val="35000"/>
            </a:srgbClr>
          </a:solidFill>
          <a:ln w="12700">
            <a:solidFill>
              <a:srgbClr val="333333"/>
            </a:solidFill>
            <a:prstDash val="solid"/>
          </a:ln>
        </p:spPr>
      </p:sp>
      <p:sp>
        <p:nvSpPr>
          <p:cNvPr id="23" name="Text 21"/>
          <p:cNvSpPr/>
          <p:nvPr/>
        </p:nvSpPr>
        <p:spPr>
          <a:xfrm>
            <a:off x="6528816" y="2651760"/>
            <a:ext cx="1691640" cy="10058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Mobile Money.</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Adoption massive.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YAS + Moov.</a:t>
            </a:r>
            <a:endParaRPr lang="en-US" sz="1000" dirty="0"/>
          </a:p>
        </p:txBody>
      </p:sp>
      <p:sp>
        <p:nvSpPr>
          <p:cNvPr id="24" name="Shape 22"/>
          <p:cNvSpPr/>
          <p:nvPr/>
        </p:nvSpPr>
        <p:spPr>
          <a:xfrm>
            <a:off x="457200" y="3968496"/>
            <a:ext cx="8229600" cy="804672"/>
          </a:xfrm>
          <a:prstGeom prst="roundRect">
            <a:avLst>
              <a:gd name="adj" fmla="val 9091"/>
            </a:avLst>
          </a:prstGeom>
          <a:solidFill>
            <a:srgbClr val="0D1420"/>
          </a:solidFill>
          <a:ln w="6350">
            <a:solidFill>
              <a:srgbClr val="10B981">
                <a:alpha val="30000"/>
              </a:srgbClr>
            </a:solidFill>
            <a:prstDash val="solid"/>
          </a:ln>
        </p:spPr>
      </p:sp>
      <p:sp>
        <p:nvSpPr>
          <p:cNvPr id="25" name="Text 23"/>
          <p:cNvSpPr/>
          <p:nvPr/>
        </p:nvSpPr>
        <p:spPr>
          <a:xfrm>
            <a:off x="640080" y="4059936"/>
            <a:ext cx="2011680" cy="310896"/>
          </a:xfrm>
          <a:prstGeom prst="rect">
            <a:avLst/>
          </a:prstGeom>
          <a:noFill/>
          <a:ln/>
        </p:spPr>
        <p:txBody>
          <a:bodyPr wrap="square" lIns="0" tIns="0" rIns="0" bIns="0" rtlCol="0" anchor="ctr"/>
          <a:lstStyle/>
          <a:p>
            <a:pPr algn="l" indent="0" marL="0">
              <a:buNone/>
            </a:pPr>
            <a:r>
              <a:rPr lang="en-US" sz="1200" b="1" dirty="0">
                <a:solidFill>
                  <a:srgbClr val="10B981"/>
                </a:solidFill>
                <a:latin typeface="Calibri" pitchFamily="34" charset="0"/>
                <a:ea typeface="Calibri" pitchFamily="34" charset="-122"/>
                <a:cs typeface="Calibri" pitchFamily="34" charset="-120"/>
              </a:rPr>
              <a:t>Pourquoi Lome ?</a:t>
            </a:r>
            <a:endParaRPr lang="en-US" sz="1200" dirty="0"/>
          </a:p>
        </p:txBody>
      </p:sp>
      <p:sp>
        <p:nvSpPr>
          <p:cNvPr id="26" name="Text 24"/>
          <p:cNvSpPr/>
          <p:nvPr/>
        </p:nvSpPr>
        <p:spPr>
          <a:xfrm>
            <a:off x="2743200" y="4059936"/>
            <a:ext cx="6400800" cy="621792"/>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C'est tout bonnement notre maison. C'est de la que tout a commence. Lome est dense, mobile-first, avec une economie informelle qui represente l'essentiel du commerce quotidien. Et c'est un modele replicable : ville par ville, en Afrique de l'Ouest.</a:t>
            </a:r>
            <a:endParaRPr lang="en-US" sz="1050" dirty="0"/>
          </a:p>
        </p:txBody>
      </p:sp>
      <p:sp>
        <p:nvSpPr>
          <p:cNvPr id="27" name="Text 25"/>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28" name="Text 26"/>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05 / 10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LE PRODUIT</a:t>
            </a:r>
            <a:endParaRPr lang="en-US" sz="900" dirty="0"/>
          </a:p>
        </p:txBody>
      </p:sp>
      <p:sp>
        <p:nvSpPr>
          <p:cNvPr id="7" name="Text 5"/>
          <p:cNvSpPr/>
          <p:nvPr/>
        </p:nvSpPr>
        <p:spPr>
          <a:xfrm>
            <a:off x="457200" y="969264"/>
            <a:ext cx="5486400" cy="4572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MVP fonctionnel. Deploye. Pret a l'echelle.</a:t>
            </a:r>
            <a:endParaRPr lang="en-US" sz="2800" dirty="0"/>
          </a:p>
        </p:txBody>
      </p:sp>
      <p:sp>
        <p:nvSpPr>
          <p:cNvPr id="8" name="Shape 6"/>
          <p:cNvSpPr/>
          <p:nvPr/>
        </p:nvSpPr>
        <p:spPr>
          <a:xfrm>
            <a:off x="502920" y="1600200"/>
            <a:ext cx="201168" cy="201168"/>
          </a:xfrm>
          <a:prstGeom prst="ellipse">
            <a:avLst/>
          </a:prstGeom>
          <a:solidFill>
            <a:srgbClr val="10B981"/>
          </a:solidFill>
          <a:ln w="12700">
            <a:solidFill>
              <a:srgbClr val="10B981"/>
            </a:solidFill>
            <a:prstDash val="solid"/>
          </a:ln>
        </p:spPr>
      </p:sp>
      <p:sp>
        <p:nvSpPr>
          <p:cNvPr id="9" name="Text 7"/>
          <p:cNvSpPr/>
          <p:nvPr/>
        </p:nvSpPr>
        <p:spPr>
          <a:xfrm>
            <a:off x="804672" y="1554480"/>
            <a:ext cx="4389120" cy="34747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Carte interactive geolocalisee</a:t>
            </a:r>
            <a:endParaRPr lang="en-US" sz="1150" dirty="0"/>
          </a:p>
        </p:txBody>
      </p:sp>
      <p:sp>
        <p:nvSpPr>
          <p:cNvPr id="10" name="Text 8"/>
          <p:cNvSpPr/>
          <p:nvPr/>
        </p:nvSpPr>
        <p:spPr>
          <a:xfrm>
            <a:off x="5303520" y="1554480"/>
            <a:ext cx="822960" cy="347472"/>
          </a:xfrm>
          <a:prstGeom prst="rect">
            <a:avLst/>
          </a:prstGeom>
          <a:noFill/>
          <a:ln/>
        </p:spPr>
        <p:txBody>
          <a:bodyPr wrap="square" lIns="0" tIns="0" rIns="0" bIns="0" rtlCol="0" anchor="ctr"/>
          <a:lstStyle/>
          <a:p>
            <a:pPr algn="r" indent="0" marL="0">
              <a:buNone/>
            </a:pPr>
            <a:r>
              <a:rPr lang="en-US" sz="850" b="1" dirty="0">
                <a:solidFill>
                  <a:srgbClr val="10B981"/>
                </a:solidFill>
                <a:latin typeface="Calibri" pitchFamily="34" charset="0"/>
                <a:ea typeface="Calibri" pitchFamily="34" charset="-122"/>
                <a:cs typeface="Calibri" pitchFamily="34" charset="-120"/>
              </a:rPr>
              <a:t>Pret</a:t>
            </a:r>
            <a:endParaRPr lang="en-US" sz="850" dirty="0"/>
          </a:p>
        </p:txBody>
      </p:sp>
      <p:sp>
        <p:nvSpPr>
          <p:cNvPr id="11" name="Shape 9"/>
          <p:cNvSpPr/>
          <p:nvPr/>
        </p:nvSpPr>
        <p:spPr>
          <a:xfrm>
            <a:off x="502920" y="2002536"/>
            <a:ext cx="201168" cy="201168"/>
          </a:xfrm>
          <a:prstGeom prst="ellipse">
            <a:avLst/>
          </a:prstGeom>
          <a:solidFill>
            <a:srgbClr val="10B981"/>
          </a:solidFill>
          <a:ln w="12700">
            <a:solidFill>
              <a:srgbClr val="10B981"/>
            </a:solidFill>
            <a:prstDash val="solid"/>
          </a:ln>
        </p:spPr>
      </p:sp>
      <p:sp>
        <p:nvSpPr>
          <p:cNvPr id="12" name="Text 10"/>
          <p:cNvSpPr/>
          <p:nvPr/>
        </p:nvSpPr>
        <p:spPr>
          <a:xfrm>
            <a:off x="804672" y="1956816"/>
            <a:ext cx="4389120" cy="34747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Recherche texte et vocale, categorie, proximite</a:t>
            </a:r>
            <a:endParaRPr lang="en-US" sz="1150" dirty="0"/>
          </a:p>
        </p:txBody>
      </p:sp>
      <p:sp>
        <p:nvSpPr>
          <p:cNvPr id="13" name="Text 11"/>
          <p:cNvSpPr/>
          <p:nvPr/>
        </p:nvSpPr>
        <p:spPr>
          <a:xfrm>
            <a:off x="5303520" y="1956816"/>
            <a:ext cx="822960" cy="347472"/>
          </a:xfrm>
          <a:prstGeom prst="rect">
            <a:avLst/>
          </a:prstGeom>
          <a:noFill/>
          <a:ln/>
        </p:spPr>
        <p:txBody>
          <a:bodyPr wrap="square" lIns="0" tIns="0" rIns="0" bIns="0" rtlCol="0" anchor="ctr"/>
          <a:lstStyle/>
          <a:p>
            <a:pPr algn="r" indent="0" marL="0">
              <a:buNone/>
            </a:pPr>
            <a:r>
              <a:rPr lang="en-US" sz="850" b="1" dirty="0">
                <a:solidFill>
                  <a:srgbClr val="10B981"/>
                </a:solidFill>
                <a:latin typeface="Calibri" pitchFamily="34" charset="0"/>
                <a:ea typeface="Calibri" pitchFamily="34" charset="-122"/>
                <a:cs typeface="Calibri" pitchFamily="34" charset="-120"/>
              </a:rPr>
              <a:t>Pret</a:t>
            </a:r>
            <a:endParaRPr lang="en-US" sz="850" dirty="0"/>
          </a:p>
        </p:txBody>
      </p:sp>
      <p:sp>
        <p:nvSpPr>
          <p:cNvPr id="14" name="Shape 12"/>
          <p:cNvSpPr/>
          <p:nvPr/>
        </p:nvSpPr>
        <p:spPr>
          <a:xfrm>
            <a:off x="502920" y="2404872"/>
            <a:ext cx="201168" cy="201168"/>
          </a:xfrm>
          <a:prstGeom prst="ellipse">
            <a:avLst/>
          </a:prstGeom>
          <a:solidFill>
            <a:srgbClr val="10B981"/>
          </a:solidFill>
          <a:ln w="12700">
            <a:solidFill>
              <a:srgbClr val="10B981"/>
            </a:solidFill>
            <a:prstDash val="solid"/>
          </a:ln>
        </p:spPr>
      </p:sp>
      <p:sp>
        <p:nvSpPr>
          <p:cNvPr id="15" name="Text 13"/>
          <p:cNvSpPr/>
          <p:nvPr/>
        </p:nvSpPr>
        <p:spPr>
          <a:xfrm>
            <a:off x="804672" y="2359152"/>
            <a:ext cx="4389120" cy="34747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Profils commercants : produits, prix, disponibilite</a:t>
            </a:r>
            <a:endParaRPr lang="en-US" sz="1150" dirty="0"/>
          </a:p>
        </p:txBody>
      </p:sp>
      <p:sp>
        <p:nvSpPr>
          <p:cNvPr id="16" name="Text 14"/>
          <p:cNvSpPr/>
          <p:nvPr/>
        </p:nvSpPr>
        <p:spPr>
          <a:xfrm>
            <a:off x="5303520" y="2359152"/>
            <a:ext cx="822960" cy="347472"/>
          </a:xfrm>
          <a:prstGeom prst="rect">
            <a:avLst/>
          </a:prstGeom>
          <a:noFill/>
          <a:ln/>
        </p:spPr>
        <p:txBody>
          <a:bodyPr wrap="square" lIns="0" tIns="0" rIns="0" bIns="0" rtlCol="0" anchor="ctr"/>
          <a:lstStyle/>
          <a:p>
            <a:pPr algn="r" indent="0" marL="0">
              <a:buNone/>
            </a:pPr>
            <a:r>
              <a:rPr lang="en-US" sz="850" b="1" dirty="0">
                <a:solidFill>
                  <a:srgbClr val="10B981"/>
                </a:solidFill>
                <a:latin typeface="Calibri" pitchFamily="34" charset="0"/>
                <a:ea typeface="Calibri" pitchFamily="34" charset="-122"/>
                <a:cs typeface="Calibri" pitchFamily="34" charset="-120"/>
              </a:rPr>
              <a:t>Pret</a:t>
            </a:r>
            <a:endParaRPr lang="en-US" sz="850" dirty="0"/>
          </a:p>
        </p:txBody>
      </p:sp>
      <p:sp>
        <p:nvSpPr>
          <p:cNvPr id="17" name="Shape 15"/>
          <p:cNvSpPr/>
          <p:nvPr/>
        </p:nvSpPr>
        <p:spPr>
          <a:xfrm>
            <a:off x="502920" y="2807208"/>
            <a:ext cx="201168" cy="201168"/>
          </a:xfrm>
          <a:prstGeom prst="ellipse">
            <a:avLst/>
          </a:prstGeom>
          <a:solidFill>
            <a:srgbClr val="10B981"/>
          </a:solidFill>
          <a:ln w="12700">
            <a:solidFill>
              <a:srgbClr val="10B981"/>
            </a:solidFill>
            <a:prstDash val="solid"/>
          </a:ln>
        </p:spPr>
      </p:sp>
      <p:sp>
        <p:nvSpPr>
          <p:cNvPr id="18" name="Text 16"/>
          <p:cNvSpPr/>
          <p:nvPr/>
        </p:nvSpPr>
        <p:spPr>
          <a:xfrm>
            <a:off x="804672" y="2761488"/>
            <a:ext cx="4389120" cy="34747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Disponibilite temps reel : OUI / NON en 1 clic</a:t>
            </a:r>
            <a:endParaRPr lang="en-US" sz="1150" dirty="0"/>
          </a:p>
        </p:txBody>
      </p:sp>
      <p:sp>
        <p:nvSpPr>
          <p:cNvPr id="19" name="Text 17"/>
          <p:cNvSpPr/>
          <p:nvPr/>
        </p:nvSpPr>
        <p:spPr>
          <a:xfrm>
            <a:off x="5303520" y="2761488"/>
            <a:ext cx="822960" cy="347472"/>
          </a:xfrm>
          <a:prstGeom prst="rect">
            <a:avLst/>
          </a:prstGeom>
          <a:noFill/>
          <a:ln/>
        </p:spPr>
        <p:txBody>
          <a:bodyPr wrap="square" lIns="0" tIns="0" rIns="0" bIns="0" rtlCol="0" anchor="ctr"/>
          <a:lstStyle/>
          <a:p>
            <a:pPr algn="r" indent="0" marL="0">
              <a:buNone/>
            </a:pPr>
            <a:r>
              <a:rPr lang="en-US" sz="850" b="1" dirty="0">
                <a:solidFill>
                  <a:srgbClr val="10B981"/>
                </a:solidFill>
                <a:latin typeface="Calibri" pitchFamily="34" charset="0"/>
                <a:ea typeface="Calibri" pitchFamily="34" charset="-122"/>
                <a:cs typeface="Calibri" pitchFamily="34" charset="-120"/>
              </a:rPr>
              <a:t>Pret</a:t>
            </a:r>
            <a:endParaRPr lang="en-US" sz="850" dirty="0"/>
          </a:p>
        </p:txBody>
      </p:sp>
      <p:sp>
        <p:nvSpPr>
          <p:cNvPr id="20" name="Shape 18"/>
          <p:cNvSpPr/>
          <p:nvPr/>
        </p:nvSpPr>
        <p:spPr>
          <a:xfrm>
            <a:off x="502920" y="3209544"/>
            <a:ext cx="201168" cy="201168"/>
          </a:xfrm>
          <a:prstGeom prst="ellipse">
            <a:avLst/>
          </a:prstGeom>
          <a:solidFill>
            <a:srgbClr val="10B981"/>
          </a:solidFill>
          <a:ln w="12700">
            <a:solidFill>
              <a:srgbClr val="10B981"/>
            </a:solidFill>
            <a:prstDash val="solid"/>
          </a:ln>
        </p:spPr>
      </p:sp>
      <p:sp>
        <p:nvSpPr>
          <p:cNvPr id="21" name="Text 19"/>
          <p:cNvSpPr/>
          <p:nvPr/>
        </p:nvSpPr>
        <p:spPr>
          <a:xfrm>
            <a:off x="804672" y="3163824"/>
            <a:ext cx="4389120" cy="34747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Messagerie directe acheteur et vendeur</a:t>
            </a:r>
            <a:endParaRPr lang="en-US" sz="1150" dirty="0"/>
          </a:p>
        </p:txBody>
      </p:sp>
      <p:sp>
        <p:nvSpPr>
          <p:cNvPr id="22" name="Text 20"/>
          <p:cNvSpPr/>
          <p:nvPr/>
        </p:nvSpPr>
        <p:spPr>
          <a:xfrm>
            <a:off x="5303520" y="3163824"/>
            <a:ext cx="822960" cy="347472"/>
          </a:xfrm>
          <a:prstGeom prst="rect">
            <a:avLst/>
          </a:prstGeom>
          <a:noFill/>
          <a:ln/>
        </p:spPr>
        <p:txBody>
          <a:bodyPr wrap="square" lIns="0" tIns="0" rIns="0" bIns="0" rtlCol="0" anchor="ctr"/>
          <a:lstStyle/>
          <a:p>
            <a:pPr algn="r" indent="0" marL="0">
              <a:buNone/>
            </a:pPr>
            <a:r>
              <a:rPr lang="en-US" sz="850" b="1" dirty="0">
                <a:solidFill>
                  <a:srgbClr val="10B981"/>
                </a:solidFill>
                <a:latin typeface="Calibri" pitchFamily="34" charset="0"/>
                <a:ea typeface="Calibri" pitchFamily="34" charset="-122"/>
                <a:cs typeface="Calibri" pitchFamily="34" charset="-120"/>
              </a:rPr>
              <a:t>Pret</a:t>
            </a:r>
            <a:endParaRPr lang="en-US" sz="850" dirty="0"/>
          </a:p>
        </p:txBody>
      </p:sp>
      <p:sp>
        <p:nvSpPr>
          <p:cNvPr id="23" name="Shape 21"/>
          <p:cNvSpPr/>
          <p:nvPr/>
        </p:nvSpPr>
        <p:spPr>
          <a:xfrm>
            <a:off x="502920" y="3611880"/>
            <a:ext cx="201168" cy="201168"/>
          </a:xfrm>
          <a:prstGeom prst="ellipse">
            <a:avLst/>
          </a:prstGeom>
          <a:solidFill>
            <a:srgbClr val="10B981"/>
          </a:solidFill>
          <a:ln w="12700">
            <a:solidFill>
              <a:srgbClr val="10B981"/>
            </a:solidFill>
            <a:prstDash val="solid"/>
          </a:ln>
        </p:spPr>
      </p:sp>
      <p:sp>
        <p:nvSpPr>
          <p:cNvPr id="24" name="Text 22"/>
          <p:cNvSpPr/>
          <p:nvPr/>
        </p:nvSpPr>
        <p:spPr>
          <a:xfrm>
            <a:off x="804672" y="3566160"/>
            <a:ext cx="4389120" cy="34747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Livraison flexible sur trajet quotidien</a:t>
            </a:r>
            <a:endParaRPr lang="en-US" sz="1150" dirty="0"/>
          </a:p>
        </p:txBody>
      </p:sp>
      <p:sp>
        <p:nvSpPr>
          <p:cNvPr id="25" name="Text 23"/>
          <p:cNvSpPr/>
          <p:nvPr/>
        </p:nvSpPr>
        <p:spPr>
          <a:xfrm>
            <a:off x="5303520" y="3566160"/>
            <a:ext cx="822960" cy="347472"/>
          </a:xfrm>
          <a:prstGeom prst="rect">
            <a:avLst/>
          </a:prstGeom>
          <a:noFill/>
          <a:ln/>
        </p:spPr>
        <p:txBody>
          <a:bodyPr wrap="square" lIns="0" tIns="0" rIns="0" bIns="0" rtlCol="0" anchor="ctr"/>
          <a:lstStyle/>
          <a:p>
            <a:pPr algn="r" indent="0" marL="0">
              <a:buNone/>
            </a:pPr>
            <a:r>
              <a:rPr lang="en-US" sz="850" b="1" dirty="0">
                <a:solidFill>
                  <a:srgbClr val="10B981"/>
                </a:solidFill>
                <a:latin typeface="Calibri" pitchFamily="34" charset="0"/>
                <a:ea typeface="Calibri" pitchFamily="34" charset="-122"/>
                <a:cs typeface="Calibri" pitchFamily="34" charset="-120"/>
              </a:rPr>
              <a:t>Pret</a:t>
            </a:r>
            <a:endParaRPr lang="en-US" sz="850" dirty="0"/>
          </a:p>
        </p:txBody>
      </p:sp>
      <p:sp>
        <p:nvSpPr>
          <p:cNvPr id="26" name="Shape 24"/>
          <p:cNvSpPr/>
          <p:nvPr/>
        </p:nvSpPr>
        <p:spPr>
          <a:xfrm>
            <a:off x="502920" y="4014216"/>
            <a:ext cx="201168" cy="201168"/>
          </a:xfrm>
          <a:prstGeom prst="ellipse">
            <a:avLst/>
          </a:prstGeom>
          <a:solidFill>
            <a:srgbClr val="F59E0B"/>
          </a:solidFill>
          <a:ln w="12700">
            <a:solidFill>
              <a:srgbClr val="F59E0B"/>
            </a:solidFill>
            <a:prstDash val="solid"/>
          </a:ln>
        </p:spPr>
      </p:sp>
      <p:sp>
        <p:nvSpPr>
          <p:cNvPr id="27" name="Text 25"/>
          <p:cNvSpPr/>
          <p:nvPr/>
        </p:nvSpPr>
        <p:spPr>
          <a:xfrm>
            <a:off x="804672" y="3968496"/>
            <a:ext cx="4389120" cy="347472"/>
          </a:xfrm>
          <a:prstGeom prst="rect">
            <a:avLst/>
          </a:prstGeom>
          <a:noFill/>
          <a:ln/>
        </p:spPr>
        <p:txBody>
          <a:bodyPr wrap="square" lIns="0" tIns="0" rIns="0" bIns="0" rtlCol="0" anchor="ctr"/>
          <a:lstStyle/>
          <a:p>
            <a:pPr algn="l" indent="0" marL="0">
              <a:buNone/>
            </a:pPr>
            <a:r>
              <a:rPr lang="en-US" sz="1150" dirty="0">
                <a:solidFill>
                  <a:srgbClr val="94A3B8"/>
                </a:solidFill>
                <a:latin typeface="Calibri" pitchFamily="34" charset="0"/>
                <a:ea typeface="Calibri" pitchFamily="34" charset="-122"/>
                <a:cs typeface="Calibri" pitchFamily="34" charset="-120"/>
              </a:rPr>
              <a:t>Portefeuille integre et escrow securise</a:t>
            </a:r>
            <a:endParaRPr lang="en-US" sz="1150" dirty="0"/>
          </a:p>
        </p:txBody>
      </p:sp>
      <p:sp>
        <p:nvSpPr>
          <p:cNvPr id="28" name="Text 26"/>
          <p:cNvSpPr/>
          <p:nvPr/>
        </p:nvSpPr>
        <p:spPr>
          <a:xfrm>
            <a:off x="5303520" y="3968496"/>
            <a:ext cx="822960" cy="347472"/>
          </a:xfrm>
          <a:prstGeom prst="rect">
            <a:avLst/>
          </a:prstGeom>
          <a:noFill/>
          <a:ln/>
        </p:spPr>
        <p:txBody>
          <a:bodyPr wrap="square" lIns="0" tIns="0" rIns="0" bIns="0" rtlCol="0" anchor="ctr"/>
          <a:lstStyle/>
          <a:p>
            <a:pPr algn="r" indent="0" marL="0">
              <a:buNone/>
            </a:pPr>
            <a:r>
              <a:rPr lang="en-US" sz="850" b="1" dirty="0">
                <a:solidFill>
                  <a:srgbClr val="F59E0B"/>
                </a:solidFill>
                <a:latin typeface="Calibri" pitchFamily="34" charset="0"/>
                <a:ea typeface="Calibri" pitchFamily="34" charset="-122"/>
                <a:cs typeface="Calibri" pitchFamily="34" charset="-120"/>
              </a:rPr>
              <a:t>En cours</a:t>
            </a:r>
            <a:endParaRPr lang="en-US" sz="850" dirty="0"/>
          </a:p>
        </p:txBody>
      </p:sp>
      <p:sp>
        <p:nvSpPr>
          <p:cNvPr id="29" name="Shape 27"/>
          <p:cNvSpPr/>
          <p:nvPr/>
        </p:nvSpPr>
        <p:spPr>
          <a:xfrm>
            <a:off x="5486400" y="969264"/>
            <a:ext cx="3200400" cy="3831336"/>
          </a:xfrm>
          <a:prstGeom prst="roundRect">
            <a:avLst>
              <a:gd name="adj" fmla="val 2286"/>
            </a:avLst>
          </a:prstGeom>
          <a:solidFill>
            <a:srgbClr val="0D1420"/>
          </a:solidFill>
          <a:ln w="6350">
            <a:solidFill>
              <a:srgbClr val="10B981">
                <a:alpha val="30000"/>
              </a:srgbClr>
            </a:solidFill>
            <a:prstDash val="solid"/>
          </a:ln>
        </p:spPr>
      </p:sp>
      <p:sp>
        <p:nvSpPr>
          <p:cNvPr id="30" name="Text 28"/>
          <p:cNvSpPr/>
          <p:nvPr/>
        </p:nvSpPr>
        <p:spPr>
          <a:xfrm>
            <a:off x="5614416" y="1078992"/>
            <a:ext cx="2962656"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Fonctionnalites</a:t>
            </a:r>
            <a:endParaRPr lang="en-US" sz="1100" dirty="0"/>
          </a:p>
        </p:txBody>
      </p:sp>
      <p:sp>
        <p:nvSpPr>
          <p:cNvPr id="31" name="Shape 29"/>
          <p:cNvSpPr/>
          <p:nvPr/>
        </p:nvSpPr>
        <p:spPr>
          <a:xfrm>
            <a:off x="5614416" y="1408176"/>
            <a:ext cx="2962656" cy="22860"/>
          </a:xfrm>
          <a:prstGeom prst="rect">
            <a:avLst/>
          </a:prstGeom>
          <a:solidFill>
            <a:srgbClr val="10B981">
              <a:alpha val="35000"/>
            </a:srgbClr>
          </a:solidFill>
          <a:ln w="12700">
            <a:solidFill>
              <a:srgbClr val="333333"/>
            </a:solidFill>
            <a:prstDash val="solid"/>
          </a:ln>
        </p:spPr>
      </p:sp>
      <p:sp>
        <p:nvSpPr>
          <p:cNvPr id="32" name="Shape 30"/>
          <p:cNvSpPr/>
          <p:nvPr/>
        </p:nvSpPr>
        <p:spPr>
          <a:xfrm>
            <a:off x="5650992" y="1536192"/>
            <a:ext cx="182880" cy="182880"/>
          </a:xfrm>
          <a:prstGeom prst="ellipse">
            <a:avLst/>
          </a:prstGeom>
          <a:solidFill>
            <a:srgbClr val="10B981"/>
          </a:solidFill>
          <a:ln w="12700">
            <a:solidFill>
              <a:srgbClr val="10B981"/>
            </a:solidFill>
            <a:prstDash val="solid"/>
          </a:ln>
        </p:spPr>
      </p:sp>
      <p:sp>
        <p:nvSpPr>
          <p:cNvPr id="33" name="Text 31"/>
          <p:cNvSpPr/>
          <p:nvPr/>
        </p:nvSpPr>
        <p:spPr>
          <a:xfrm>
            <a:off x="5907024" y="1499616"/>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Carte interactive</a:t>
            </a:r>
            <a:endParaRPr lang="en-US" sz="1050" dirty="0"/>
          </a:p>
        </p:txBody>
      </p:sp>
      <p:sp>
        <p:nvSpPr>
          <p:cNvPr id="34" name="Text 32"/>
          <p:cNvSpPr/>
          <p:nvPr/>
        </p:nvSpPr>
        <p:spPr>
          <a:xfrm>
            <a:off x="5907024" y="1499616"/>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35" name="Shape 33"/>
          <p:cNvSpPr/>
          <p:nvPr/>
        </p:nvSpPr>
        <p:spPr>
          <a:xfrm>
            <a:off x="5650992" y="1938528"/>
            <a:ext cx="182880" cy="182880"/>
          </a:xfrm>
          <a:prstGeom prst="ellipse">
            <a:avLst/>
          </a:prstGeom>
          <a:solidFill>
            <a:srgbClr val="10B981"/>
          </a:solidFill>
          <a:ln w="12700">
            <a:solidFill>
              <a:srgbClr val="10B981"/>
            </a:solidFill>
            <a:prstDash val="solid"/>
          </a:ln>
        </p:spPr>
      </p:sp>
      <p:sp>
        <p:nvSpPr>
          <p:cNvPr id="36" name="Text 34"/>
          <p:cNvSpPr/>
          <p:nvPr/>
        </p:nvSpPr>
        <p:spPr>
          <a:xfrm>
            <a:off x="5907024" y="1901952"/>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Recherche avancee</a:t>
            </a:r>
            <a:endParaRPr lang="en-US" sz="1050" dirty="0"/>
          </a:p>
        </p:txBody>
      </p:sp>
      <p:sp>
        <p:nvSpPr>
          <p:cNvPr id="37" name="Text 35"/>
          <p:cNvSpPr/>
          <p:nvPr/>
        </p:nvSpPr>
        <p:spPr>
          <a:xfrm>
            <a:off x="5907024" y="1901952"/>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38" name="Shape 36"/>
          <p:cNvSpPr/>
          <p:nvPr/>
        </p:nvSpPr>
        <p:spPr>
          <a:xfrm>
            <a:off x="5650992" y="2340864"/>
            <a:ext cx="182880" cy="182880"/>
          </a:xfrm>
          <a:prstGeom prst="ellipse">
            <a:avLst/>
          </a:prstGeom>
          <a:solidFill>
            <a:srgbClr val="10B981"/>
          </a:solidFill>
          <a:ln w="12700">
            <a:solidFill>
              <a:srgbClr val="10B981"/>
            </a:solidFill>
            <a:prstDash val="solid"/>
          </a:ln>
        </p:spPr>
      </p:sp>
      <p:sp>
        <p:nvSpPr>
          <p:cNvPr id="39" name="Text 37"/>
          <p:cNvSpPr/>
          <p:nvPr/>
        </p:nvSpPr>
        <p:spPr>
          <a:xfrm>
            <a:off x="5907024" y="2304288"/>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Profils commercants</a:t>
            </a:r>
            <a:endParaRPr lang="en-US" sz="1050" dirty="0"/>
          </a:p>
        </p:txBody>
      </p:sp>
      <p:sp>
        <p:nvSpPr>
          <p:cNvPr id="40" name="Text 38"/>
          <p:cNvSpPr/>
          <p:nvPr/>
        </p:nvSpPr>
        <p:spPr>
          <a:xfrm>
            <a:off x="5907024" y="2304288"/>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41" name="Shape 39"/>
          <p:cNvSpPr/>
          <p:nvPr/>
        </p:nvSpPr>
        <p:spPr>
          <a:xfrm>
            <a:off x="5650992" y="2743200"/>
            <a:ext cx="182880" cy="182880"/>
          </a:xfrm>
          <a:prstGeom prst="ellipse">
            <a:avLst/>
          </a:prstGeom>
          <a:solidFill>
            <a:srgbClr val="10B981"/>
          </a:solidFill>
          <a:ln w="12700">
            <a:solidFill>
              <a:srgbClr val="10B981"/>
            </a:solidFill>
            <a:prstDash val="solid"/>
          </a:ln>
        </p:spPr>
      </p:sp>
      <p:sp>
        <p:nvSpPr>
          <p:cNvPr id="42" name="Text 40"/>
          <p:cNvSpPr/>
          <p:nvPr/>
        </p:nvSpPr>
        <p:spPr>
          <a:xfrm>
            <a:off x="5907024" y="2706624"/>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Messagerie</a:t>
            </a:r>
            <a:endParaRPr lang="en-US" sz="1050" dirty="0"/>
          </a:p>
        </p:txBody>
      </p:sp>
      <p:sp>
        <p:nvSpPr>
          <p:cNvPr id="43" name="Text 41"/>
          <p:cNvSpPr/>
          <p:nvPr/>
        </p:nvSpPr>
        <p:spPr>
          <a:xfrm>
            <a:off x="5907024" y="2706624"/>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44" name="Shape 42"/>
          <p:cNvSpPr/>
          <p:nvPr/>
        </p:nvSpPr>
        <p:spPr>
          <a:xfrm>
            <a:off x="5650992" y="3145536"/>
            <a:ext cx="182880" cy="182880"/>
          </a:xfrm>
          <a:prstGeom prst="ellipse">
            <a:avLst/>
          </a:prstGeom>
          <a:solidFill>
            <a:srgbClr val="10B981"/>
          </a:solidFill>
          <a:ln w="12700">
            <a:solidFill>
              <a:srgbClr val="10B981"/>
            </a:solidFill>
            <a:prstDash val="solid"/>
          </a:ln>
        </p:spPr>
      </p:sp>
      <p:sp>
        <p:nvSpPr>
          <p:cNvPr id="45" name="Text 43"/>
          <p:cNvSpPr/>
          <p:nvPr/>
        </p:nvSpPr>
        <p:spPr>
          <a:xfrm>
            <a:off x="5907024" y="3108960"/>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Systeme OUI / NON</a:t>
            </a:r>
            <a:endParaRPr lang="en-US" sz="1050" dirty="0"/>
          </a:p>
        </p:txBody>
      </p:sp>
      <p:sp>
        <p:nvSpPr>
          <p:cNvPr id="46" name="Text 44"/>
          <p:cNvSpPr/>
          <p:nvPr/>
        </p:nvSpPr>
        <p:spPr>
          <a:xfrm>
            <a:off x="5907024" y="3108960"/>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47" name="Shape 45"/>
          <p:cNvSpPr/>
          <p:nvPr/>
        </p:nvSpPr>
        <p:spPr>
          <a:xfrm>
            <a:off x="5650992" y="3547872"/>
            <a:ext cx="182880" cy="182880"/>
          </a:xfrm>
          <a:prstGeom prst="ellipse">
            <a:avLst/>
          </a:prstGeom>
          <a:solidFill>
            <a:srgbClr val="10B981"/>
          </a:solidFill>
          <a:ln w="12700">
            <a:solidFill>
              <a:srgbClr val="10B981"/>
            </a:solidFill>
            <a:prstDash val="solid"/>
          </a:ln>
        </p:spPr>
      </p:sp>
      <p:sp>
        <p:nvSpPr>
          <p:cNvPr id="48" name="Text 46"/>
          <p:cNvSpPr/>
          <p:nvPr/>
        </p:nvSpPr>
        <p:spPr>
          <a:xfrm>
            <a:off x="5907024" y="3511296"/>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Abonnements Free / Pro</a:t>
            </a:r>
            <a:endParaRPr lang="en-US" sz="1050" dirty="0"/>
          </a:p>
        </p:txBody>
      </p:sp>
      <p:sp>
        <p:nvSpPr>
          <p:cNvPr id="49" name="Text 47"/>
          <p:cNvSpPr/>
          <p:nvPr/>
        </p:nvSpPr>
        <p:spPr>
          <a:xfrm>
            <a:off x="5907024" y="3511296"/>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50" name="Shape 48"/>
          <p:cNvSpPr/>
          <p:nvPr/>
        </p:nvSpPr>
        <p:spPr>
          <a:xfrm>
            <a:off x="5650992" y="3950208"/>
            <a:ext cx="182880" cy="182880"/>
          </a:xfrm>
          <a:prstGeom prst="ellipse">
            <a:avLst/>
          </a:prstGeom>
          <a:solidFill>
            <a:srgbClr val="10B981"/>
          </a:solidFill>
          <a:ln w="12700">
            <a:solidFill>
              <a:srgbClr val="10B981"/>
            </a:solidFill>
            <a:prstDash val="solid"/>
          </a:ln>
        </p:spPr>
      </p:sp>
      <p:sp>
        <p:nvSpPr>
          <p:cNvPr id="51" name="Text 49"/>
          <p:cNvSpPr/>
          <p:nvPr/>
        </p:nvSpPr>
        <p:spPr>
          <a:xfrm>
            <a:off x="5907024" y="3913632"/>
            <a:ext cx="2103120" cy="310896"/>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Livraison crowd</a:t>
            </a:r>
            <a:endParaRPr lang="en-US" sz="1050" dirty="0"/>
          </a:p>
        </p:txBody>
      </p:sp>
      <p:sp>
        <p:nvSpPr>
          <p:cNvPr id="52" name="Text 50"/>
          <p:cNvSpPr/>
          <p:nvPr/>
        </p:nvSpPr>
        <p:spPr>
          <a:xfrm>
            <a:off x="5907024" y="3913632"/>
            <a:ext cx="2743200" cy="310896"/>
          </a:xfrm>
          <a:prstGeom prst="rect">
            <a:avLst/>
          </a:prstGeom>
          <a:noFill/>
          <a:ln/>
        </p:spPr>
        <p:txBody>
          <a:bodyPr wrap="square" lIns="0" tIns="0" rIns="0" bIns="0" rtlCol="0" anchor="ctr"/>
          <a:lstStyle/>
          <a:p>
            <a:pPr algn="r" indent="0" marL="0">
              <a:buNone/>
            </a:pPr>
            <a:r>
              <a:rPr lang="en-US" sz="800" b="1" dirty="0">
                <a:solidFill>
                  <a:srgbClr val="10B981"/>
                </a:solidFill>
                <a:latin typeface="Calibri" pitchFamily="34" charset="0"/>
                <a:ea typeface="Calibri" pitchFamily="34" charset="-122"/>
                <a:cs typeface="Calibri" pitchFamily="34" charset="-120"/>
              </a:rPr>
              <a:t>Pret</a:t>
            </a:r>
            <a:endParaRPr lang="en-US" sz="800" dirty="0"/>
          </a:p>
        </p:txBody>
      </p:sp>
      <p:sp>
        <p:nvSpPr>
          <p:cNvPr id="53" name="Shape 51"/>
          <p:cNvSpPr/>
          <p:nvPr/>
        </p:nvSpPr>
        <p:spPr>
          <a:xfrm>
            <a:off x="5650992" y="4352544"/>
            <a:ext cx="182880" cy="182880"/>
          </a:xfrm>
          <a:prstGeom prst="ellipse">
            <a:avLst/>
          </a:prstGeom>
          <a:solidFill>
            <a:srgbClr val="F59E0B"/>
          </a:solidFill>
          <a:ln w="12700">
            <a:solidFill>
              <a:srgbClr val="F59E0B"/>
            </a:solidFill>
            <a:prstDash val="solid"/>
          </a:ln>
        </p:spPr>
      </p:sp>
      <p:sp>
        <p:nvSpPr>
          <p:cNvPr id="54" name="Text 52"/>
          <p:cNvSpPr/>
          <p:nvPr/>
        </p:nvSpPr>
        <p:spPr>
          <a:xfrm>
            <a:off x="5907024" y="4315968"/>
            <a:ext cx="2103120" cy="31089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Escrow Mobile Money</a:t>
            </a:r>
            <a:endParaRPr lang="en-US" sz="1050" dirty="0"/>
          </a:p>
        </p:txBody>
      </p:sp>
      <p:sp>
        <p:nvSpPr>
          <p:cNvPr id="55" name="Text 53"/>
          <p:cNvSpPr/>
          <p:nvPr/>
        </p:nvSpPr>
        <p:spPr>
          <a:xfrm>
            <a:off x="5907024" y="4315968"/>
            <a:ext cx="2743200" cy="310896"/>
          </a:xfrm>
          <a:prstGeom prst="rect">
            <a:avLst/>
          </a:prstGeom>
          <a:noFill/>
          <a:ln/>
        </p:spPr>
        <p:txBody>
          <a:bodyPr wrap="square" lIns="0" tIns="0" rIns="0" bIns="0" rtlCol="0" anchor="ctr"/>
          <a:lstStyle/>
          <a:p>
            <a:pPr algn="r" indent="0" marL="0">
              <a:buNone/>
            </a:pPr>
            <a:r>
              <a:rPr lang="en-US" sz="800" b="1" dirty="0">
                <a:solidFill>
                  <a:srgbClr val="F59E0B"/>
                </a:solidFill>
                <a:latin typeface="Calibri" pitchFamily="34" charset="0"/>
                <a:ea typeface="Calibri" pitchFamily="34" charset="-122"/>
                <a:cs typeface="Calibri" pitchFamily="34" charset="-120"/>
              </a:rPr>
              <a:t>Pending</a:t>
            </a:r>
            <a:endParaRPr lang="en-US" sz="800" dirty="0"/>
          </a:p>
        </p:txBody>
      </p:sp>
      <p:sp>
        <p:nvSpPr>
          <p:cNvPr id="56" name="Text 54"/>
          <p:cNvSpPr/>
          <p:nvPr/>
        </p:nvSpPr>
        <p:spPr>
          <a:xfrm>
            <a:off x="457200" y="4668012"/>
            <a:ext cx="4754880" cy="219456"/>
          </a:xfrm>
          <a:prstGeom prst="rect">
            <a:avLst/>
          </a:prstGeom>
          <a:noFill/>
          <a:ln/>
        </p:spPr>
        <p:txBody>
          <a:bodyPr wrap="square" lIns="0" tIns="0" rIns="0" bIns="0" rtlCol="0" anchor="ctr"/>
          <a:lstStyle/>
          <a:p>
            <a:pPr algn="l" indent="0" marL="0">
              <a:buNone/>
            </a:pPr>
            <a:r>
              <a:rPr lang="en-US" sz="900" i="1" dirty="0">
                <a:solidFill>
                  <a:srgbClr val="10B981"/>
                </a:solidFill>
                <a:latin typeface="Calibri" pitchFamily="34" charset="0"/>
                <a:ea typeface="Calibri" pitchFamily="34" charset="-122"/>
                <a:cs typeface="Calibri" pitchFamily="34" charset="-120"/>
              </a:rPr>
              <a:t>omni-try.vercel.app</a:t>
            </a:r>
            <a:endParaRPr lang="en-US" sz="900" dirty="0"/>
          </a:p>
        </p:txBody>
      </p:sp>
      <p:sp>
        <p:nvSpPr>
          <p:cNvPr id="57" name="Text 55"/>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58" name="Text 56"/>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06 / 10</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MODELE ECONOMIQUE</a:t>
            </a:r>
            <a:endParaRPr lang="en-US" sz="900" dirty="0"/>
          </a:p>
        </p:txBody>
      </p:sp>
      <p:sp>
        <p:nvSpPr>
          <p:cNvPr id="7" name="Text 5"/>
          <p:cNvSpPr/>
          <p:nvPr/>
        </p:nvSpPr>
        <p:spPr>
          <a:xfrm>
            <a:off x="457200" y="969264"/>
            <a:ext cx="8229600" cy="4572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Simple. Respectueux du marche. Sans commission.</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36192"/>
          <a:ext cx="8229600" cy="914400"/>
        </p:xfrm>
        <a:graphic>
          <a:graphicData uri="http://schemas.openxmlformats.org/drawingml/2006/table">
            <a:tbl>
              <a:tblPr/>
              <a:tblGrid>
                <a:gridCol w="1719072"/>
                <a:gridCol w="3310128"/>
                <a:gridCol w="3200400"/>
              </a:tblGrid>
              <a:tr h="384048">
                <a:tc>
                  <a:txBody>
                    <a:bodyPr/>
                    <a:lstStyle/>
                    <a:p>
                      <a:pPr algn="l" indent="0" marL="0">
                        <a:buNone/>
                      </a:pPr>
                      <a:endParaRPr lang="en-US" sz="11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GRATUIT</a:t>
                      </a:r>
                      <a:endParaRPr lang="en-US" sz="11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10B981">
                        <a:alpha val="85000"/>
                      </a:srgbClr>
                    </a:solidFill>
                  </a:tcPr>
                </a:tc>
                <a:tc>
                  <a:txBody>
                    <a:bodyPr/>
                    <a:lstStyle/>
                    <a:p>
                      <a:pPr algn="l" indent="0" marL="0">
                        <a:buNone/>
                      </a:pPr>
                      <a:r>
                        <a:rPr lang="en-US" sz="1100" b="1" dirty="0">
                          <a:solidFill>
                            <a:srgbClr val="10B981"/>
                          </a:solidFill>
                          <a:latin typeface="Calibri" pitchFamily="34" charset="0"/>
                          <a:ea typeface="Calibri" pitchFamily="34" charset="-122"/>
                          <a:cs typeface="Calibri" pitchFamily="34" charset="-120"/>
                        </a:rPr>
                        <a:t>PREMIUM</a:t>
                      </a:r>
                      <a:endParaRPr lang="en-US" sz="11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r>
              <a:tr h="6400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Acheteur</a:t>
                      </a:r>
                      <a:endParaRPr lang="en-US" sz="11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Recherche, carte, contact. Toujours.</a:t>
                      </a:r>
                      <a:endParaRPr lang="en-US" sz="10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A1A14"/>
                    </a:solidFill>
                  </a:tcPr>
                </a:tc>
                <a:tc>
                  <a:txBody>
                    <a:bodyPr/>
                    <a:lstStyle/>
                    <a:p>
                      <a:pPr algn="l" indent="0" marL="0">
                        <a:buNone/>
                      </a:pPr>
                      <a:r>
                        <a:rPr lang="en-US" sz="1000" i="1" dirty="0">
                          <a:solidFill>
                            <a:srgbClr val="34D399"/>
                          </a:solidFill>
                          <a:latin typeface="Calibri" pitchFamily="34" charset="0"/>
                          <a:ea typeface="Calibri" pitchFamily="34" charset="-122"/>
                          <a:cs typeface="Calibri" pitchFamily="34" charset="-120"/>
                        </a:rPr>
                        <a:t>L'acheteur ne paie jamais.</a:t>
                      </a:r>
                      <a:endParaRPr lang="en-US" sz="10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r>
              <a:tr h="8046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Commercant</a:t>
                      </a:r>
                      <a:endParaRPr lang="en-US" sz="11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1 fiche, 5 produits, reglement en cash.</a:t>
                      </a:r>
                      <a:endParaRPr lang="en-US" sz="10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A1A14"/>
                    </a:solidFill>
                  </a:tcPr>
                </a:tc>
                <a:tc>
                  <a:txBody>
                    <a:bodyPr/>
                    <a:lstStyle/>
                    <a:p>
                      <a:pPr algn="l" indent="0" marL="0">
                        <a:buNone/>
                      </a:pPr>
                      <a:r>
                        <a:rPr lang="en-US" sz="1000" dirty="0">
                          <a:solidFill>
                            <a:srgbClr val="34D399"/>
                          </a:solidFill>
                          <a:latin typeface="Calibri" pitchFamily="34" charset="0"/>
                          <a:ea typeface="Calibri" pitchFamily="34" charset="-122"/>
                          <a:cs typeface="Calibri" pitchFamily="34" charset="-120"/>
                        </a:rPr>
                        <a:t>Produits illimites + Wallet escrow (1%)</a:t>
                      </a:r>
                      <a:endParaRPr lang="en-US" sz="1000" dirty="0">
                        <a:latin typeface="Calibri" charset="0"/>
                        <a:ea typeface="Calibri" charset="0"/>
                        <a:cs typeface="Calibri" charset="0"/>
                      </a:endParaRPr>
                    </a:p>
                    <a:p>
                      <a:pPr algn="l" indent="0" marL="0">
                        <a:buNone/>
                      </a:pPr>
                      <a:r>
                        <a:rPr lang="en-US" sz="1000" dirty="0">
                          <a:solidFill>
                            <a:srgbClr val="34D399"/>
                          </a:solidFill>
                          <a:latin typeface="Calibri" pitchFamily="34" charset="0"/>
                          <a:ea typeface="Calibri" pitchFamily="34" charset="-122"/>
                          <a:cs typeface="Calibri" pitchFamily="34" charset="-120"/>
                        </a:rPr>
                        <a:t>5 000 FCFA / mois</a:t>
                      </a:r>
                      <a:endParaRPr lang="en-US" sz="10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r>
              <a:tr h="8046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Livreur</a:t>
                      </a:r>
                      <a:endParaRPr lang="en-US" sz="11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3 livraisons par jour, rayon uniquement.</a:t>
                      </a:r>
                      <a:endParaRPr lang="en-US" sz="10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A1A14"/>
                    </a:solidFill>
                  </a:tcPr>
                </a:tc>
                <a:tc>
                  <a:txBody>
                    <a:bodyPr/>
                    <a:lstStyle/>
                    <a:p>
                      <a:pPr algn="l" indent="0" marL="0">
                        <a:buNone/>
                      </a:pPr>
                      <a:r>
                        <a:rPr lang="en-US" sz="1000" dirty="0">
                          <a:solidFill>
                            <a:srgbClr val="34D399"/>
                          </a:solidFill>
                          <a:latin typeface="Calibri" pitchFamily="34" charset="0"/>
                          <a:ea typeface="Calibri" pitchFamily="34" charset="-122"/>
                          <a:cs typeface="Calibri" pitchFamily="34" charset="-120"/>
                        </a:rPr>
                        <a:t>Illimite, multi-stops, temps reel</a:t>
                      </a:r>
                      <a:endParaRPr lang="en-US" sz="1000" dirty="0">
                        <a:latin typeface="Calibri" charset="0"/>
                        <a:ea typeface="Calibri" charset="0"/>
                        <a:cs typeface="Calibri" charset="0"/>
                      </a:endParaRPr>
                    </a:p>
                    <a:p>
                      <a:pPr algn="l" indent="0" marL="0">
                        <a:buNone/>
                      </a:pPr>
                      <a:r>
                        <a:rPr lang="en-US" sz="1000" dirty="0">
                          <a:solidFill>
                            <a:srgbClr val="34D399"/>
                          </a:solidFill>
                          <a:latin typeface="Calibri" pitchFamily="34" charset="0"/>
                          <a:ea typeface="Calibri" pitchFamily="34" charset="-122"/>
                          <a:cs typeface="Calibri" pitchFamily="34" charset="-120"/>
                        </a:rPr>
                        <a:t>1 000 FCFA / mois</a:t>
                      </a:r>
                      <a:endParaRPr lang="en-US" sz="1000" dirty="0">
                        <a:latin typeface="Calibri" charset="0"/>
                        <a:ea typeface="Calibri" charset="0"/>
                        <a:cs typeface="Calibri" charset="0"/>
                      </a:endParaRPr>
                    </a:p>
                  </a:txBody>
                  <a:tcPr marL="91440" marR="91440" marT="45720" marB="45720">
                    <a:lnL w="5080" cap="flat" cmpd="sng" algn="ctr">
                      <a:solidFill>
                        <a:srgbClr val="10B981"/>
                      </a:solidFill>
                      <a:prstDash val="solid"/>
                      <a:round/>
                      <a:headEnd type="none" w="med" len="med"/>
                      <a:tailEnd type="none" w="med" len="med"/>
                    </a:lnL>
                    <a:lnR w="5080" cap="flat" cmpd="sng" algn="ctr">
                      <a:solidFill>
                        <a:srgbClr val="10B981"/>
                      </a:solidFill>
                      <a:prstDash val="solid"/>
                      <a:round/>
                      <a:headEnd type="none" w="med" len="med"/>
                      <a:tailEnd type="none" w="med" len="med"/>
                    </a:lnR>
                    <a:lnT w="5080" cap="flat" cmpd="sng" algn="ctr">
                      <a:solidFill>
                        <a:srgbClr val="10B981"/>
                      </a:solidFill>
                      <a:prstDash val="solid"/>
                      <a:round/>
                      <a:headEnd type="none" w="med" len="med"/>
                      <a:tailEnd type="none" w="med" len="med"/>
                    </a:lnT>
                    <a:lnB w="5080" cap="flat" cmpd="sng" algn="ctr">
                      <a:solidFill>
                        <a:srgbClr val="10B981"/>
                      </a:solidFill>
                      <a:prstDash val="solid"/>
                      <a:round/>
                      <a:headEnd type="none" w="med" len="med"/>
                      <a:tailEnd type="none" w="med" len="med"/>
                    </a:lnB>
                    <a:solidFill>
                      <a:srgbClr val="0D1420"/>
                    </a:solidFill>
                  </a:tcPr>
                </a:tc>
              </a:tr>
            </a:tbl>
          </a:graphicData>
        </a:graphic>
      </p:graphicFrame>
      <p:sp>
        <p:nvSpPr>
          <p:cNvPr id="9" name="Shape 6"/>
          <p:cNvSpPr/>
          <p:nvPr/>
        </p:nvSpPr>
        <p:spPr>
          <a:xfrm>
            <a:off x="457200" y="4352544"/>
            <a:ext cx="8229600" cy="420624"/>
          </a:xfrm>
          <a:prstGeom prst="roundRect">
            <a:avLst>
              <a:gd name="adj" fmla="val 13043"/>
            </a:avLst>
          </a:prstGeom>
          <a:solidFill>
            <a:srgbClr val="10B981">
              <a:alpha val="12000"/>
            </a:srgbClr>
          </a:solidFill>
          <a:ln w="6350">
            <a:solidFill>
              <a:srgbClr val="10B981"/>
            </a:solidFill>
            <a:prstDash val="solid"/>
          </a:ln>
        </p:spPr>
      </p:sp>
      <p:sp>
        <p:nvSpPr>
          <p:cNvPr id="10" name="Text 7"/>
          <p:cNvSpPr/>
          <p:nvPr/>
        </p:nvSpPr>
        <p:spPr>
          <a:xfrm>
            <a:off x="640080" y="4352544"/>
            <a:ext cx="7863840" cy="420624"/>
          </a:xfrm>
          <a:prstGeom prst="rect">
            <a:avLst/>
          </a:prstGeom>
          <a:noFill/>
          <a:ln/>
        </p:spPr>
        <p:txBody>
          <a:bodyPr wrap="square" lIns="0" tIns="0" rIns="0" bIns="0" rtlCol="0" anchor="ctr"/>
          <a:lstStyle/>
          <a:p>
            <a:pPr algn="ctr" indent="0" marL="0">
              <a:buNone/>
            </a:pPr>
            <a:r>
              <a:rPr lang="en-US" sz="1200" b="1" dirty="0">
                <a:solidFill>
                  <a:srgbClr val="34D399"/>
                </a:solidFill>
                <a:latin typeface="Calibri" pitchFamily="34" charset="0"/>
                <a:ea typeface="Calibri" pitchFamily="34" charset="-122"/>
                <a:cs typeface="Calibri" pitchFamily="34" charset="-120"/>
              </a:rPr>
              <a:t>Zero commission sur les transactions. L'argent reste dans l'economie locale.</a:t>
            </a:r>
            <a:endParaRPr lang="en-US" sz="1200" dirty="0"/>
          </a:p>
        </p:txBody>
      </p:sp>
      <p:sp>
        <p:nvSpPr>
          <p:cNvPr id="11" name="Text 8"/>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12" name="Text 9"/>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07 / 10</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PARTENARIATS ET INFRASTRUCTURE</a:t>
            </a:r>
            <a:endParaRPr lang="en-US" sz="900" dirty="0"/>
          </a:p>
        </p:txBody>
      </p:sp>
      <p:sp>
        <p:nvSpPr>
          <p:cNvPr id="7" name="Text 5"/>
          <p:cNvSpPr/>
          <p:nvPr/>
        </p:nvSpPr>
        <p:spPr>
          <a:xfrm>
            <a:off x="457200" y="969264"/>
            <a:ext cx="8229600" cy="4572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La technique est prete. L'investissement couvre la mise sur le terrain.</a:t>
            </a:r>
            <a:endParaRPr lang="en-US" sz="2200" dirty="0"/>
          </a:p>
        </p:txBody>
      </p:sp>
      <p:sp>
        <p:nvSpPr>
          <p:cNvPr id="8" name="Shape 6"/>
          <p:cNvSpPr/>
          <p:nvPr/>
        </p:nvSpPr>
        <p:spPr>
          <a:xfrm>
            <a:off x="457200" y="1554480"/>
            <a:ext cx="2606040" cy="2971800"/>
          </a:xfrm>
          <a:prstGeom prst="roundRect">
            <a:avLst>
              <a:gd name="adj" fmla="val 2807"/>
            </a:avLst>
          </a:prstGeom>
          <a:solidFill>
            <a:srgbClr val="0D1420"/>
          </a:solidFill>
          <a:ln w="6350">
            <a:solidFill>
              <a:srgbClr val="10B981">
                <a:alpha val="30000"/>
              </a:srgbClr>
            </a:solidFill>
            <a:prstDash val="solid"/>
          </a:ln>
        </p:spPr>
      </p:sp>
      <p:sp>
        <p:nvSpPr>
          <p:cNvPr id="9" name="Shape 7"/>
          <p:cNvSpPr/>
          <p:nvPr/>
        </p:nvSpPr>
        <p:spPr>
          <a:xfrm>
            <a:off x="566928" y="1719072"/>
            <a:ext cx="402336" cy="402336"/>
          </a:xfrm>
          <a:prstGeom prst="ellipse">
            <a:avLst/>
          </a:prstGeom>
          <a:solidFill>
            <a:srgbClr val="10B981"/>
          </a:solidFill>
          <a:ln w="12700">
            <a:solidFill>
              <a:srgbClr val="10B981"/>
            </a:solidFill>
            <a:prstDash val="solid"/>
          </a:ln>
        </p:spPr>
      </p:sp>
      <p:sp>
        <p:nvSpPr>
          <p:cNvPr id="10" name="Text 8"/>
          <p:cNvSpPr/>
          <p:nvPr/>
        </p:nvSpPr>
        <p:spPr>
          <a:xfrm>
            <a:off x="566928" y="1792224"/>
            <a:ext cx="402336"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01</a:t>
            </a:r>
            <a:endParaRPr lang="en-US" sz="1000" dirty="0"/>
          </a:p>
        </p:txBody>
      </p:sp>
      <p:sp>
        <p:nvSpPr>
          <p:cNvPr id="11" name="Text 9"/>
          <p:cNvSpPr/>
          <p:nvPr/>
        </p:nvSpPr>
        <p:spPr>
          <a:xfrm>
            <a:off x="585216" y="2212848"/>
            <a:ext cx="2350008" cy="36576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Integration APIs mobiles</a:t>
            </a:r>
            <a:endParaRPr lang="en-US" sz="1250" dirty="0"/>
          </a:p>
        </p:txBody>
      </p:sp>
      <p:sp>
        <p:nvSpPr>
          <p:cNvPr id="12" name="Shape 10"/>
          <p:cNvSpPr/>
          <p:nvPr/>
        </p:nvSpPr>
        <p:spPr>
          <a:xfrm>
            <a:off x="585216" y="2615184"/>
            <a:ext cx="2350008" cy="22860"/>
          </a:xfrm>
          <a:prstGeom prst="rect">
            <a:avLst/>
          </a:prstGeom>
          <a:solidFill>
            <a:srgbClr val="10B981">
              <a:alpha val="35000"/>
            </a:srgbClr>
          </a:solidFill>
          <a:ln w="12700">
            <a:solidFill>
              <a:srgbClr val="333333"/>
            </a:solidFill>
            <a:prstDash val="solid"/>
          </a:ln>
        </p:spPr>
      </p:sp>
      <p:sp>
        <p:nvSpPr>
          <p:cNvPr id="13" name="Shape 11"/>
          <p:cNvSpPr/>
          <p:nvPr/>
        </p:nvSpPr>
        <p:spPr>
          <a:xfrm>
            <a:off x="626364" y="2775204"/>
            <a:ext cx="100584" cy="100584"/>
          </a:xfrm>
          <a:prstGeom prst="ellipse">
            <a:avLst/>
          </a:prstGeom>
          <a:solidFill>
            <a:srgbClr val="10B981"/>
          </a:solidFill>
          <a:ln w="12700">
            <a:solidFill>
              <a:srgbClr val="10B981"/>
            </a:solidFill>
            <a:prstDash val="solid"/>
          </a:ln>
        </p:spPr>
      </p:sp>
      <p:sp>
        <p:nvSpPr>
          <p:cNvPr id="14" name="Text 12"/>
          <p:cNvSpPr/>
          <p:nvPr/>
        </p:nvSpPr>
        <p:spPr>
          <a:xfrm>
            <a:off x="804672" y="2706624"/>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APIs YAS et Moov Money : paiements natifs.</a:t>
            </a:r>
            <a:endParaRPr lang="en-US" sz="1000" dirty="0"/>
          </a:p>
        </p:txBody>
      </p:sp>
      <p:sp>
        <p:nvSpPr>
          <p:cNvPr id="15" name="Shape 13"/>
          <p:cNvSpPr/>
          <p:nvPr/>
        </p:nvSpPr>
        <p:spPr>
          <a:xfrm>
            <a:off x="626364" y="3122676"/>
            <a:ext cx="100584" cy="100584"/>
          </a:xfrm>
          <a:prstGeom prst="ellipse">
            <a:avLst/>
          </a:prstGeom>
          <a:solidFill>
            <a:srgbClr val="10B981"/>
          </a:solidFill>
          <a:ln w="12700">
            <a:solidFill>
              <a:srgbClr val="10B981"/>
            </a:solidFill>
            <a:prstDash val="solid"/>
          </a:ln>
        </p:spPr>
      </p:sp>
      <p:sp>
        <p:nvSpPr>
          <p:cNvPr id="16" name="Text 14"/>
          <p:cNvSpPr/>
          <p:nvPr/>
        </p:nvSpPr>
        <p:spPr>
          <a:xfrm>
            <a:off x="804672" y="3054096"/>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Notifications SMS et USSD incluses.</a:t>
            </a:r>
            <a:endParaRPr lang="en-US" sz="1000" dirty="0"/>
          </a:p>
        </p:txBody>
      </p:sp>
      <p:sp>
        <p:nvSpPr>
          <p:cNvPr id="17" name="Shape 15"/>
          <p:cNvSpPr/>
          <p:nvPr/>
        </p:nvSpPr>
        <p:spPr>
          <a:xfrm>
            <a:off x="626364" y="3470148"/>
            <a:ext cx="100584" cy="100584"/>
          </a:xfrm>
          <a:prstGeom prst="ellipse">
            <a:avLst/>
          </a:prstGeom>
          <a:solidFill>
            <a:srgbClr val="10B981"/>
          </a:solidFill>
          <a:ln w="12700">
            <a:solidFill>
              <a:srgbClr val="10B981"/>
            </a:solidFill>
            <a:prstDash val="solid"/>
          </a:ln>
        </p:spPr>
      </p:sp>
      <p:sp>
        <p:nvSpPr>
          <p:cNvPr id="18" name="Text 16"/>
          <p:cNvSpPr/>
          <p:nvPr/>
        </p:nvSpPr>
        <p:spPr>
          <a:xfrm>
            <a:off x="804672" y="3401568"/>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Escrow securise pour les commercants.</a:t>
            </a:r>
            <a:endParaRPr lang="en-US" sz="1000" dirty="0"/>
          </a:p>
        </p:txBody>
      </p:sp>
      <p:sp>
        <p:nvSpPr>
          <p:cNvPr id="19" name="Shape 17"/>
          <p:cNvSpPr/>
          <p:nvPr/>
        </p:nvSpPr>
        <p:spPr>
          <a:xfrm>
            <a:off x="626364" y="3817620"/>
            <a:ext cx="100584" cy="100584"/>
          </a:xfrm>
          <a:prstGeom prst="ellipse">
            <a:avLst/>
          </a:prstGeom>
          <a:solidFill>
            <a:srgbClr val="10B981"/>
          </a:solidFill>
          <a:ln w="12700">
            <a:solidFill>
              <a:srgbClr val="10B981"/>
            </a:solidFill>
            <a:prstDash val="solid"/>
          </a:ln>
        </p:spPr>
      </p:sp>
      <p:sp>
        <p:nvSpPr>
          <p:cNvPr id="20" name="Text 18"/>
          <p:cNvSpPr/>
          <p:nvPr/>
        </p:nvSpPr>
        <p:spPr>
          <a:xfrm>
            <a:off x="804672" y="3749040"/>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Necessite un appui institutionnel.</a:t>
            </a:r>
            <a:endParaRPr lang="en-US" sz="1000" dirty="0"/>
          </a:p>
        </p:txBody>
      </p:sp>
      <p:sp>
        <p:nvSpPr>
          <p:cNvPr id="21" name="Shape 19"/>
          <p:cNvSpPr/>
          <p:nvPr/>
        </p:nvSpPr>
        <p:spPr>
          <a:xfrm>
            <a:off x="626364" y="4165092"/>
            <a:ext cx="100584" cy="100584"/>
          </a:xfrm>
          <a:prstGeom prst="ellipse">
            <a:avLst/>
          </a:prstGeom>
          <a:solidFill>
            <a:srgbClr val="10B981"/>
          </a:solidFill>
          <a:ln w="12700">
            <a:solidFill>
              <a:srgbClr val="10B981"/>
            </a:solidFill>
            <a:prstDash val="solid"/>
          </a:ln>
        </p:spPr>
      </p:sp>
      <p:sp>
        <p:nvSpPr>
          <p:cNvPr id="22" name="Text 20"/>
          <p:cNvSpPr/>
          <p:nvPr/>
        </p:nvSpPr>
        <p:spPr>
          <a:xfrm>
            <a:off x="804672" y="4096512"/>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Impossible en autonomie pour une startup.</a:t>
            </a:r>
            <a:endParaRPr lang="en-US" sz="1000" dirty="0"/>
          </a:p>
        </p:txBody>
      </p:sp>
      <p:sp>
        <p:nvSpPr>
          <p:cNvPr id="23" name="Shape 21"/>
          <p:cNvSpPr/>
          <p:nvPr/>
        </p:nvSpPr>
        <p:spPr>
          <a:xfrm>
            <a:off x="3268980" y="1554480"/>
            <a:ext cx="2606040" cy="2971800"/>
          </a:xfrm>
          <a:prstGeom prst="roundRect">
            <a:avLst>
              <a:gd name="adj" fmla="val 2807"/>
            </a:avLst>
          </a:prstGeom>
          <a:solidFill>
            <a:srgbClr val="0D1420"/>
          </a:solidFill>
          <a:ln w="6350">
            <a:solidFill>
              <a:srgbClr val="10B981">
                <a:alpha val="30000"/>
              </a:srgbClr>
            </a:solidFill>
            <a:prstDash val="solid"/>
          </a:ln>
        </p:spPr>
      </p:sp>
      <p:sp>
        <p:nvSpPr>
          <p:cNvPr id="24" name="Shape 22"/>
          <p:cNvSpPr/>
          <p:nvPr/>
        </p:nvSpPr>
        <p:spPr>
          <a:xfrm>
            <a:off x="3378708" y="1719072"/>
            <a:ext cx="402336" cy="402336"/>
          </a:xfrm>
          <a:prstGeom prst="ellipse">
            <a:avLst/>
          </a:prstGeom>
          <a:solidFill>
            <a:srgbClr val="34D399"/>
          </a:solidFill>
          <a:ln w="12700">
            <a:solidFill>
              <a:srgbClr val="34D399"/>
            </a:solidFill>
            <a:prstDash val="solid"/>
          </a:ln>
        </p:spPr>
      </p:sp>
      <p:sp>
        <p:nvSpPr>
          <p:cNvPr id="25" name="Text 23"/>
          <p:cNvSpPr/>
          <p:nvPr/>
        </p:nvSpPr>
        <p:spPr>
          <a:xfrm>
            <a:off x="3378708" y="1792224"/>
            <a:ext cx="402336"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02</a:t>
            </a:r>
            <a:endParaRPr lang="en-US" sz="1000" dirty="0"/>
          </a:p>
        </p:txBody>
      </p:sp>
      <p:sp>
        <p:nvSpPr>
          <p:cNvPr id="26" name="Text 24"/>
          <p:cNvSpPr/>
          <p:nvPr/>
        </p:nvSpPr>
        <p:spPr>
          <a:xfrm>
            <a:off x="3396996" y="2212848"/>
            <a:ext cx="2350008" cy="36576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Communication et acquisition</a:t>
            </a:r>
            <a:endParaRPr lang="en-US" sz="1250" dirty="0"/>
          </a:p>
        </p:txBody>
      </p:sp>
      <p:sp>
        <p:nvSpPr>
          <p:cNvPr id="27" name="Shape 25"/>
          <p:cNvSpPr/>
          <p:nvPr/>
        </p:nvSpPr>
        <p:spPr>
          <a:xfrm>
            <a:off x="3396996" y="2615184"/>
            <a:ext cx="2350008" cy="22860"/>
          </a:xfrm>
          <a:prstGeom prst="rect">
            <a:avLst/>
          </a:prstGeom>
          <a:solidFill>
            <a:srgbClr val="34D399">
              <a:alpha val="35000"/>
            </a:srgbClr>
          </a:solidFill>
          <a:ln w="12700">
            <a:solidFill>
              <a:srgbClr val="333333"/>
            </a:solidFill>
            <a:prstDash val="solid"/>
          </a:ln>
        </p:spPr>
      </p:sp>
      <p:sp>
        <p:nvSpPr>
          <p:cNvPr id="28" name="Shape 26"/>
          <p:cNvSpPr/>
          <p:nvPr/>
        </p:nvSpPr>
        <p:spPr>
          <a:xfrm>
            <a:off x="3438144" y="2775204"/>
            <a:ext cx="100584" cy="100584"/>
          </a:xfrm>
          <a:prstGeom prst="ellipse">
            <a:avLst/>
          </a:prstGeom>
          <a:solidFill>
            <a:srgbClr val="34D399"/>
          </a:solidFill>
          <a:ln w="12700">
            <a:solidFill>
              <a:srgbClr val="34D399"/>
            </a:solidFill>
            <a:prstDash val="solid"/>
          </a:ln>
        </p:spPr>
      </p:sp>
      <p:sp>
        <p:nvSpPr>
          <p:cNvPr id="29" name="Text 27"/>
          <p:cNvSpPr/>
          <p:nvPr/>
        </p:nvSpPr>
        <p:spPr>
          <a:xfrm>
            <a:off x="3616452" y="2706624"/>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Radio, affichage, activation de zone.</a:t>
            </a:r>
            <a:endParaRPr lang="en-US" sz="1000" dirty="0"/>
          </a:p>
        </p:txBody>
      </p:sp>
      <p:sp>
        <p:nvSpPr>
          <p:cNvPr id="30" name="Shape 28"/>
          <p:cNvSpPr/>
          <p:nvPr/>
        </p:nvSpPr>
        <p:spPr>
          <a:xfrm>
            <a:off x="3438144" y="3122676"/>
            <a:ext cx="100584" cy="100584"/>
          </a:xfrm>
          <a:prstGeom prst="ellipse">
            <a:avLst/>
          </a:prstGeom>
          <a:solidFill>
            <a:srgbClr val="34D399"/>
          </a:solidFill>
          <a:ln w="12700">
            <a:solidFill>
              <a:srgbClr val="34D399"/>
            </a:solidFill>
            <a:prstDash val="solid"/>
          </a:ln>
        </p:spPr>
      </p:sp>
      <p:sp>
        <p:nvSpPr>
          <p:cNvPr id="31" name="Text 29"/>
          <p:cNvSpPr/>
          <p:nvPr/>
        </p:nvSpPr>
        <p:spPr>
          <a:xfrm>
            <a:off x="3616452" y="3054096"/>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Campagne acheteurs et commercants.</a:t>
            </a:r>
            <a:endParaRPr lang="en-US" sz="1000" dirty="0"/>
          </a:p>
        </p:txBody>
      </p:sp>
      <p:sp>
        <p:nvSpPr>
          <p:cNvPr id="32" name="Shape 30"/>
          <p:cNvSpPr/>
          <p:nvPr/>
        </p:nvSpPr>
        <p:spPr>
          <a:xfrm>
            <a:off x="3438144" y="3470148"/>
            <a:ext cx="100584" cy="100584"/>
          </a:xfrm>
          <a:prstGeom prst="ellipse">
            <a:avLst/>
          </a:prstGeom>
          <a:solidFill>
            <a:srgbClr val="34D399"/>
          </a:solidFill>
          <a:ln w="12700">
            <a:solidFill>
              <a:srgbClr val="34D399"/>
            </a:solidFill>
            <a:prstDash val="solid"/>
          </a:ln>
        </p:spPr>
      </p:sp>
      <p:sp>
        <p:nvSpPr>
          <p:cNvPr id="33" name="Text 31"/>
          <p:cNvSpPr/>
          <p:nvPr/>
        </p:nvSpPr>
        <p:spPr>
          <a:xfrm>
            <a:off x="3616452" y="3401568"/>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Partenariats associations de commercants.</a:t>
            </a:r>
            <a:endParaRPr lang="en-US" sz="1000" dirty="0"/>
          </a:p>
        </p:txBody>
      </p:sp>
      <p:sp>
        <p:nvSpPr>
          <p:cNvPr id="34" name="Shape 32"/>
          <p:cNvSpPr/>
          <p:nvPr/>
        </p:nvSpPr>
        <p:spPr>
          <a:xfrm>
            <a:off x="3438144" y="3817620"/>
            <a:ext cx="100584" cy="100584"/>
          </a:xfrm>
          <a:prstGeom prst="ellipse">
            <a:avLst/>
          </a:prstGeom>
          <a:solidFill>
            <a:srgbClr val="34D399"/>
          </a:solidFill>
          <a:ln w="12700">
            <a:solidFill>
              <a:srgbClr val="34D399"/>
            </a:solidFill>
            <a:prstDash val="solid"/>
          </a:ln>
        </p:spPr>
      </p:sp>
      <p:sp>
        <p:nvSpPr>
          <p:cNvPr id="35" name="Text 33"/>
          <p:cNvSpPr/>
          <p:nvPr/>
        </p:nvSpPr>
        <p:spPr>
          <a:xfrm>
            <a:off x="3616452" y="3749040"/>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Bouche-a-oreille structure.</a:t>
            </a:r>
            <a:endParaRPr lang="en-US" sz="1000" dirty="0"/>
          </a:p>
        </p:txBody>
      </p:sp>
      <p:sp>
        <p:nvSpPr>
          <p:cNvPr id="36" name="Shape 34"/>
          <p:cNvSpPr/>
          <p:nvPr/>
        </p:nvSpPr>
        <p:spPr>
          <a:xfrm>
            <a:off x="3438144" y="4165092"/>
            <a:ext cx="100584" cy="100584"/>
          </a:xfrm>
          <a:prstGeom prst="ellipse">
            <a:avLst/>
          </a:prstGeom>
          <a:solidFill>
            <a:srgbClr val="34D399"/>
          </a:solidFill>
          <a:ln w="12700">
            <a:solidFill>
              <a:srgbClr val="34D399"/>
            </a:solidFill>
            <a:prstDash val="solid"/>
          </a:ln>
        </p:spPr>
      </p:sp>
      <p:sp>
        <p:nvSpPr>
          <p:cNvPr id="37" name="Text 35"/>
          <p:cNvSpPr/>
          <p:nvPr/>
        </p:nvSpPr>
        <p:spPr>
          <a:xfrm>
            <a:off x="3616452" y="4096512"/>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Objectif : notoriete dans chaque marche.</a:t>
            </a:r>
            <a:endParaRPr lang="en-US" sz="1000" dirty="0"/>
          </a:p>
        </p:txBody>
      </p:sp>
      <p:sp>
        <p:nvSpPr>
          <p:cNvPr id="38" name="Shape 36"/>
          <p:cNvSpPr/>
          <p:nvPr/>
        </p:nvSpPr>
        <p:spPr>
          <a:xfrm>
            <a:off x="6080760" y="1554480"/>
            <a:ext cx="2606040" cy="2971800"/>
          </a:xfrm>
          <a:prstGeom prst="roundRect">
            <a:avLst>
              <a:gd name="adj" fmla="val 2807"/>
            </a:avLst>
          </a:prstGeom>
          <a:solidFill>
            <a:srgbClr val="0D1420"/>
          </a:solidFill>
          <a:ln w="6350">
            <a:solidFill>
              <a:srgbClr val="10B981">
                <a:alpha val="30000"/>
              </a:srgbClr>
            </a:solidFill>
            <a:prstDash val="solid"/>
          </a:ln>
        </p:spPr>
      </p:sp>
      <p:sp>
        <p:nvSpPr>
          <p:cNvPr id="39" name="Shape 37"/>
          <p:cNvSpPr/>
          <p:nvPr/>
        </p:nvSpPr>
        <p:spPr>
          <a:xfrm>
            <a:off x="6190488" y="1719072"/>
            <a:ext cx="402336" cy="402336"/>
          </a:xfrm>
          <a:prstGeom prst="ellipse">
            <a:avLst/>
          </a:prstGeom>
          <a:solidFill>
            <a:srgbClr val="0D9488"/>
          </a:solidFill>
          <a:ln w="12700">
            <a:solidFill>
              <a:srgbClr val="0D9488"/>
            </a:solidFill>
            <a:prstDash val="solid"/>
          </a:ln>
        </p:spPr>
      </p:sp>
      <p:sp>
        <p:nvSpPr>
          <p:cNvPr id="40" name="Text 38"/>
          <p:cNvSpPr/>
          <p:nvPr/>
        </p:nvSpPr>
        <p:spPr>
          <a:xfrm>
            <a:off x="6190488" y="1792224"/>
            <a:ext cx="402336"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03</a:t>
            </a:r>
            <a:endParaRPr lang="en-US" sz="1000" dirty="0"/>
          </a:p>
        </p:txBody>
      </p:sp>
      <p:sp>
        <p:nvSpPr>
          <p:cNvPr id="41" name="Text 39"/>
          <p:cNvSpPr/>
          <p:nvPr/>
        </p:nvSpPr>
        <p:spPr>
          <a:xfrm>
            <a:off x="6208776" y="2212848"/>
            <a:ext cx="2350008" cy="36576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Couverture terrain</a:t>
            </a:r>
            <a:endParaRPr lang="en-US" sz="1250" dirty="0"/>
          </a:p>
        </p:txBody>
      </p:sp>
      <p:sp>
        <p:nvSpPr>
          <p:cNvPr id="42" name="Shape 40"/>
          <p:cNvSpPr/>
          <p:nvPr/>
        </p:nvSpPr>
        <p:spPr>
          <a:xfrm>
            <a:off x="6208776" y="2615184"/>
            <a:ext cx="2350008" cy="22860"/>
          </a:xfrm>
          <a:prstGeom prst="rect">
            <a:avLst/>
          </a:prstGeom>
          <a:solidFill>
            <a:srgbClr val="0D9488">
              <a:alpha val="35000"/>
            </a:srgbClr>
          </a:solidFill>
          <a:ln w="12700">
            <a:solidFill>
              <a:srgbClr val="333333"/>
            </a:solidFill>
            <a:prstDash val="solid"/>
          </a:ln>
        </p:spPr>
      </p:sp>
      <p:sp>
        <p:nvSpPr>
          <p:cNvPr id="43" name="Shape 41"/>
          <p:cNvSpPr/>
          <p:nvPr/>
        </p:nvSpPr>
        <p:spPr>
          <a:xfrm>
            <a:off x="6249924" y="2775204"/>
            <a:ext cx="100584" cy="100584"/>
          </a:xfrm>
          <a:prstGeom prst="ellipse">
            <a:avLst/>
          </a:prstGeom>
          <a:solidFill>
            <a:srgbClr val="0D9488"/>
          </a:solidFill>
          <a:ln w="12700">
            <a:solidFill>
              <a:srgbClr val="0D9488"/>
            </a:solidFill>
            <a:prstDash val="solid"/>
          </a:ln>
        </p:spPr>
      </p:sp>
      <p:sp>
        <p:nvSpPr>
          <p:cNvPr id="44" name="Text 42"/>
          <p:cNvSpPr/>
          <p:nvPr/>
        </p:nvSpPr>
        <p:spPr>
          <a:xfrm>
            <a:off x="6428232" y="2706624"/>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Agents qui accompagnent les commercants.</a:t>
            </a:r>
            <a:endParaRPr lang="en-US" sz="1000" dirty="0"/>
          </a:p>
        </p:txBody>
      </p:sp>
      <p:sp>
        <p:nvSpPr>
          <p:cNvPr id="45" name="Shape 43"/>
          <p:cNvSpPr/>
          <p:nvPr/>
        </p:nvSpPr>
        <p:spPr>
          <a:xfrm>
            <a:off x="6249924" y="3122676"/>
            <a:ext cx="100584" cy="100584"/>
          </a:xfrm>
          <a:prstGeom prst="ellipse">
            <a:avLst/>
          </a:prstGeom>
          <a:solidFill>
            <a:srgbClr val="0D9488"/>
          </a:solidFill>
          <a:ln w="12700">
            <a:solidFill>
              <a:srgbClr val="0D9488"/>
            </a:solidFill>
            <a:prstDash val="solid"/>
          </a:ln>
        </p:spPr>
      </p:sp>
      <p:sp>
        <p:nvSpPr>
          <p:cNvPr id="46" name="Text 44"/>
          <p:cNvSpPr/>
          <p:nvPr/>
        </p:nvSpPr>
        <p:spPr>
          <a:xfrm>
            <a:off x="6428232" y="3054096"/>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Creation de fiche assistee en marche.</a:t>
            </a:r>
            <a:endParaRPr lang="en-US" sz="1000" dirty="0"/>
          </a:p>
        </p:txBody>
      </p:sp>
      <p:sp>
        <p:nvSpPr>
          <p:cNvPr id="47" name="Shape 45"/>
          <p:cNvSpPr/>
          <p:nvPr/>
        </p:nvSpPr>
        <p:spPr>
          <a:xfrm>
            <a:off x="6249924" y="3470148"/>
            <a:ext cx="100584" cy="100584"/>
          </a:xfrm>
          <a:prstGeom prst="ellipse">
            <a:avLst/>
          </a:prstGeom>
          <a:solidFill>
            <a:srgbClr val="0D9488"/>
          </a:solidFill>
          <a:ln w="12700">
            <a:solidFill>
              <a:srgbClr val="0D9488"/>
            </a:solidFill>
            <a:prstDash val="solid"/>
          </a:ln>
        </p:spPr>
      </p:sp>
      <p:sp>
        <p:nvSpPr>
          <p:cNvPr id="48" name="Text 46"/>
          <p:cNvSpPr/>
          <p:nvPr/>
        </p:nvSpPr>
        <p:spPr>
          <a:xfrm>
            <a:off x="6428232" y="3401568"/>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Cartographie zone par zone, rue par rue.</a:t>
            </a:r>
            <a:endParaRPr lang="en-US" sz="1000" dirty="0"/>
          </a:p>
        </p:txBody>
      </p:sp>
      <p:sp>
        <p:nvSpPr>
          <p:cNvPr id="49" name="Shape 47"/>
          <p:cNvSpPr/>
          <p:nvPr/>
        </p:nvSpPr>
        <p:spPr>
          <a:xfrm>
            <a:off x="6249924" y="3817620"/>
            <a:ext cx="100584" cy="100584"/>
          </a:xfrm>
          <a:prstGeom prst="ellipse">
            <a:avLst/>
          </a:prstGeom>
          <a:solidFill>
            <a:srgbClr val="0D9488"/>
          </a:solidFill>
          <a:ln w="12700">
            <a:solidFill>
              <a:srgbClr val="0D9488"/>
            </a:solidFill>
            <a:prstDash val="solid"/>
          </a:ln>
        </p:spPr>
      </p:sp>
      <p:sp>
        <p:nvSpPr>
          <p:cNvPr id="50" name="Text 48"/>
          <p:cNvSpPr/>
          <p:nvPr/>
        </p:nvSpPr>
        <p:spPr>
          <a:xfrm>
            <a:off x="6428232" y="3749040"/>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Formation et assistance continue.</a:t>
            </a:r>
            <a:endParaRPr lang="en-US" sz="1000" dirty="0"/>
          </a:p>
        </p:txBody>
      </p:sp>
      <p:sp>
        <p:nvSpPr>
          <p:cNvPr id="51" name="Shape 49"/>
          <p:cNvSpPr/>
          <p:nvPr/>
        </p:nvSpPr>
        <p:spPr>
          <a:xfrm>
            <a:off x="6249924" y="4165092"/>
            <a:ext cx="100584" cy="100584"/>
          </a:xfrm>
          <a:prstGeom prst="ellipse">
            <a:avLst/>
          </a:prstGeom>
          <a:solidFill>
            <a:srgbClr val="0D9488"/>
          </a:solidFill>
          <a:ln w="12700">
            <a:solidFill>
              <a:srgbClr val="0D9488"/>
            </a:solidFill>
            <a:prstDash val="solid"/>
          </a:ln>
        </p:spPr>
      </p:sp>
      <p:sp>
        <p:nvSpPr>
          <p:cNvPr id="52" name="Text 50"/>
          <p:cNvSpPr/>
          <p:nvPr/>
        </p:nvSpPr>
        <p:spPr>
          <a:xfrm>
            <a:off x="6428232" y="4096512"/>
            <a:ext cx="2130552"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Objectif : 1 000 fiches actives en 90 jours.</a:t>
            </a:r>
            <a:endParaRPr lang="en-US" sz="1000" dirty="0"/>
          </a:p>
        </p:txBody>
      </p:sp>
      <p:sp>
        <p:nvSpPr>
          <p:cNvPr id="53" name="Text 51"/>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54" name="Text 52"/>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08 / 10</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L'EQUIPE</a:t>
            </a:r>
            <a:endParaRPr lang="en-US" sz="900" dirty="0"/>
          </a:p>
        </p:txBody>
      </p:sp>
      <p:sp>
        <p:nvSpPr>
          <p:cNvPr id="7" name="Text 5"/>
          <p:cNvSpPr/>
          <p:nvPr/>
        </p:nvSpPr>
        <p:spPr>
          <a:xfrm>
            <a:off x="457200" y="969264"/>
            <a:ext cx="8229600" cy="402336"/>
          </a:xfrm>
          <a:prstGeom prst="rect">
            <a:avLst/>
          </a:prstGeom>
          <a:noFill/>
          <a:ln/>
        </p:spPr>
        <p:txBody>
          <a:bodyPr wrap="square" lIns="0" tIns="0" rIns="0" bIns="0" rtlCol="0" anchor="ctr"/>
          <a:lstStyle/>
          <a:p>
            <a:pPr algn="l" indent="0" marL="0">
              <a:buNone/>
            </a:pPr>
            <a:r>
              <a:rPr lang="en-US" sz="2100" b="1" dirty="0">
                <a:solidFill>
                  <a:srgbClr val="FFFFFF"/>
                </a:solidFill>
                <a:latin typeface="Calibri" pitchFamily="34" charset="0"/>
                <a:ea typeface="Calibri" pitchFamily="34" charset="-122"/>
                <a:cs typeface="Calibri" pitchFamily="34" charset="-120"/>
              </a:rPr>
              <a:t>Nous construisons pour ce marche. Pas pour la Silicon Valley.</a:t>
            </a:r>
            <a:endParaRPr lang="en-US" sz="2100" dirty="0"/>
          </a:p>
        </p:txBody>
      </p:sp>
      <p:sp>
        <p:nvSpPr>
          <p:cNvPr id="8" name="Shape 6"/>
          <p:cNvSpPr/>
          <p:nvPr/>
        </p:nvSpPr>
        <p:spPr>
          <a:xfrm>
            <a:off x="457200" y="1481328"/>
            <a:ext cx="2606040" cy="1517904"/>
          </a:xfrm>
          <a:prstGeom prst="roundRect">
            <a:avLst>
              <a:gd name="adj" fmla="val 4819"/>
            </a:avLst>
          </a:prstGeom>
          <a:solidFill>
            <a:srgbClr val="0D1420"/>
          </a:solidFill>
          <a:ln w="6350">
            <a:solidFill>
              <a:srgbClr val="10B981">
                <a:alpha val="30000"/>
              </a:srgbClr>
            </a:solidFill>
            <a:prstDash val="solid"/>
          </a:ln>
        </p:spPr>
      </p:sp>
      <p:sp>
        <p:nvSpPr>
          <p:cNvPr id="9" name="Shape 7"/>
          <p:cNvSpPr/>
          <p:nvPr/>
        </p:nvSpPr>
        <p:spPr>
          <a:xfrm>
            <a:off x="530352" y="1609344"/>
            <a:ext cx="475488" cy="475488"/>
          </a:xfrm>
          <a:prstGeom prst="ellipse">
            <a:avLst/>
          </a:prstGeom>
          <a:solidFill>
            <a:srgbClr val="10B981"/>
          </a:solidFill>
          <a:ln w="12700">
            <a:solidFill>
              <a:srgbClr val="10B981"/>
            </a:solidFill>
            <a:prstDash val="solid"/>
          </a:ln>
        </p:spPr>
      </p:sp>
      <p:sp>
        <p:nvSpPr>
          <p:cNvPr id="10" name="Text 8"/>
          <p:cNvSpPr/>
          <p:nvPr/>
        </p:nvSpPr>
        <p:spPr>
          <a:xfrm>
            <a:off x="530352" y="1719072"/>
            <a:ext cx="475488"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KL</a:t>
            </a:r>
            <a:endParaRPr lang="en-US" sz="1000" dirty="0"/>
          </a:p>
        </p:txBody>
      </p:sp>
      <p:sp>
        <p:nvSpPr>
          <p:cNvPr id="11" name="Text 9"/>
          <p:cNvSpPr/>
          <p:nvPr/>
        </p:nvSpPr>
        <p:spPr>
          <a:xfrm>
            <a:off x="1115568" y="1572768"/>
            <a:ext cx="1819656"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Kheir Lissi</a:t>
            </a:r>
            <a:endParaRPr lang="en-US" sz="1150" dirty="0"/>
          </a:p>
        </p:txBody>
      </p:sp>
      <p:sp>
        <p:nvSpPr>
          <p:cNvPr id="12" name="Text 10"/>
          <p:cNvSpPr/>
          <p:nvPr/>
        </p:nvSpPr>
        <p:spPr>
          <a:xfrm>
            <a:off x="1115568" y="1847088"/>
            <a:ext cx="1819656" cy="237744"/>
          </a:xfrm>
          <a:prstGeom prst="rect">
            <a:avLst/>
          </a:prstGeom>
          <a:noFill/>
          <a:ln/>
        </p:spPr>
        <p:txBody>
          <a:bodyPr wrap="square" lIns="0" tIns="0" rIns="0" bIns="0" rtlCol="0" anchor="ctr"/>
          <a:lstStyle/>
          <a:p>
            <a:pPr algn="l" indent="0" marL="0">
              <a:buNone/>
            </a:pPr>
            <a:r>
              <a:rPr lang="en-US" sz="950" b="1" dirty="0">
                <a:solidFill>
                  <a:srgbClr val="10B981"/>
                </a:solidFill>
                <a:latin typeface="Calibri" pitchFamily="34" charset="0"/>
                <a:ea typeface="Calibri" pitchFamily="34" charset="-122"/>
                <a:cs typeface="Calibri" pitchFamily="34" charset="-120"/>
              </a:rPr>
              <a:t>CEO et Vision Produit</a:t>
            </a:r>
            <a:endParaRPr lang="en-US" sz="950" dirty="0"/>
          </a:p>
        </p:txBody>
      </p:sp>
      <p:sp>
        <p:nvSpPr>
          <p:cNvPr id="13" name="Shape 11"/>
          <p:cNvSpPr/>
          <p:nvPr/>
        </p:nvSpPr>
        <p:spPr>
          <a:xfrm>
            <a:off x="585216" y="2157984"/>
            <a:ext cx="2350008" cy="22860"/>
          </a:xfrm>
          <a:prstGeom prst="rect">
            <a:avLst/>
          </a:prstGeom>
          <a:solidFill>
            <a:srgbClr val="10B981">
              <a:alpha val="35000"/>
            </a:srgbClr>
          </a:solidFill>
          <a:ln w="12700">
            <a:solidFill>
              <a:srgbClr val="333333"/>
            </a:solidFill>
            <a:prstDash val="solid"/>
          </a:ln>
        </p:spPr>
      </p:sp>
      <p:sp>
        <p:nvSpPr>
          <p:cNvPr id="14" name="Text 12"/>
          <p:cNvSpPr/>
          <p:nvPr/>
        </p:nvSpPr>
        <p:spPr>
          <a:xfrm>
            <a:off x="585216" y="2231136"/>
            <a:ext cx="2350008" cy="6583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Porteur de l'idee, vision strategique, developpement full-stack.</a:t>
            </a:r>
            <a:endParaRPr lang="en-US" sz="900" dirty="0"/>
          </a:p>
        </p:txBody>
      </p:sp>
      <p:sp>
        <p:nvSpPr>
          <p:cNvPr id="15" name="Shape 13"/>
          <p:cNvSpPr/>
          <p:nvPr/>
        </p:nvSpPr>
        <p:spPr>
          <a:xfrm>
            <a:off x="3268980" y="1481328"/>
            <a:ext cx="2606040" cy="1517904"/>
          </a:xfrm>
          <a:prstGeom prst="roundRect">
            <a:avLst>
              <a:gd name="adj" fmla="val 4819"/>
            </a:avLst>
          </a:prstGeom>
          <a:solidFill>
            <a:srgbClr val="0D1420"/>
          </a:solidFill>
          <a:ln w="6350">
            <a:solidFill>
              <a:srgbClr val="10B981">
                <a:alpha val="30000"/>
              </a:srgbClr>
            </a:solidFill>
            <a:prstDash val="solid"/>
          </a:ln>
        </p:spPr>
      </p:sp>
      <p:sp>
        <p:nvSpPr>
          <p:cNvPr id="16" name="Shape 14"/>
          <p:cNvSpPr/>
          <p:nvPr/>
        </p:nvSpPr>
        <p:spPr>
          <a:xfrm>
            <a:off x="3342132" y="1609344"/>
            <a:ext cx="475488" cy="475488"/>
          </a:xfrm>
          <a:prstGeom prst="ellipse">
            <a:avLst/>
          </a:prstGeom>
          <a:solidFill>
            <a:srgbClr val="10B981"/>
          </a:solidFill>
          <a:ln w="12700">
            <a:solidFill>
              <a:srgbClr val="10B981"/>
            </a:solidFill>
            <a:prstDash val="solid"/>
          </a:ln>
        </p:spPr>
      </p:sp>
      <p:sp>
        <p:nvSpPr>
          <p:cNvPr id="17" name="Text 15"/>
          <p:cNvSpPr/>
          <p:nvPr/>
        </p:nvSpPr>
        <p:spPr>
          <a:xfrm>
            <a:off x="3342132" y="1719072"/>
            <a:ext cx="475488"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SA</a:t>
            </a:r>
            <a:endParaRPr lang="en-US" sz="1000" dirty="0"/>
          </a:p>
        </p:txBody>
      </p:sp>
      <p:sp>
        <p:nvSpPr>
          <p:cNvPr id="18" name="Text 16"/>
          <p:cNvSpPr/>
          <p:nvPr/>
        </p:nvSpPr>
        <p:spPr>
          <a:xfrm>
            <a:off x="3927348" y="1572768"/>
            <a:ext cx="1819656"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Samuel Attiogbe</a:t>
            </a:r>
            <a:endParaRPr lang="en-US" sz="1150" dirty="0"/>
          </a:p>
        </p:txBody>
      </p:sp>
      <p:sp>
        <p:nvSpPr>
          <p:cNvPr id="19" name="Text 17"/>
          <p:cNvSpPr/>
          <p:nvPr/>
        </p:nvSpPr>
        <p:spPr>
          <a:xfrm>
            <a:off x="3927348" y="1847088"/>
            <a:ext cx="1819656" cy="237744"/>
          </a:xfrm>
          <a:prstGeom prst="rect">
            <a:avLst/>
          </a:prstGeom>
          <a:noFill/>
          <a:ln/>
        </p:spPr>
        <p:txBody>
          <a:bodyPr wrap="square" lIns="0" tIns="0" rIns="0" bIns="0" rtlCol="0" anchor="ctr"/>
          <a:lstStyle/>
          <a:p>
            <a:pPr algn="l" indent="0" marL="0">
              <a:buNone/>
            </a:pPr>
            <a:r>
              <a:rPr lang="en-US" sz="950" b="1" dirty="0">
                <a:solidFill>
                  <a:srgbClr val="10B981"/>
                </a:solidFill>
                <a:latin typeface="Calibri" pitchFamily="34" charset="0"/>
                <a:ea typeface="Calibri" pitchFamily="34" charset="-122"/>
                <a:cs typeface="Calibri" pitchFamily="34" charset="-120"/>
              </a:rPr>
              <a:t>Lead Dev</a:t>
            </a:r>
            <a:endParaRPr lang="en-US" sz="950" dirty="0"/>
          </a:p>
        </p:txBody>
      </p:sp>
      <p:sp>
        <p:nvSpPr>
          <p:cNvPr id="20" name="Shape 18"/>
          <p:cNvSpPr/>
          <p:nvPr/>
        </p:nvSpPr>
        <p:spPr>
          <a:xfrm>
            <a:off x="3396996" y="2157984"/>
            <a:ext cx="2350008" cy="22860"/>
          </a:xfrm>
          <a:prstGeom prst="rect">
            <a:avLst/>
          </a:prstGeom>
          <a:solidFill>
            <a:srgbClr val="10B981">
              <a:alpha val="35000"/>
            </a:srgbClr>
          </a:solidFill>
          <a:ln w="12700">
            <a:solidFill>
              <a:srgbClr val="333333"/>
            </a:solidFill>
            <a:prstDash val="solid"/>
          </a:ln>
        </p:spPr>
      </p:sp>
      <p:sp>
        <p:nvSpPr>
          <p:cNvPr id="21" name="Text 19"/>
          <p:cNvSpPr/>
          <p:nvPr/>
        </p:nvSpPr>
        <p:spPr>
          <a:xfrm>
            <a:off x="3396996" y="2231136"/>
            <a:ext cx="2350008" cy="6583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Architecture technique, backend, infrastructure.</a:t>
            </a:r>
            <a:endParaRPr lang="en-US" sz="900" dirty="0"/>
          </a:p>
        </p:txBody>
      </p:sp>
      <p:sp>
        <p:nvSpPr>
          <p:cNvPr id="22" name="Shape 20"/>
          <p:cNvSpPr/>
          <p:nvPr/>
        </p:nvSpPr>
        <p:spPr>
          <a:xfrm>
            <a:off x="6080760" y="1481328"/>
            <a:ext cx="2606040" cy="1517904"/>
          </a:xfrm>
          <a:prstGeom prst="roundRect">
            <a:avLst>
              <a:gd name="adj" fmla="val 4819"/>
            </a:avLst>
          </a:prstGeom>
          <a:solidFill>
            <a:srgbClr val="0D1420"/>
          </a:solidFill>
          <a:ln w="6350">
            <a:solidFill>
              <a:srgbClr val="10B981">
                <a:alpha val="30000"/>
              </a:srgbClr>
            </a:solidFill>
            <a:prstDash val="solid"/>
          </a:ln>
        </p:spPr>
      </p:sp>
      <p:sp>
        <p:nvSpPr>
          <p:cNvPr id="23" name="Shape 21"/>
          <p:cNvSpPr/>
          <p:nvPr/>
        </p:nvSpPr>
        <p:spPr>
          <a:xfrm>
            <a:off x="6153912" y="1609344"/>
            <a:ext cx="475488" cy="475488"/>
          </a:xfrm>
          <a:prstGeom prst="ellipse">
            <a:avLst/>
          </a:prstGeom>
          <a:solidFill>
            <a:srgbClr val="10B981"/>
          </a:solidFill>
          <a:ln w="12700">
            <a:solidFill>
              <a:srgbClr val="10B981"/>
            </a:solidFill>
            <a:prstDash val="solid"/>
          </a:ln>
        </p:spPr>
      </p:sp>
      <p:sp>
        <p:nvSpPr>
          <p:cNvPr id="24" name="Text 22"/>
          <p:cNvSpPr/>
          <p:nvPr/>
        </p:nvSpPr>
        <p:spPr>
          <a:xfrm>
            <a:off x="6153912" y="1719072"/>
            <a:ext cx="475488"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NN</a:t>
            </a:r>
            <a:endParaRPr lang="en-US" sz="1000" dirty="0"/>
          </a:p>
        </p:txBody>
      </p:sp>
      <p:sp>
        <p:nvSpPr>
          <p:cNvPr id="25" name="Text 23"/>
          <p:cNvSpPr/>
          <p:nvPr/>
        </p:nvSpPr>
        <p:spPr>
          <a:xfrm>
            <a:off x="6739128" y="1572768"/>
            <a:ext cx="1819656"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Nondo Nina</a:t>
            </a:r>
            <a:endParaRPr lang="en-US" sz="1150" dirty="0"/>
          </a:p>
        </p:txBody>
      </p:sp>
      <p:sp>
        <p:nvSpPr>
          <p:cNvPr id="26" name="Text 24"/>
          <p:cNvSpPr/>
          <p:nvPr/>
        </p:nvSpPr>
        <p:spPr>
          <a:xfrm>
            <a:off x="6739128" y="1847088"/>
            <a:ext cx="1819656" cy="237744"/>
          </a:xfrm>
          <a:prstGeom prst="rect">
            <a:avLst/>
          </a:prstGeom>
          <a:noFill/>
          <a:ln/>
        </p:spPr>
        <p:txBody>
          <a:bodyPr wrap="square" lIns="0" tIns="0" rIns="0" bIns="0" rtlCol="0" anchor="ctr"/>
          <a:lstStyle/>
          <a:p>
            <a:pPr algn="l" indent="0" marL="0">
              <a:buNone/>
            </a:pPr>
            <a:r>
              <a:rPr lang="en-US" sz="950" b="1" dirty="0">
                <a:solidFill>
                  <a:srgbClr val="10B981"/>
                </a:solidFill>
                <a:latin typeface="Calibri" pitchFamily="34" charset="0"/>
                <a:ea typeface="Calibri" pitchFamily="34" charset="-122"/>
                <a:cs typeface="Calibri" pitchFamily="34" charset="-120"/>
              </a:rPr>
              <a:t>Developpeure</a:t>
            </a:r>
            <a:endParaRPr lang="en-US" sz="950" dirty="0"/>
          </a:p>
        </p:txBody>
      </p:sp>
      <p:sp>
        <p:nvSpPr>
          <p:cNvPr id="27" name="Shape 25"/>
          <p:cNvSpPr/>
          <p:nvPr/>
        </p:nvSpPr>
        <p:spPr>
          <a:xfrm>
            <a:off x="6208776" y="2157984"/>
            <a:ext cx="2350008" cy="22860"/>
          </a:xfrm>
          <a:prstGeom prst="rect">
            <a:avLst/>
          </a:prstGeom>
          <a:solidFill>
            <a:srgbClr val="10B981">
              <a:alpha val="35000"/>
            </a:srgbClr>
          </a:solidFill>
          <a:ln w="12700">
            <a:solidFill>
              <a:srgbClr val="333333"/>
            </a:solidFill>
            <a:prstDash val="solid"/>
          </a:ln>
        </p:spPr>
      </p:sp>
      <p:sp>
        <p:nvSpPr>
          <p:cNvPr id="28" name="Text 26"/>
          <p:cNvSpPr/>
          <p:nvPr/>
        </p:nvSpPr>
        <p:spPr>
          <a:xfrm>
            <a:off x="6208776" y="2231136"/>
            <a:ext cx="2350008" cy="6583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Frontend, integration, UX/UI.</a:t>
            </a:r>
            <a:endParaRPr lang="en-US" sz="900" dirty="0"/>
          </a:p>
        </p:txBody>
      </p:sp>
      <p:sp>
        <p:nvSpPr>
          <p:cNvPr id="29" name="Shape 27"/>
          <p:cNvSpPr/>
          <p:nvPr/>
        </p:nvSpPr>
        <p:spPr>
          <a:xfrm>
            <a:off x="457200" y="3108960"/>
            <a:ext cx="2606040" cy="1517904"/>
          </a:xfrm>
          <a:prstGeom prst="roundRect">
            <a:avLst>
              <a:gd name="adj" fmla="val 4819"/>
            </a:avLst>
          </a:prstGeom>
          <a:solidFill>
            <a:srgbClr val="0D1420"/>
          </a:solidFill>
          <a:ln w="6350">
            <a:solidFill>
              <a:srgbClr val="10B981">
                <a:alpha val="30000"/>
              </a:srgbClr>
            </a:solidFill>
            <a:prstDash val="solid"/>
          </a:ln>
        </p:spPr>
      </p:sp>
      <p:sp>
        <p:nvSpPr>
          <p:cNvPr id="30" name="Shape 28"/>
          <p:cNvSpPr/>
          <p:nvPr/>
        </p:nvSpPr>
        <p:spPr>
          <a:xfrm>
            <a:off x="530352" y="3236976"/>
            <a:ext cx="475488" cy="475488"/>
          </a:xfrm>
          <a:prstGeom prst="ellipse">
            <a:avLst/>
          </a:prstGeom>
          <a:solidFill>
            <a:srgbClr val="34D399"/>
          </a:solidFill>
          <a:ln w="12700">
            <a:solidFill>
              <a:srgbClr val="34D399"/>
            </a:solidFill>
            <a:prstDash val="solid"/>
          </a:ln>
        </p:spPr>
      </p:sp>
      <p:sp>
        <p:nvSpPr>
          <p:cNvPr id="31" name="Text 29"/>
          <p:cNvSpPr/>
          <p:nvPr/>
        </p:nvSpPr>
        <p:spPr>
          <a:xfrm>
            <a:off x="530352" y="3346704"/>
            <a:ext cx="475488"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PA</a:t>
            </a:r>
            <a:endParaRPr lang="en-US" sz="1000" dirty="0"/>
          </a:p>
        </p:txBody>
      </p:sp>
      <p:sp>
        <p:nvSpPr>
          <p:cNvPr id="32" name="Text 30"/>
          <p:cNvSpPr/>
          <p:nvPr/>
        </p:nvSpPr>
        <p:spPr>
          <a:xfrm>
            <a:off x="1115568" y="3200400"/>
            <a:ext cx="1819656"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Peteou Antoine</a:t>
            </a:r>
            <a:endParaRPr lang="en-US" sz="1150" dirty="0"/>
          </a:p>
        </p:txBody>
      </p:sp>
      <p:sp>
        <p:nvSpPr>
          <p:cNvPr id="33" name="Text 31"/>
          <p:cNvSpPr/>
          <p:nvPr/>
        </p:nvSpPr>
        <p:spPr>
          <a:xfrm>
            <a:off x="1115568" y="3474720"/>
            <a:ext cx="1819656" cy="237744"/>
          </a:xfrm>
          <a:prstGeom prst="rect">
            <a:avLst/>
          </a:prstGeom>
          <a:noFill/>
          <a:ln/>
        </p:spPr>
        <p:txBody>
          <a:bodyPr wrap="square" lIns="0" tIns="0" rIns="0" bIns="0" rtlCol="0" anchor="ctr"/>
          <a:lstStyle/>
          <a:p>
            <a:pPr algn="l" indent="0" marL="0">
              <a:buNone/>
            </a:pPr>
            <a:r>
              <a:rPr lang="en-US" sz="950" b="1" dirty="0">
                <a:solidFill>
                  <a:srgbClr val="34D399"/>
                </a:solidFill>
                <a:latin typeface="Calibri" pitchFamily="34" charset="0"/>
                <a:ea typeface="Calibri" pitchFamily="34" charset="-122"/>
                <a:cs typeface="Calibri" pitchFamily="34" charset="-120"/>
              </a:rPr>
              <a:t>Customer Success (3 ans)</a:t>
            </a:r>
            <a:endParaRPr lang="en-US" sz="950" dirty="0"/>
          </a:p>
        </p:txBody>
      </p:sp>
      <p:sp>
        <p:nvSpPr>
          <p:cNvPr id="34" name="Shape 32"/>
          <p:cNvSpPr/>
          <p:nvPr/>
        </p:nvSpPr>
        <p:spPr>
          <a:xfrm>
            <a:off x="585216" y="3785616"/>
            <a:ext cx="2350008" cy="22860"/>
          </a:xfrm>
          <a:prstGeom prst="rect">
            <a:avLst/>
          </a:prstGeom>
          <a:solidFill>
            <a:srgbClr val="34D399">
              <a:alpha val="35000"/>
            </a:srgbClr>
          </a:solidFill>
          <a:ln w="12700">
            <a:solidFill>
              <a:srgbClr val="333333"/>
            </a:solidFill>
            <a:prstDash val="solid"/>
          </a:ln>
        </p:spPr>
      </p:sp>
      <p:sp>
        <p:nvSpPr>
          <p:cNvPr id="35" name="Text 33"/>
          <p:cNvSpPr/>
          <p:nvPr/>
        </p:nvSpPr>
        <p:spPr>
          <a:xfrm>
            <a:off x="585216" y="3858768"/>
            <a:ext cx="2350008" cy="6583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Relation commercants, support terrain, acquisition.</a:t>
            </a:r>
            <a:endParaRPr lang="en-US" sz="900" dirty="0"/>
          </a:p>
        </p:txBody>
      </p:sp>
      <p:sp>
        <p:nvSpPr>
          <p:cNvPr id="36" name="Shape 34"/>
          <p:cNvSpPr/>
          <p:nvPr/>
        </p:nvSpPr>
        <p:spPr>
          <a:xfrm>
            <a:off x="3268980" y="3108960"/>
            <a:ext cx="2606040" cy="1517904"/>
          </a:xfrm>
          <a:prstGeom prst="roundRect">
            <a:avLst>
              <a:gd name="adj" fmla="val 4819"/>
            </a:avLst>
          </a:prstGeom>
          <a:solidFill>
            <a:srgbClr val="0D1420"/>
          </a:solidFill>
          <a:ln w="6350">
            <a:solidFill>
              <a:srgbClr val="10B981">
                <a:alpha val="30000"/>
              </a:srgbClr>
            </a:solidFill>
            <a:prstDash val="solid"/>
          </a:ln>
        </p:spPr>
      </p:sp>
      <p:sp>
        <p:nvSpPr>
          <p:cNvPr id="37" name="Shape 35"/>
          <p:cNvSpPr/>
          <p:nvPr/>
        </p:nvSpPr>
        <p:spPr>
          <a:xfrm>
            <a:off x="3342132" y="3236976"/>
            <a:ext cx="475488" cy="475488"/>
          </a:xfrm>
          <a:prstGeom prst="ellipse">
            <a:avLst/>
          </a:prstGeom>
          <a:solidFill>
            <a:srgbClr val="0D9488"/>
          </a:solidFill>
          <a:ln w="12700">
            <a:solidFill>
              <a:srgbClr val="0D9488"/>
            </a:solidFill>
            <a:prstDash val="solid"/>
          </a:ln>
        </p:spPr>
      </p:sp>
      <p:sp>
        <p:nvSpPr>
          <p:cNvPr id="38" name="Text 36"/>
          <p:cNvSpPr/>
          <p:nvPr/>
        </p:nvSpPr>
        <p:spPr>
          <a:xfrm>
            <a:off x="3342132" y="3346704"/>
            <a:ext cx="475488"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TB</a:t>
            </a:r>
            <a:endParaRPr lang="en-US" sz="1000" dirty="0"/>
          </a:p>
        </p:txBody>
      </p:sp>
      <p:sp>
        <p:nvSpPr>
          <p:cNvPr id="39" name="Text 37"/>
          <p:cNvSpPr/>
          <p:nvPr/>
        </p:nvSpPr>
        <p:spPr>
          <a:xfrm>
            <a:off x="3927348" y="3200400"/>
            <a:ext cx="1819656"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Tchidah Bilkiss</a:t>
            </a:r>
            <a:endParaRPr lang="en-US" sz="1150" dirty="0"/>
          </a:p>
        </p:txBody>
      </p:sp>
      <p:sp>
        <p:nvSpPr>
          <p:cNvPr id="40" name="Text 38"/>
          <p:cNvSpPr/>
          <p:nvPr/>
        </p:nvSpPr>
        <p:spPr>
          <a:xfrm>
            <a:off x="3927348" y="3474720"/>
            <a:ext cx="1819656" cy="237744"/>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Strategie de Couverture</a:t>
            </a:r>
            <a:endParaRPr lang="en-US" sz="950" dirty="0"/>
          </a:p>
        </p:txBody>
      </p:sp>
      <p:sp>
        <p:nvSpPr>
          <p:cNvPr id="41" name="Shape 39"/>
          <p:cNvSpPr/>
          <p:nvPr/>
        </p:nvSpPr>
        <p:spPr>
          <a:xfrm>
            <a:off x="3396996" y="3785616"/>
            <a:ext cx="2350008" cy="22860"/>
          </a:xfrm>
          <a:prstGeom prst="rect">
            <a:avLst/>
          </a:prstGeom>
          <a:solidFill>
            <a:srgbClr val="0D9488">
              <a:alpha val="35000"/>
            </a:srgbClr>
          </a:solidFill>
          <a:ln w="12700">
            <a:solidFill>
              <a:srgbClr val="333333"/>
            </a:solidFill>
            <a:prstDash val="solid"/>
          </a:ln>
        </p:spPr>
      </p:sp>
      <p:sp>
        <p:nvSpPr>
          <p:cNvPr id="42" name="Text 40"/>
          <p:cNvSpPr/>
          <p:nvPr/>
        </p:nvSpPr>
        <p:spPr>
          <a:xfrm>
            <a:off x="3396996" y="3858768"/>
            <a:ext cx="2350008" cy="6583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Master Genie Civil. Cartographie et planification territoriale. Zone par zone.</a:t>
            </a:r>
            <a:endParaRPr lang="en-US" sz="900" dirty="0"/>
          </a:p>
        </p:txBody>
      </p:sp>
      <p:sp>
        <p:nvSpPr>
          <p:cNvPr id="43" name="Shape 41"/>
          <p:cNvSpPr/>
          <p:nvPr/>
        </p:nvSpPr>
        <p:spPr>
          <a:xfrm>
            <a:off x="6080760" y="3108960"/>
            <a:ext cx="2606040" cy="1517904"/>
          </a:xfrm>
          <a:prstGeom prst="roundRect">
            <a:avLst>
              <a:gd name="adj" fmla="val 4819"/>
            </a:avLst>
          </a:prstGeom>
          <a:solidFill>
            <a:srgbClr val="0D1420"/>
          </a:solidFill>
          <a:ln w="6350">
            <a:solidFill>
              <a:srgbClr val="10B981">
                <a:alpha val="30000"/>
              </a:srgbClr>
            </a:solidFill>
            <a:prstDash val="solid"/>
          </a:ln>
        </p:spPr>
      </p:sp>
      <p:sp>
        <p:nvSpPr>
          <p:cNvPr id="44" name="Shape 42"/>
          <p:cNvSpPr/>
          <p:nvPr/>
        </p:nvSpPr>
        <p:spPr>
          <a:xfrm>
            <a:off x="6153912" y="3236976"/>
            <a:ext cx="475488" cy="475488"/>
          </a:xfrm>
          <a:prstGeom prst="ellipse">
            <a:avLst/>
          </a:prstGeom>
          <a:solidFill>
            <a:srgbClr val="34D399"/>
          </a:solidFill>
          <a:ln w="12700">
            <a:solidFill>
              <a:srgbClr val="34D399"/>
            </a:solidFill>
            <a:prstDash val="solid"/>
          </a:ln>
        </p:spPr>
      </p:sp>
      <p:sp>
        <p:nvSpPr>
          <p:cNvPr id="45" name="Text 43"/>
          <p:cNvSpPr/>
          <p:nvPr/>
        </p:nvSpPr>
        <p:spPr>
          <a:xfrm>
            <a:off x="6153912" y="3346704"/>
            <a:ext cx="475488" cy="256032"/>
          </a:xfrm>
          <a:prstGeom prst="rect">
            <a:avLst/>
          </a:prstGeom>
          <a:noFill/>
          <a:ln/>
        </p:spPr>
        <p:txBody>
          <a:bodyPr wrap="square" lIns="0" tIns="0" rIns="0" bIns="0" rtlCol="0" anchor="ctr"/>
          <a:lstStyle/>
          <a:p>
            <a:pPr algn="ctr" indent="0" marL="0">
              <a:buNone/>
            </a:pPr>
            <a:r>
              <a:rPr lang="en-US" sz="1000" b="1" dirty="0">
                <a:solidFill>
                  <a:srgbClr val="08080F"/>
                </a:solidFill>
                <a:latin typeface="Calibri" pitchFamily="34" charset="0"/>
                <a:ea typeface="Calibri" pitchFamily="34" charset="-122"/>
                <a:cs typeface="Calibri" pitchFamily="34" charset="-120"/>
              </a:rPr>
              <a:t>KG</a:t>
            </a:r>
            <a:endParaRPr lang="en-US" sz="1000" dirty="0"/>
          </a:p>
        </p:txBody>
      </p:sp>
      <p:sp>
        <p:nvSpPr>
          <p:cNvPr id="46" name="Text 44"/>
          <p:cNvSpPr/>
          <p:nvPr/>
        </p:nvSpPr>
        <p:spPr>
          <a:xfrm>
            <a:off x="6739128" y="3200400"/>
            <a:ext cx="1819656"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Kpotogbe M-Grace</a:t>
            </a:r>
            <a:endParaRPr lang="en-US" sz="1150" dirty="0"/>
          </a:p>
        </p:txBody>
      </p:sp>
      <p:sp>
        <p:nvSpPr>
          <p:cNvPr id="47" name="Text 45"/>
          <p:cNvSpPr/>
          <p:nvPr/>
        </p:nvSpPr>
        <p:spPr>
          <a:xfrm>
            <a:off x="6739128" y="3474720"/>
            <a:ext cx="1819656" cy="237744"/>
          </a:xfrm>
          <a:prstGeom prst="rect">
            <a:avLst/>
          </a:prstGeom>
          <a:noFill/>
          <a:ln/>
        </p:spPr>
        <p:txBody>
          <a:bodyPr wrap="square" lIns="0" tIns="0" rIns="0" bIns="0" rtlCol="0" anchor="ctr"/>
          <a:lstStyle/>
          <a:p>
            <a:pPr algn="l" indent="0" marL="0">
              <a:buNone/>
            </a:pPr>
            <a:r>
              <a:rPr lang="en-US" sz="950" b="1" dirty="0">
                <a:solidFill>
                  <a:srgbClr val="34D399"/>
                </a:solidFill>
                <a:latin typeface="Calibri" pitchFamily="34" charset="0"/>
                <a:ea typeface="Calibri" pitchFamily="34" charset="-122"/>
                <a:cs typeface="Calibri" pitchFamily="34" charset="-120"/>
              </a:rPr>
              <a:t>Gestion de Projet</a:t>
            </a:r>
            <a:endParaRPr lang="en-US" sz="950" dirty="0"/>
          </a:p>
        </p:txBody>
      </p:sp>
      <p:sp>
        <p:nvSpPr>
          <p:cNvPr id="48" name="Shape 46"/>
          <p:cNvSpPr/>
          <p:nvPr/>
        </p:nvSpPr>
        <p:spPr>
          <a:xfrm>
            <a:off x="6208776" y="3785616"/>
            <a:ext cx="2350008" cy="22860"/>
          </a:xfrm>
          <a:prstGeom prst="rect">
            <a:avLst/>
          </a:prstGeom>
          <a:solidFill>
            <a:srgbClr val="34D399">
              <a:alpha val="35000"/>
            </a:srgbClr>
          </a:solidFill>
          <a:ln w="12700">
            <a:solidFill>
              <a:srgbClr val="333333"/>
            </a:solidFill>
            <a:prstDash val="solid"/>
          </a:ln>
        </p:spPr>
      </p:sp>
      <p:sp>
        <p:nvSpPr>
          <p:cNvPr id="49" name="Text 47"/>
          <p:cNvSpPr/>
          <p:nvPr/>
        </p:nvSpPr>
        <p:spPr>
          <a:xfrm>
            <a:off x="6208776" y="3858768"/>
            <a:ext cx="2350008" cy="6583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Licence Banque et Finance. Stage en banque. Coordination operationnelle.</a:t>
            </a:r>
            <a:endParaRPr lang="en-US" sz="900" dirty="0"/>
          </a:p>
        </p:txBody>
      </p:sp>
      <p:sp>
        <p:nvSpPr>
          <p:cNvPr id="50" name="Text 48"/>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51" name="Text 49"/>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09 / 10</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ellipse">
            <a:avLst/>
          </a:prstGeom>
          <a:solidFill>
            <a:srgbClr val="0A3028"/>
          </a:solidFill>
          <a:ln w="12700">
            <a:solidFill>
              <a:srgbClr val="0A3028"/>
            </a:solidFill>
            <a:prstDash val="solid"/>
          </a:ln>
        </p:spPr>
      </p:sp>
      <p:sp>
        <p:nvSpPr>
          <p:cNvPr id="3" name="Shape 1"/>
          <p:cNvSpPr/>
          <p:nvPr/>
        </p:nvSpPr>
        <p:spPr>
          <a:xfrm>
            <a:off x="503286" y="503286"/>
            <a:ext cx="163860" cy="163860"/>
          </a:xfrm>
          <a:prstGeom prst="ellipse">
            <a:avLst/>
          </a:prstGeom>
          <a:solidFill>
            <a:srgbClr val="10B981"/>
          </a:solidFill>
          <a:ln w="12700">
            <a:solidFill>
              <a:srgbClr val="10B981"/>
            </a:solidFill>
            <a:prstDash val="solid"/>
          </a:ln>
        </p:spPr>
      </p:sp>
      <p:sp>
        <p:nvSpPr>
          <p:cNvPr id="4" name="Shape 2"/>
          <p:cNvSpPr/>
          <p:nvPr/>
        </p:nvSpPr>
        <p:spPr>
          <a:xfrm>
            <a:off x="539770" y="539770"/>
            <a:ext cx="90891" cy="90891"/>
          </a:xfrm>
          <a:prstGeom prst="ellipse">
            <a:avLst/>
          </a:prstGeom>
          <a:solidFill>
            <a:srgbClr val="34D399"/>
          </a:solidFill>
          <a:ln w="12700">
            <a:solidFill>
              <a:srgbClr val="34D399"/>
            </a:solidFill>
            <a:prstDash val="solid"/>
          </a:ln>
        </p:spPr>
      </p:sp>
      <p:sp>
        <p:nvSpPr>
          <p:cNvPr id="5" name="Text 3"/>
          <p:cNvSpPr/>
          <p:nvPr/>
        </p:nvSpPr>
        <p:spPr>
          <a:xfrm>
            <a:off x="749808" y="438912"/>
            <a:ext cx="731520" cy="256032"/>
          </a:xfrm>
          <a:prstGeom prst="rect">
            <a:avLst/>
          </a:prstGeom>
          <a:noFill/>
          <a:ln/>
        </p:spPr>
        <p:txBody>
          <a:bodyPr wrap="square" lIns="0" tIns="0" rIns="0" bIns="0" rtlCol="0" anchor="ctr"/>
          <a:lstStyle/>
          <a:p>
            <a:pPr algn="l" indent="0" marL="0">
              <a:buNone/>
            </a:pPr>
            <a:r>
              <a:rPr lang="en-US" sz="1000" b="1" dirty="0">
                <a:solidFill>
                  <a:srgbClr val="FFFFFF"/>
                </a:solidFill>
              </a:rPr>
              <a:t>Omni</a:t>
            </a:r>
            <a:endParaRPr lang="en-US" sz="1000" dirty="0"/>
          </a:p>
        </p:txBody>
      </p:sp>
      <p:sp>
        <p:nvSpPr>
          <p:cNvPr id="6" name="Text 4"/>
          <p:cNvSpPr/>
          <p:nvPr/>
        </p:nvSpPr>
        <p:spPr>
          <a:xfrm>
            <a:off x="457200" y="713232"/>
            <a:ext cx="8229600" cy="219456"/>
          </a:xfrm>
          <a:prstGeom prst="rect">
            <a:avLst/>
          </a:prstGeom>
          <a:noFill/>
          <a:ln/>
        </p:spPr>
        <p:txBody>
          <a:bodyPr wrap="square" lIns="0" tIns="0" rIns="0" bIns="0" rtlCol="0" anchor="ctr"/>
          <a:lstStyle/>
          <a:p>
            <a:pPr algn="l" indent="0" marL="0">
              <a:buNone/>
            </a:pPr>
            <a:r>
              <a:rPr lang="en-US" sz="900" b="1" dirty="0">
                <a:solidFill>
                  <a:srgbClr val="10B981"/>
                </a:solidFill>
                <a:latin typeface="Calibri" pitchFamily="34" charset="0"/>
                <a:ea typeface="Calibri" pitchFamily="34" charset="-122"/>
                <a:cs typeface="Calibri" pitchFamily="34" charset="-120"/>
              </a:rPr>
              <a:t>VISION ET DEMANDE</a:t>
            </a:r>
            <a:endParaRPr lang="en-US" sz="900" dirty="0"/>
          </a:p>
        </p:txBody>
      </p:sp>
      <p:sp>
        <p:nvSpPr>
          <p:cNvPr id="7" name="Shape 5"/>
          <p:cNvSpPr/>
          <p:nvPr/>
        </p:nvSpPr>
        <p:spPr>
          <a:xfrm>
            <a:off x="457200" y="969264"/>
            <a:ext cx="3657600" cy="1828800"/>
          </a:xfrm>
          <a:prstGeom prst="roundRect">
            <a:avLst>
              <a:gd name="adj" fmla="val 4000"/>
            </a:avLst>
          </a:prstGeom>
          <a:solidFill>
            <a:srgbClr val="0D1420"/>
          </a:solidFill>
          <a:ln w="6350">
            <a:solidFill>
              <a:srgbClr val="10B981">
                <a:alpha val="30000"/>
              </a:srgbClr>
            </a:solidFill>
            <a:prstDash val="solid"/>
          </a:ln>
        </p:spPr>
      </p:sp>
      <p:sp>
        <p:nvSpPr>
          <p:cNvPr id="8" name="Text 6"/>
          <p:cNvSpPr/>
          <p:nvPr/>
        </p:nvSpPr>
        <p:spPr>
          <a:xfrm>
            <a:off x="640080" y="1078992"/>
            <a:ext cx="329184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Pre-seed</a:t>
            </a:r>
            <a:endParaRPr lang="en-US" sz="1100" dirty="0"/>
          </a:p>
        </p:txBody>
      </p:sp>
      <p:sp>
        <p:nvSpPr>
          <p:cNvPr id="9" name="Text 7"/>
          <p:cNvSpPr/>
          <p:nvPr/>
        </p:nvSpPr>
        <p:spPr>
          <a:xfrm>
            <a:off x="640080" y="1353312"/>
            <a:ext cx="3291840" cy="731520"/>
          </a:xfrm>
          <a:prstGeom prst="rect">
            <a:avLst/>
          </a:prstGeom>
          <a:noFill/>
          <a:ln/>
        </p:spPr>
        <p:txBody>
          <a:bodyPr wrap="square" lIns="0" tIns="0" rIns="0" bIns="0" rtlCol="0" anchor="ctr"/>
          <a:lstStyle/>
          <a:p>
            <a:pPr algn="l" indent="0" marL="0">
              <a:buNone/>
            </a:pPr>
            <a:r>
              <a:rPr lang="en-US" sz="5000" b="1" dirty="0">
                <a:solidFill>
                  <a:srgbClr val="10B981"/>
                </a:solidFill>
                <a:latin typeface="Calibri" pitchFamily="34" charset="0"/>
                <a:ea typeface="Calibri" pitchFamily="34" charset="-122"/>
                <a:cs typeface="Calibri" pitchFamily="34" charset="-120"/>
              </a:rPr>
              <a:t>$100 000</a:t>
            </a:r>
            <a:endParaRPr lang="en-US" sz="5000" dirty="0"/>
          </a:p>
        </p:txBody>
      </p:sp>
      <p:sp>
        <p:nvSpPr>
          <p:cNvPr id="10" name="Text 8"/>
          <p:cNvSpPr/>
          <p:nvPr/>
        </p:nvSpPr>
        <p:spPr>
          <a:xfrm>
            <a:off x="640080" y="2084832"/>
            <a:ext cx="3291840" cy="457200"/>
          </a:xfrm>
          <a:prstGeom prst="rect">
            <a:avLst/>
          </a:prstGeom>
          <a:noFill/>
          <a:ln/>
        </p:spPr>
        <p:txBody>
          <a:bodyPr wrap="square" lIns="0" tIns="0" rIns="0" bIns="0" rtlCol="0" anchor="ctr"/>
          <a:lstStyle/>
          <a:p>
            <a:pPr algn="l" indent="0" marL="0">
              <a:buNone/>
            </a:pPr>
            <a:r>
              <a:rPr lang="en-US" sz="2400" b="1" dirty="0">
                <a:solidFill>
                  <a:srgbClr val="34D399"/>
                </a:solidFill>
                <a:latin typeface="Calibri" pitchFamily="34" charset="0"/>
                <a:ea typeface="Calibri" pitchFamily="34" charset="-122"/>
                <a:cs typeface="Calibri" pitchFamily="34" charset="-120"/>
              </a:rPr>
              <a:t>a  $150 000</a:t>
            </a:r>
            <a:endParaRPr lang="en-US" sz="2400" dirty="0"/>
          </a:p>
        </p:txBody>
      </p:sp>
      <p:sp>
        <p:nvSpPr>
          <p:cNvPr id="11" name="Shape 9"/>
          <p:cNvSpPr/>
          <p:nvPr/>
        </p:nvSpPr>
        <p:spPr>
          <a:xfrm>
            <a:off x="4572000" y="969264"/>
            <a:ext cx="4114800" cy="822960"/>
          </a:xfrm>
          <a:prstGeom prst="roundRect">
            <a:avLst>
              <a:gd name="adj" fmla="val 8889"/>
            </a:avLst>
          </a:prstGeom>
          <a:solidFill>
            <a:srgbClr val="0D1420"/>
          </a:solidFill>
          <a:ln w="6350">
            <a:solidFill>
              <a:srgbClr val="10B981">
                <a:alpha val="30000"/>
              </a:srgbClr>
            </a:solidFill>
            <a:prstDash val="solid"/>
          </a:ln>
        </p:spPr>
      </p:sp>
      <p:sp>
        <p:nvSpPr>
          <p:cNvPr id="12" name="Shape 10"/>
          <p:cNvSpPr/>
          <p:nvPr/>
        </p:nvSpPr>
        <p:spPr>
          <a:xfrm>
            <a:off x="4608576" y="1179576"/>
            <a:ext cx="402336" cy="402336"/>
          </a:xfrm>
          <a:prstGeom prst="ellipse">
            <a:avLst/>
          </a:prstGeom>
          <a:solidFill>
            <a:srgbClr val="10B981"/>
          </a:solidFill>
          <a:ln w="12700">
            <a:solidFill>
              <a:srgbClr val="10B981"/>
            </a:solidFill>
            <a:prstDash val="solid"/>
          </a:ln>
        </p:spPr>
      </p:sp>
      <p:sp>
        <p:nvSpPr>
          <p:cNvPr id="13" name="Text 11"/>
          <p:cNvSpPr/>
          <p:nvPr/>
        </p:nvSpPr>
        <p:spPr>
          <a:xfrm>
            <a:off x="4645152" y="1234440"/>
            <a:ext cx="402336" cy="292608"/>
          </a:xfrm>
          <a:prstGeom prst="rect">
            <a:avLst/>
          </a:prstGeom>
          <a:noFill/>
          <a:ln/>
        </p:spPr>
        <p:txBody>
          <a:bodyPr wrap="square" lIns="0" tIns="0" rIns="0" bIns="0" rtlCol="0" anchor="ctr"/>
          <a:lstStyle/>
          <a:p>
            <a:pPr algn="ctr" indent="0" marL="0">
              <a:buNone/>
            </a:pPr>
            <a:r>
              <a:rPr lang="en-US" sz="1100" b="1" dirty="0">
                <a:solidFill>
                  <a:srgbClr val="08080F"/>
                </a:solidFill>
                <a:latin typeface="Calibri" pitchFamily="34" charset="0"/>
                <a:ea typeface="Calibri" pitchFamily="34" charset="-122"/>
                <a:cs typeface="Calibri" pitchFamily="34" charset="-120"/>
              </a:rPr>
              <a:t>55%</a:t>
            </a:r>
            <a:endParaRPr lang="en-US" sz="1100" dirty="0"/>
          </a:p>
        </p:txBody>
      </p:sp>
      <p:sp>
        <p:nvSpPr>
          <p:cNvPr id="14" name="Text 12"/>
          <p:cNvSpPr/>
          <p:nvPr/>
        </p:nvSpPr>
        <p:spPr>
          <a:xfrm>
            <a:off x="5138928" y="1060704"/>
            <a:ext cx="3383280" cy="27432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Communication et acquisition</a:t>
            </a:r>
            <a:endParaRPr lang="en-US" sz="1250" dirty="0"/>
          </a:p>
        </p:txBody>
      </p:sp>
      <p:sp>
        <p:nvSpPr>
          <p:cNvPr id="15" name="Text 13"/>
          <p:cNvSpPr/>
          <p:nvPr/>
        </p:nvSpPr>
        <p:spPr>
          <a:xfrm>
            <a:off x="5138928" y="1389888"/>
            <a:ext cx="3383280" cy="329184"/>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Radio, affichage, activation zone par zone a Lome. Notoriete marche par marche.</a:t>
            </a:r>
            <a:endParaRPr lang="en-US" sz="1000" dirty="0"/>
          </a:p>
        </p:txBody>
      </p:sp>
      <p:sp>
        <p:nvSpPr>
          <p:cNvPr id="16" name="Shape 14"/>
          <p:cNvSpPr/>
          <p:nvPr/>
        </p:nvSpPr>
        <p:spPr>
          <a:xfrm>
            <a:off x="4572000" y="1938528"/>
            <a:ext cx="4114800" cy="822960"/>
          </a:xfrm>
          <a:prstGeom prst="roundRect">
            <a:avLst>
              <a:gd name="adj" fmla="val 8889"/>
            </a:avLst>
          </a:prstGeom>
          <a:solidFill>
            <a:srgbClr val="0D1420"/>
          </a:solidFill>
          <a:ln w="6350">
            <a:solidFill>
              <a:srgbClr val="10B981">
                <a:alpha val="30000"/>
              </a:srgbClr>
            </a:solidFill>
            <a:prstDash val="solid"/>
          </a:ln>
        </p:spPr>
      </p:sp>
      <p:sp>
        <p:nvSpPr>
          <p:cNvPr id="17" name="Shape 15"/>
          <p:cNvSpPr/>
          <p:nvPr/>
        </p:nvSpPr>
        <p:spPr>
          <a:xfrm>
            <a:off x="4608576" y="2148840"/>
            <a:ext cx="402336" cy="402336"/>
          </a:xfrm>
          <a:prstGeom prst="ellipse">
            <a:avLst/>
          </a:prstGeom>
          <a:solidFill>
            <a:srgbClr val="34D399"/>
          </a:solidFill>
          <a:ln w="12700">
            <a:solidFill>
              <a:srgbClr val="34D399"/>
            </a:solidFill>
            <a:prstDash val="solid"/>
          </a:ln>
        </p:spPr>
      </p:sp>
      <p:sp>
        <p:nvSpPr>
          <p:cNvPr id="18" name="Text 16"/>
          <p:cNvSpPr/>
          <p:nvPr/>
        </p:nvSpPr>
        <p:spPr>
          <a:xfrm>
            <a:off x="4645152" y="2203704"/>
            <a:ext cx="402336" cy="292608"/>
          </a:xfrm>
          <a:prstGeom prst="rect">
            <a:avLst/>
          </a:prstGeom>
          <a:noFill/>
          <a:ln/>
        </p:spPr>
        <p:txBody>
          <a:bodyPr wrap="square" lIns="0" tIns="0" rIns="0" bIns="0" rtlCol="0" anchor="ctr"/>
          <a:lstStyle/>
          <a:p>
            <a:pPr algn="ctr" indent="0" marL="0">
              <a:buNone/>
            </a:pPr>
            <a:r>
              <a:rPr lang="en-US" sz="1100" b="1" dirty="0">
                <a:solidFill>
                  <a:srgbClr val="08080F"/>
                </a:solidFill>
                <a:latin typeface="Calibri" pitchFamily="34" charset="0"/>
                <a:ea typeface="Calibri" pitchFamily="34" charset="-122"/>
                <a:cs typeface="Calibri" pitchFamily="34" charset="-120"/>
              </a:rPr>
              <a:t>45%</a:t>
            </a:r>
            <a:endParaRPr lang="en-US" sz="1100" dirty="0"/>
          </a:p>
        </p:txBody>
      </p:sp>
      <p:sp>
        <p:nvSpPr>
          <p:cNvPr id="19" name="Text 17"/>
          <p:cNvSpPr/>
          <p:nvPr/>
        </p:nvSpPr>
        <p:spPr>
          <a:xfrm>
            <a:off x="5138928" y="2029968"/>
            <a:ext cx="3383280" cy="27432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Couverture terrain</a:t>
            </a:r>
            <a:endParaRPr lang="en-US" sz="1250" dirty="0"/>
          </a:p>
        </p:txBody>
      </p:sp>
      <p:sp>
        <p:nvSpPr>
          <p:cNvPr id="20" name="Text 18"/>
          <p:cNvSpPr/>
          <p:nvPr/>
        </p:nvSpPr>
        <p:spPr>
          <a:xfrm>
            <a:off x="5138928" y="2359152"/>
            <a:ext cx="3383280" cy="329184"/>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Cartographes, agents, deplacements. Indexation facilite par facilite, rue par rue.</a:t>
            </a:r>
            <a:endParaRPr lang="en-US" sz="1000" dirty="0"/>
          </a:p>
        </p:txBody>
      </p:sp>
      <p:sp>
        <p:nvSpPr>
          <p:cNvPr id="21" name="Shape 19"/>
          <p:cNvSpPr/>
          <p:nvPr/>
        </p:nvSpPr>
        <p:spPr>
          <a:xfrm>
            <a:off x="4572000" y="3017520"/>
            <a:ext cx="4114800" cy="36576"/>
          </a:xfrm>
          <a:prstGeom prst="rect">
            <a:avLst/>
          </a:prstGeom>
          <a:solidFill>
            <a:srgbClr val="0D1420"/>
          </a:solidFill>
          <a:ln w="12700">
            <a:solidFill>
              <a:srgbClr val="333333"/>
            </a:solidFill>
            <a:prstDash val="solid"/>
          </a:ln>
        </p:spPr>
      </p:sp>
      <p:sp>
        <p:nvSpPr>
          <p:cNvPr id="22" name="Shape 20"/>
          <p:cNvSpPr/>
          <p:nvPr/>
        </p:nvSpPr>
        <p:spPr>
          <a:xfrm>
            <a:off x="4572000" y="3017520"/>
            <a:ext cx="2263140" cy="36576"/>
          </a:xfrm>
          <a:prstGeom prst="rect">
            <a:avLst/>
          </a:prstGeom>
          <a:solidFill>
            <a:srgbClr val="10B981"/>
          </a:solidFill>
          <a:ln w="12700">
            <a:solidFill>
              <a:srgbClr val="333333"/>
            </a:solidFill>
            <a:prstDash val="solid"/>
          </a:ln>
        </p:spPr>
      </p:sp>
      <p:sp>
        <p:nvSpPr>
          <p:cNvPr id="23" name="Text 21"/>
          <p:cNvSpPr/>
          <p:nvPr/>
        </p:nvSpPr>
        <p:spPr>
          <a:xfrm>
            <a:off x="4572000" y="3072384"/>
            <a:ext cx="2011680" cy="219456"/>
          </a:xfrm>
          <a:prstGeom prst="rect">
            <a:avLst/>
          </a:prstGeom>
          <a:noFill/>
          <a:ln/>
        </p:spPr>
        <p:txBody>
          <a:bodyPr wrap="square" lIns="0" tIns="0" rIns="0" bIns="0" rtlCol="0" anchor="ctr"/>
          <a:lstStyle/>
          <a:p>
            <a:pPr algn="l" indent="0" marL="0">
              <a:buNone/>
            </a:pPr>
            <a:r>
              <a:rPr lang="en-US" sz="800" b="1" dirty="0">
                <a:solidFill>
                  <a:srgbClr val="10B981"/>
                </a:solidFill>
                <a:latin typeface="Calibri" pitchFamily="34" charset="0"/>
                <a:ea typeface="Calibri" pitchFamily="34" charset="-122"/>
                <a:cs typeface="Calibri" pitchFamily="34" charset="-120"/>
              </a:rPr>
              <a:t>55% Communication</a:t>
            </a:r>
            <a:endParaRPr lang="en-US" sz="800" dirty="0"/>
          </a:p>
        </p:txBody>
      </p:sp>
      <p:sp>
        <p:nvSpPr>
          <p:cNvPr id="24" name="Text 22"/>
          <p:cNvSpPr/>
          <p:nvPr/>
        </p:nvSpPr>
        <p:spPr>
          <a:xfrm>
            <a:off x="6675120" y="3072384"/>
            <a:ext cx="1737360" cy="219456"/>
          </a:xfrm>
          <a:prstGeom prst="rect">
            <a:avLst/>
          </a:prstGeom>
          <a:noFill/>
          <a:ln/>
        </p:spPr>
        <p:txBody>
          <a:bodyPr wrap="square" lIns="0" tIns="0" rIns="0" bIns="0" rtlCol="0" anchor="ctr"/>
          <a:lstStyle/>
          <a:p>
            <a:pPr algn="r" indent="0" marL="0">
              <a:buNone/>
            </a:pPr>
            <a:r>
              <a:rPr lang="en-US" sz="800" b="1" dirty="0">
                <a:solidFill>
                  <a:srgbClr val="34D399"/>
                </a:solidFill>
                <a:latin typeface="Calibri" pitchFamily="34" charset="0"/>
                <a:ea typeface="Calibri" pitchFamily="34" charset="-122"/>
                <a:cs typeface="Calibri" pitchFamily="34" charset="-120"/>
              </a:rPr>
              <a:t>45% Terrain</a:t>
            </a:r>
            <a:endParaRPr lang="en-US" sz="800" dirty="0"/>
          </a:p>
        </p:txBody>
      </p:sp>
      <p:sp>
        <p:nvSpPr>
          <p:cNvPr id="25" name="Shape 23"/>
          <p:cNvSpPr/>
          <p:nvPr/>
        </p:nvSpPr>
        <p:spPr>
          <a:xfrm>
            <a:off x="457200" y="2926080"/>
            <a:ext cx="3657600" cy="1353312"/>
          </a:xfrm>
          <a:prstGeom prst="roundRect">
            <a:avLst>
              <a:gd name="adj" fmla="val 5405"/>
            </a:avLst>
          </a:prstGeom>
          <a:solidFill>
            <a:srgbClr val="0D1420"/>
          </a:solidFill>
          <a:ln w="6350">
            <a:solidFill>
              <a:srgbClr val="10B981">
                <a:alpha val="30000"/>
              </a:srgbClr>
            </a:solidFill>
            <a:prstDash val="solid"/>
          </a:ln>
        </p:spPr>
      </p:sp>
      <p:sp>
        <p:nvSpPr>
          <p:cNvPr id="26" name="Text 24"/>
          <p:cNvSpPr/>
          <p:nvPr/>
        </p:nvSpPr>
        <p:spPr>
          <a:xfrm>
            <a:off x="640080" y="3017520"/>
            <a:ext cx="3291840" cy="256032"/>
          </a:xfrm>
          <a:prstGeom prst="rect">
            <a:avLst/>
          </a:prstGeom>
          <a:noFill/>
          <a:ln/>
        </p:spPr>
        <p:txBody>
          <a:bodyPr wrap="square" lIns="0" tIns="0" rIns="0" bIns="0" rtlCol="0" anchor="ctr"/>
          <a:lstStyle/>
          <a:p>
            <a:pPr algn="l" indent="0" marL="0">
              <a:buNone/>
            </a:pPr>
            <a:r>
              <a:rPr lang="en-US" sz="1000" b="1" dirty="0">
                <a:solidFill>
                  <a:srgbClr val="10B981"/>
                </a:solidFill>
                <a:latin typeface="Calibri" pitchFamily="34" charset="0"/>
                <a:ea typeface="Calibri" pitchFamily="34" charset="-122"/>
                <a:cs typeface="Calibri" pitchFamily="34" charset="-120"/>
              </a:rPr>
              <a:t>Vision</a:t>
            </a:r>
            <a:endParaRPr lang="en-US" sz="1000" dirty="0"/>
          </a:p>
        </p:txBody>
      </p:sp>
      <p:sp>
        <p:nvSpPr>
          <p:cNvPr id="27" name="Text 25"/>
          <p:cNvSpPr/>
          <p:nvPr/>
        </p:nvSpPr>
        <p:spPr>
          <a:xfrm>
            <a:off x="640080" y="3310128"/>
            <a:ext cx="3291840" cy="658368"/>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Faire d'Omni le standard de la recherche de commerce de proximite en Afrique de l'Ouest.</a:t>
            </a:r>
            <a:endParaRPr lang="en-US" sz="1250" dirty="0"/>
          </a:p>
        </p:txBody>
      </p:sp>
      <p:sp>
        <p:nvSpPr>
          <p:cNvPr id="28" name="Text 26"/>
          <p:cNvSpPr/>
          <p:nvPr/>
        </p:nvSpPr>
        <p:spPr>
          <a:xfrm>
            <a:off x="640080" y="4005072"/>
            <a:ext cx="3291840" cy="219456"/>
          </a:xfrm>
          <a:prstGeom prst="rect">
            <a:avLst/>
          </a:prstGeom>
          <a:noFill/>
          <a:ln/>
        </p:spPr>
        <p:txBody>
          <a:bodyPr wrap="square" lIns="0" tIns="0" rIns="0" bIns="0"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Commence a Lome. S'etend ville par ville.</a:t>
            </a:r>
            <a:endParaRPr lang="en-US" sz="1000" dirty="0"/>
          </a:p>
        </p:txBody>
      </p:sp>
      <p:sp>
        <p:nvSpPr>
          <p:cNvPr id="29" name="Shape 27"/>
          <p:cNvSpPr/>
          <p:nvPr/>
        </p:nvSpPr>
        <p:spPr>
          <a:xfrm>
            <a:off x="457200" y="4389120"/>
            <a:ext cx="8229600" cy="402336"/>
          </a:xfrm>
          <a:prstGeom prst="roundRect">
            <a:avLst>
              <a:gd name="adj" fmla="val 13636"/>
            </a:avLst>
          </a:prstGeom>
          <a:solidFill>
            <a:srgbClr val="10B981">
              <a:alpha val="15000"/>
            </a:srgbClr>
          </a:solidFill>
          <a:ln w="6350">
            <a:solidFill>
              <a:srgbClr val="10B981"/>
            </a:solidFill>
            <a:prstDash val="solid"/>
          </a:ln>
        </p:spPr>
      </p:sp>
      <p:sp>
        <p:nvSpPr>
          <p:cNvPr id="30" name="Text 28"/>
          <p:cNvSpPr/>
          <p:nvPr/>
        </p:nvSpPr>
        <p:spPr>
          <a:xfrm>
            <a:off x="640080" y="4389120"/>
            <a:ext cx="78638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Nous ne reinventons pas le commerce. Nous rendons visible ce qui existe deja.</a:t>
            </a:r>
            <a:endParaRPr lang="en-US" sz="1300" dirty="0"/>
          </a:p>
        </p:txBody>
      </p:sp>
      <p:sp>
        <p:nvSpPr>
          <p:cNvPr id="31" name="Text 29"/>
          <p:cNvSpPr/>
          <p:nvPr/>
        </p:nvSpPr>
        <p:spPr>
          <a:xfrm>
            <a:off x="457200" y="4887468"/>
            <a:ext cx="7498080" cy="201168"/>
          </a:xfrm>
          <a:prstGeom prst="rect">
            <a:avLst/>
          </a:prstGeom>
          <a:noFill/>
          <a:ln/>
        </p:spPr>
        <p:txBody>
          <a:bodyPr wrap="square" lIns="0" tIns="0" rIns="0" bIns="0" rtlCol="0" anchor="ctr"/>
          <a:lstStyle/>
          <a:p>
            <a:pPr indent="0" marL="0">
              <a:buNone/>
            </a:pPr>
            <a:r>
              <a:rPr lang="en-US" sz="700" dirty="0">
                <a:solidFill>
                  <a:srgbClr val="64748B"/>
                </a:solidFill>
              </a:rPr>
              <a:t>Omni  |  Innov'Action 2026  |  Lome, Togo</a:t>
            </a:r>
            <a:endParaRPr lang="en-US" sz="700" dirty="0"/>
          </a:p>
        </p:txBody>
      </p:sp>
      <p:sp>
        <p:nvSpPr>
          <p:cNvPr id="32" name="Text 30"/>
          <p:cNvSpPr/>
          <p:nvPr/>
        </p:nvSpPr>
        <p:spPr>
          <a:xfrm>
            <a:off x="8138160" y="4887468"/>
            <a:ext cx="548640" cy="201168"/>
          </a:xfrm>
          <a:prstGeom prst="rect">
            <a:avLst/>
          </a:prstGeom>
          <a:noFill/>
          <a:ln/>
        </p:spPr>
        <p:txBody>
          <a:bodyPr wrap="square" lIns="0" tIns="0" rIns="0" bIns="0" rtlCol="0" anchor="ctr"/>
          <a:lstStyle/>
          <a:p>
            <a:pPr algn="r" indent="0" marL="0">
              <a:buNone/>
            </a:pPr>
            <a:r>
              <a:rPr lang="en-US" sz="700" dirty="0">
                <a:solidFill>
                  <a:srgbClr val="64748B"/>
                </a:solidFill>
              </a:rPr>
              <a:t>10 / 10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Omni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Omni — Pitch Deck — Innov'Action 2026</dc:title>
  <dc:subject>PptxGenJS Presentation</dc:subject>
  <dc:creator>Kheir Lissi</dc:creator>
  <cp:lastModifiedBy>Kheir Lissi</cp:lastModifiedBy>
  <cp:revision>1</cp:revision>
  <dcterms:created xsi:type="dcterms:W3CDTF">2026-05-22T22:46:32Z</dcterms:created>
  <dcterms:modified xsi:type="dcterms:W3CDTF">2026-05-22T22:46:32Z</dcterms:modified>
</cp:coreProperties>
</file>